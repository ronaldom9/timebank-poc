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8F78"/>
        </a:solidFill>
        <a:effectLst/>
      </p:bgPr>
    </p:bg>
    <p:spTree>
      <p:nvGrpSpPr>
        <p:cNvPr id="1" name=""/>
        <p:cNvGrpSpPr/>
        <p:nvPr/>
      </p:nvGrpSpPr>
      <p:grpSpPr/>
      <p:sp>
        <p:nvSpPr>
          <p:cNvPr id="2" name="Oval 1"/>
          <p:cNvSpPr/>
          <p:nvPr/>
        </p:nvSpPr>
        <p:spPr>
          <a:xfrm>
            <a:off x="-914400" y="-914400"/>
            <a:ext cx="2743200" cy="2743200"/>
          </a:xfrm>
          <a:prstGeom prst="ellipse">
            <a:avLst/>
          </a:prstGeom>
          <a:solidFill>
            <a:srgbClr val="22C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4572000"/>
            <a:ext cx="3657600" cy="3657600"/>
          </a:xfrm>
          <a:prstGeom prst="ellipse">
            <a:avLst/>
          </a:prstGeom>
          <a:solidFill>
            <a:srgbClr val="00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1828800"/>
            <a:ext cx="2286000" cy="2286000"/>
          </a:xfrm>
          <a:prstGeom prst="ellipse">
            <a:avLst/>
          </a:prstGeom>
          <a:solidFill>
            <a:srgbClr val="009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371600"/>
            <a:ext cx="9144000" cy="914400"/>
          </a:xfrm>
          <a:prstGeom prst="rect">
            <a:avLst/>
          </a:prstGeom>
          <a:noFill/>
        </p:spPr>
        <p:txBody>
          <a:bodyPr wrap="square">
            <a:spAutoFit/>
          </a:bodyPr>
          <a:lstStyle/>
          <a:p>
            <a:pPr algn="l">
              <a:spcAft>
                <a:spcPts val="400"/>
              </a:spcAft>
              <a:defRPr sz="4000" b="1">
                <a:solidFill>
                  <a:srgbClr val="FFFFFF"/>
                </a:solidFill>
                <a:latin typeface="Calibri Light"/>
              </a:defRPr>
            </a:pPr>
            <a:r>
              <a:t>📱 Transformer TimeHeroes en App Mobile</a:t>
            </a:r>
          </a:p>
        </p:txBody>
      </p:sp>
      <p:sp>
        <p:nvSpPr>
          <p:cNvPr id="6" name="TextBox 5"/>
          <p:cNvSpPr txBox="1"/>
          <p:nvPr/>
        </p:nvSpPr>
        <p:spPr>
          <a:xfrm>
            <a:off x="1371600" y="2743200"/>
            <a:ext cx="9144000" cy="1371600"/>
          </a:xfrm>
          <a:prstGeom prst="rect">
            <a:avLst/>
          </a:prstGeom>
          <a:noFill/>
        </p:spPr>
        <p:txBody>
          <a:bodyPr wrap="square">
            <a:spAutoFit/>
          </a:bodyPr>
          <a:lstStyle/>
          <a:p>
            <a:pPr algn="l">
              <a:spcAft>
                <a:spcPts val="400"/>
              </a:spcAft>
              <a:defRPr sz="1800" b="0">
                <a:solidFill>
                  <a:srgbClr val="CCFAE8"/>
                </a:solidFill>
                <a:latin typeface="Calibri"/>
              </a:defRPr>
            </a:pPr>
            <a:r>
              <a:t>Cours complet pour les non-initiés</a:t>
            </a:r>
          </a:p>
          <a:p>
            <a:pPr algn="l">
              <a:spcAft>
                <a:spcPts val="400"/>
              </a:spcAft>
              <a:defRPr sz="1400" b="0">
                <a:solidFill>
                  <a:srgbClr val="AAEEDD"/>
                </a:solidFill>
                <a:latin typeface="Calibri"/>
              </a:defRPr>
            </a:pPr>
            <a:r>
              <a:t>PWA · Capacitor · React Native · les 3 options expliquées pas à pas</a:t>
            </a:r>
          </a:p>
        </p:txBody>
      </p:sp>
      <p:sp>
        <p:nvSpPr>
          <p:cNvPr id="7" name="TextBox 6"/>
          <p:cNvSpPr txBox="1"/>
          <p:nvPr/>
        </p:nvSpPr>
        <p:spPr>
          <a:xfrm>
            <a:off x="1371600" y="5029200"/>
            <a:ext cx="4572000" cy="914400"/>
          </a:xfrm>
          <a:prstGeom prst="rect">
            <a:avLst/>
          </a:prstGeom>
          <a:noFill/>
        </p:spPr>
        <p:txBody>
          <a:bodyPr wrap="square">
            <a:spAutoFit/>
          </a:bodyPr>
          <a:lstStyle/>
          <a:p>
            <a:pPr algn="l">
              <a:spcAft>
                <a:spcPts val="400"/>
              </a:spcAft>
              <a:defRPr sz="1200" b="0">
                <a:solidFill>
                  <a:srgbClr val="AAEEDD"/>
                </a:solidFill>
                <a:latin typeface="Calibri"/>
              </a:defRPr>
            </a:pPr>
            <a:r>
              <a:t>Projet : TimeHeroes — Banque du Temps</a:t>
            </a:r>
          </a:p>
          <a:p>
            <a:pPr algn="l">
              <a:spcAft>
                <a:spcPts val="400"/>
              </a:spcAft>
              <a:defRPr sz="1200" b="0">
                <a:solidFill>
                  <a:srgbClr val="AAEEDD"/>
                </a:solidFill>
                <a:latin typeface="Calibri"/>
              </a:defRPr>
            </a:pPr>
            <a:r>
              <a:t>Stack : Next.js · Prisma · SQLite</a:t>
            </a:r>
          </a:p>
          <a:p>
            <a:pPr algn="l">
              <a:spcAft>
                <a:spcPts val="400"/>
              </a:spcAft>
              <a:defRPr sz="1200" b="0">
                <a:solidFill>
                  <a:srgbClr val="AAEEDD"/>
                </a:solidFill>
                <a:latin typeface="Calibri"/>
              </a:defRPr>
            </a:pPr>
            <a:r>
              <a:t>Fait par Ronald (avec Hermes Agent) — Juillet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spcAft>
                <a:spcPts val="400"/>
              </a:spcAft>
              <a:defRPr sz="3000" b="1">
                <a:solidFill>
                  <a:srgbClr val="1A1A1A"/>
                </a:solidFill>
                <a:latin typeface="Calibri Light"/>
              </a:defRPr>
            </a:pPr>
            <a:r>
              <a:t>🤔 C'est quoi une app mobile ?</a:t>
            </a:r>
          </a:p>
        </p:txBody>
      </p:sp>
      <p:sp>
        <p:nvSpPr>
          <p:cNvPr id="3" name="TextBox 2"/>
          <p:cNvSpPr txBox="1"/>
          <p:nvPr/>
        </p:nvSpPr>
        <p:spPr>
          <a:xfrm>
            <a:off x="731520" y="1005840"/>
            <a:ext cx="10058400" cy="457200"/>
          </a:xfrm>
          <a:prstGeom prst="rect">
            <a:avLst/>
          </a:prstGeom>
          <a:noFill/>
        </p:spPr>
        <p:txBody>
          <a:bodyPr wrap="square">
            <a:spAutoFit/>
          </a:bodyPr>
          <a:lstStyle/>
          <a:p>
            <a:pPr algn="l">
              <a:spcAft>
                <a:spcPts val="400"/>
              </a:spcAft>
              <a:defRPr sz="1400" b="0">
                <a:solidFill>
                  <a:srgbClr val="6B6B6B"/>
                </a:solidFill>
                <a:latin typeface="Calibri"/>
              </a:defRPr>
            </a:pPr>
            <a:r>
              <a:t>Les bases pour comprendre la suite — sans jargon</a:t>
            </a:r>
          </a:p>
        </p:txBody>
      </p:sp>
      <p:sp>
        <p:nvSpPr>
          <p:cNvPr id="4" name="Rounded Rectangle 3"/>
          <p:cNvSpPr/>
          <p:nvPr/>
        </p:nvSpPr>
        <p:spPr>
          <a:xfrm>
            <a:off x="731520" y="1737360"/>
            <a:ext cx="10515600" cy="137160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05840" y="1920240"/>
            <a:ext cx="1005840" cy="1005840"/>
          </a:xfrm>
          <a:prstGeom prst="ellipse">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1005840" cy="731520"/>
          </a:xfrm>
          <a:prstGeom prst="rect">
            <a:avLst/>
          </a:prstGeom>
          <a:noFill/>
        </p:spPr>
        <p:txBody>
          <a:bodyPr wrap="square">
            <a:spAutoFit/>
          </a:bodyPr>
          <a:lstStyle/>
          <a:p>
            <a:pPr algn="ctr">
              <a:spcAft>
                <a:spcPts val="400"/>
              </a:spcAft>
              <a:defRPr sz="2800" b="0">
                <a:solidFill>
                  <a:srgbClr val="FFFFFF"/>
                </a:solidFill>
                <a:latin typeface="Calibri"/>
              </a:defRPr>
            </a:pPr>
            <a:r>
              <a:t>🌐</a:t>
            </a:r>
          </a:p>
        </p:txBody>
      </p:sp>
      <p:sp>
        <p:nvSpPr>
          <p:cNvPr id="7" name="TextBox 6"/>
          <p:cNvSpPr txBox="1"/>
          <p:nvPr/>
        </p:nvSpPr>
        <p:spPr>
          <a:xfrm>
            <a:off x="2286000" y="1920240"/>
            <a:ext cx="2743200" cy="457200"/>
          </a:xfrm>
          <a:prstGeom prst="rect">
            <a:avLst/>
          </a:prstGeom>
          <a:noFill/>
        </p:spPr>
        <p:txBody>
          <a:bodyPr wrap="square">
            <a:spAutoFit/>
          </a:bodyPr>
          <a:lstStyle/>
          <a:p>
            <a:pPr algn="l">
              <a:spcAft>
                <a:spcPts val="400"/>
              </a:spcAft>
              <a:defRPr sz="1800" b="1">
                <a:solidFill>
                  <a:srgbClr val="2BB286"/>
                </a:solidFill>
                <a:latin typeface="Calibri Light"/>
              </a:defRPr>
            </a:pPr>
            <a:r>
              <a:t>App Web (actuelle)</a:t>
            </a:r>
          </a:p>
        </p:txBody>
      </p:sp>
      <p:sp>
        <p:nvSpPr>
          <p:cNvPr id="8" name="TextBox 7"/>
          <p:cNvSpPr txBox="1"/>
          <p:nvPr/>
        </p:nvSpPr>
        <p:spPr>
          <a:xfrm>
            <a:off x="2286000" y="2331720"/>
            <a:ext cx="8503920" cy="640080"/>
          </a:xfrm>
          <a:prstGeom prst="rect">
            <a:avLst/>
          </a:prstGeom>
          <a:noFill/>
        </p:spPr>
        <p:txBody>
          <a:bodyPr wrap="square">
            <a:spAutoFit/>
          </a:bodyPr>
          <a:lstStyle/>
          <a:p>
            <a:pPr algn="l">
              <a:spcAft>
                <a:spcPts val="400"/>
              </a:spcAft>
              <a:defRPr sz="1200" b="0">
                <a:solidFill>
                  <a:srgbClr val="6B6B6B"/>
                </a:solidFill>
                <a:latin typeface="Calibri"/>
              </a:defRPr>
            </a:pPr>
            <a:r>
              <a:t>C'est TimeHeroes aujourd'hui. Tu ouvres Chrome ou Safari sur ton téléphone, tu tapes timeheroes.fr, et le site s'affiche. Pour y accéder, tu as BESOIN d'Internet et d'un navigateur.</a:t>
            </a:r>
          </a:p>
        </p:txBody>
      </p:sp>
      <p:sp>
        <p:nvSpPr>
          <p:cNvPr id="9" name="Rounded Rectangle 8"/>
          <p:cNvSpPr/>
          <p:nvPr/>
        </p:nvSpPr>
        <p:spPr>
          <a:xfrm>
            <a:off x="731520" y="3291840"/>
            <a:ext cx="10515600" cy="137160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05840" y="3474720"/>
            <a:ext cx="1005840" cy="10058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566160"/>
            <a:ext cx="1005840" cy="731520"/>
          </a:xfrm>
          <a:prstGeom prst="rect">
            <a:avLst/>
          </a:prstGeom>
          <a:noFill/>
        </p:spPr>
        <p:txBody>
          <a:bodyPr wrap="square">
            <a:spAutoFit/>
          </a:bodyPr>
          <a:lstStyle/>
          <a:p>
            <a:pPr algn="ctr">
              <a:spcAft>
                <a:spcPts val="400"/>
              </a:spcAft>
              <a:defRPr sz="2800" b="0">
                <a:solidFill>
                  <a:srgbClr val="FFFFFF"/>
                </a:solidFill>
                <a:latin typeface="Calibri"/>
              </a:defRPr>
            </a:pPr>
            <a:r>
              <a:t>📲</a:t>
            </a:r>
          </a:p>
        </p:txBody>
      </p:sp>
      <p:sp>
        <p:nvSpPr>
          <p:cNvPr id="12" name="TextBox 11"/>
          <p:cNvSpPr txBox="1"/>
          <p:nvPr/>
        </p:nvSpPr>
        <p:spPr>
          <a:xfrm>
            <a:off x="2286000" y="3474720"/>
            <a:ext cx="2743200" cy="457200"/>
          </a:xfrm>
          <a:prstGeom prst="rect">
            <a:avLst/>
          </a:prstGeom>
          <a:noFill/>
        </p:spPr>
        <p:txBody>
          <a:bodyPr wrap="square">
            <a:spAutoFit/>
          </a:bodyPr>
          <a:lstStyle/>
          <a:p>
            <a:pPr algn="l">
              <a:spcAft>
                <a:spcPts val="400"/>
              </a:spcAft>
              <a:defRPr sz="1800" b="1">
                <a:solidFill>
                  <a:srgbClr val="7C3AED"/>
                </a:solidFill>
                <a:latin typeface="Calibri Light"/>
              </a:defRPr>
            </a:pPr>
            <a:r>
              <a:t>App installable (PWA)</a:t>
            </a:r>
          </a:p>
        </p:txBody>
      </p:sp>
      <p:sp>
        <p:nvSpPr>
          <p:cNvPr id="13" name="TextBox 12"/>
          <p:cNvSpPr txBox="1"/>
          <p:nvPr/>
        </p:nvSpPr>
        <p:spPr>
          <a:xfrm>
            <a:off x="2286000" y="3886200"/>
            <a:ext cx="8503920" cy="640080"/>
          </a:xfrm>
          <a:prstGeom prst="rect">
            <a:avLst/>
          </a:prstGeom>
          <a:noFill/>
        </p:spPr>
        <p:txBody>
          <a:bodyPr wrap="square">
            <a:spAutoFit/>
          </a:bodyPr>
          <a:lstStyle/>
          <a:p>
            <a:pPr algn="l">
              <a:spcAft>
                <a:spcPts val="400"/>
              </a:spcAft>
              <a:defRPr sz="1200" b="0">
                <a:solidFill>
                  <a:srgbClr val="6B6B6B"/>
                </a:solidFill>
                <a:latin typeface="Calibri"/>
              </a:defRPr>
            </a:pPr>
            <a:r>
              <a:t>C'est le MÊME site web, mais le navigateur te propose de l'"installer" sur ton écran d'accueil. Elle a sa propre icône et peut fonctionner un peu hors-ligne. Pas besoin d'App Store.</a:t>
            </a:r>
          </a:p>
        </p:txBody>
      </p:sp>
      <p:sp>
        <p:nvSpPr>
          <p:cNvPr id="14" name="Rounded Rectangle 13"/>
          <p:cNvSpPr/>
          <p:nvPr/>
        </p:nvSpPr>
        <p:spPr>
          <a:xfrm>
            <a:off x="731520" y="4846320"/>
            <a:ext cx="10515600" cy="137160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5029200"/>
            <a:ext cx="1005840" cy="10058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120640"/>
            <a:ext cx="1005840" cy="731520"/>
          </a:xfrm>
          <a:prstGeom prst="rect">
            <a:avLst/>
          </a:prstGeom>
          <a:noFill/>
        </p:spPr>
        <p:txBody>
          <a:bodyPr wrap="square">
            <a:spAutoFit/>
          </a:bodyPr>
          <a:lstStyle/>
          <a:p>
            <a:pPr algn="ctr">
              <a:spcAft>
                <a:spcPts val="400"/>
              </a:spcAft>
              <a:defRPr sz="2800" b="0">
                <a:solidFill>
                  <a:srgbClr val="FFFFFF"/>
                </a:solidFill>
                <a:latin typeface="Calibri"/>
              </a:defRPr>
            </a:pPr>
            <a:r>
              <a:t>📱</a:t>
            </a:r>
          </a:p>
        </p:txBody>
      </p:sp>
      <p:sp>
        <p:nvSpPr>
          <p:cNvPr id="17" name="TextBox 16"/>
          <p:cNvSpPr txBox="1"/>
          <p:nvPr/>
        </p:nvSpPr>
        <p:spPr>
          <a:xfrm>
            <a:off x="2286000" y="5029200"/>
            <a:ext cx="2743200" cy="457200"/>
          </a:xfrm>
          <a:prstGeom prst="rect">
            <a:avLst/>
          </a:prstGeom>
          <a:noFill/>
        </p:spPr>
        <p:txBody>
          <a:bodyPr wrap="square">
            <a:spAutoFit/>
          </a:bodyPr>
          <a:lstStyle/>
          <a:p>
            <a:pPr algn="l">
              <a:spcAft>
                <a:spcPts val="400"/>
              </a:spcAft>
              <a:defRPr sz="1800" b="1">
                <a:solidFill>
                  <a:srgbClr val="F59E0B"/>
                </a:solidFill>
                <a:latin typeface="Calibri Light"/>
              </a:defRPr>
            </a:pPr>
            <a:r>
              <a:t>App native</a:t>
            </a:r>
          </a:p>
        </p:txBody>
      </p:sp>
      <p:sp>
        <p:nvSpPr>
          <p:cNvPr id="18" name="TextBox 17"/>
          <p:cNvSpPr txBox="1"/>
          <p:nvPr/>
        </p:nvSpPr>
        <p:spPr>
          <a:xfrm>
            <a:off x="2286000" y="5440680"/>
            <a:ext cx="8503920" cy="640080"/>
          </a:xfrm>
          <a:prstGeom prst="rect">
            <a:avLst/>
          </a:prstGeom>
          <a:noFill/>
        </p:spPr>
        <p:txBody>
          <a:bodyPr wrap="square">
            <a:spAutoFit/>
          </a:bodyPr>
          <a:lstStyle/>
          <a:p>
            <a:pPr algn="l">
              <a:spcAft>
                <a:spcPts val="400"/>
              </a:spcAft>
              <a:defRPr sz="1200" b="0">
                <a:solidFill>
                  <a:srgbClr val="6B6B6B"/>
                </a:solidFill>
                <a:latin typeface="Calibri"/>
              </a:defRPr>
            </a:pPr>
            <a:r>
              <a:t>C'est comme Instagram, Uber, WhatsApp. Tu la télécharges depuis l'App Store (iPhone) ou Google Play (Android). Elle peut tout faire : caméra, NFC, notifications, Bluetooth. C'est le plus puissant mais le plus long à fabriquer.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spcAft>
                <a:spcPts val="400"/>
              </a:spcAft>
              <a:defRPr sz="3000" b="1">
                <a:solidFill>
                  <a:srgbClr val="1A1A1A"/>
                </a:solidFill>
                <a:latin typeface="Calibri Light"/>
              </a:defRPr>
            </a:pPr>
            <a:r>
              <a:t>🎯 Pourquoi ne pas rester sur le site web ?</a:t>
            </a:r>
          </a:p>
        </p:txBody>
      </p:sp>
      <p:sp>
        <p:nvSpPr>
          <p:cNvPr id="3" name="TextBox 2"/>
          <p:cNvSpPr txBox="1"/>
          <p:nvPr/>
        </p:nvSpPr>
        <p:spPr>
          <a:xfrm>
            <a:off x="731520" y="1005840"/>
            <a:ext cx="9144000" cy="457200"/>
          </a:xfrm>
          <a:prstGeom prst="rect">
            <a:avLst/>
          </a:prstGeom>
          <a:noFill/>
        </p:spPr>
        <p:txBody>
          <a:bodyPr wrap="square">
            <a:spAutoFit/>
          </a:bodyPr>
          <a:lstStyle/>
          <a:p>
            <a:pPr algn="l">
              <a:spcAft>
                <a:spcPts val="400"/>
              </a:spcAft>
              <a:defRPr sz="1400" b="0">
                <a:solidFill>
                  <a:srgbClr val="6B6B6B"/>
                </a:solidFill>
                <a:latin typeface="Calibri"/>
              </a:defRPr>
            </a:pPr>
            <a:r>
              <a:t>Les super-pouvoirs que tu gagnes en passant en mobile</a:t>
            </a:r>
          </a:p>
        </p:txBody>
      </p:sp>
      <p:sp>
        <p:nvSpPr>
          <p:cNvPr id="4" name="Rounded Rectangle 3"/>
          <p:cNvSpPr/>
          <p:nvPr/>
        </p:nvSpPr>
        <p:spPr>
          <a:xfrm>
            <a:off x="731520" y="1645920"/>
            <a:ext cx="6858000" cy="82296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19072"/>
            <a:ext cx="6400800" cy="274320"/>
          </a:xfrm>
          <a:prstGeom prst="rect">
            <a:avLst/>
          </a:prstGeom>
          <a:noFill/>
        </p:spPr>
        <p:txBody>
          <a:bodyPr wrap="square">
            <a:spAutoFit/>
          </a:bodyPr>
          <a:lstStyle/>
          <a:p>
            <a:pPr algn="l">
              <a:spcAft>
                <a:spcPts val="400"/>
              </a:spcAft>
              <a:defRPr sz="1400" b="1">
                <a:solidFill>
                  <a:srgbClr val="1A1A1A"/>
                </a:solidFill>
                <a:latin typeface="Calibri"/>
              </a:defRPr>
            </a:pPr>
            <a:r>
              <a:t>📸 Scanner un QR code</a:t>
            </a:r>
          </a:p>
        </p:txBody>
      </p:sp>
      <p:sp>
        <p:nvSpPr>
          <p:cNvPr id="6" name="TextBox 5"/>
          <p:cNvSpPr txBox="1"/>
          <p:nvPr/>
        </p:nvSpPr>
        <p:spPr>
          <a:xfrm>
            <a:off x="914400" y="2011680"/>
            <a:ext cx="6400800" cy="365760"/>
          </a:xfrm>
          <a:prstGeom prst="rect">
            <a:avLst/>
          </a:prstGeom>
          <a:noFill/>
        </p:spPr>
        <p:txBody>
          <a:bodyPr wrap="square">
            <a:spAutoFit/>
          </a:bodyPr>
          <a:lstStyle/>
          <a:p>
            <a:pPr algn="l">
              <a:spcAft>
                <a:spcPts val="400"/>
              </a:spcAft>
              <a:defRPr sz="1000" b="0">
                <a:solidFill>
                  <a:srgbClr val="6B6B6B"/>
                </a:solidFill>
                <a:latin typeface="Calibri"/>
              </a:defRPr>
            </a:pPr>
            <a:r>
              <a:t>Le site peut utiliser la caméra, mais c'est limité. Une app native scanne bien plus vite et mieux.</a:t>
            </a:r>
          </a:p>
        </p:txBody>
      </p:sp>
      <p:sp>
        <p:nvSpPr>
          <p:cNvPr id="7" name="Rounded Rectangle 6"/>
          <p:cNvSpPr/>
          <p:nvPr/>
        </p:nvSpPr>
        <p:spPr>
          <a:xfrm>
            <a:off x="7772400" y="1645920"/>
            <a:ext cx="3474720" cy="822960"/>
          </a:xfrm>
          <a:prstGeom prst="roundRect">
            <a:avLst>
              <a:gd name="adj" fmla="val 2000"/>
            </a:avLst>
          </a:prstGeom>
          <a:solidFill>
            <a:srgbClr val="ECFDF5"/>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1828800"/>
            <a:ext cx="3291840" cy="457200"/>
          </a:xfrm>
          <a:prstGeom prst="rect">
            <a:avLst/>
          </a:prstGeom>
          <a:noFill/>
        </p:spPr>
        <p:txBody>
          <a:bodyPr wrap="square">
            <a:spAutoFit/>
          </a:bodyPr>
          <a:lstStyle/>
          <a:p>
            <a:pPr algn="ctr">
              <a:spcAft>
                <a:spcPts val="400"/>
              </a:spcAft>
              <a:defRPr sz="1200" b="1">
                <a:solidFill>
                  <a:srgbClr val="008F78"/>
                </a:solidFill>
                <a:latin typeface="Calibri"/>
              </a:defRPr>
            </a:pPr>
            <a:r>
              <a:t>✅ Scan natif</a:t>
            </a:r>
          </a:p>
        </p:txBody>
      </p:sp>
      <p:sp>
        <p:nvSpPr>
          <p:cNvPr id="9" name="Rounded Rectangle 8"/>
          <p:cNvSpPr/>
          <p:nvPr/>
        </p:nvSpPr>
        <p:spPr>
          <a:xfrm>
            <a:off x="731520" y="2606040"/>
            <a:ext cx="6858000" cy="82296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79192"/>
            <a:ext cx="6400800" cy="274320"/>
          </a:xfrm>
          <a:prstGeom prst="rect">
            <a:avLst/>
          </a:prstGeom>
          <a:noFill/>
        </p:spPr>
        <p:txBody>
          <a:bodyPr wrap="square">
            <a:spAutoFit/>
          </a:bodyPr>
          <a:lstStyle/>
          <a:p>
            <a:pPr algn="l">
              <a:spcAft>
                <a:spcPts val="400"/>
              </a:spcAft>
              <a:defRPr sz="1400" b="1">
                <a:solidFill>
                  <a:srgbClr val="1A1A1A"/>
                </a:solidFill>
                <a:latin typeface="Calibri"/>
              </a:defRPr>
            </a:pPr>
            <a:r>
              <a:t>🤝 Valider par NFC (sans contact)</a:t>
            </a:r>
          </a:p>
        </p:txBody>
      </p:sp>
      <p:sp>
        <p:nvSpPr>
          <p:cNvPr id="11" name="TextBox 10"/>
          <p:cNvSpPr txBox="1"/>
          <p:nvPr/>
        </p:nvSpPr>
        <p:spPr>
          <a:xfrm>
            <a:off x="914400" y="2971800"/>
            <a:ext cx="6400800" cy="365760"/>
          </a:xfrm>
          <a:prstGeom prst="rect">
            <a:avLst/>
          </a:prstGeom>
          <a:noFill/>
        </p:spPr>
        <p:txBody>
          <a:bodyPr wrap="square">
            <a:spAutoFit/>
          </a:bodyPr>
          <a:lstStyle/>
          <a:p>
            <a:pPr algn="l">
              <a:spcAft>
                <a:spcPts val="400"/>
              </a:spcAft>
              <a:defRPr sz="1000" b="0">
                <a:solidFill>
                  <a:srgbClr val="6B6B6B"/>
                </a:solidFill>
                <a:latin typeface="Calibri"/>
              </a:defRPr>
            </a:pPr>
            <a:r>
              <a:t>Impossible depuis un site web. Le NFC nécessite une app native. Avec une app, tu valides une mission en tapant les téléphones.</a:t>
            </a:r>
          </a:p>
        </p:txBody>
      </p:sp>
      <p:sp>
        <p:nvSpPr>
          <p:cNvPr id="12" name="Rounded Rectangle 11"/>
          <p:cNvSpPr/>
          <p:nvPr/>
        </p:nvSpPr>
        <p:spPr>
          <a:xfrm>
            <a:off x="7772400" y="2606040"/>
            <a:ext cx="3474720" cy="822960"/>
          </a:xfrm>
          <a:prstGeom prst="roundRect">
            <a:avLst>
              <a:gd name="adj" fmla="val 2000"/>
            </a:avLst>
          </a:prstGeom>
          <a:solidFill>
            <a:srgbClr val="ECFDF5"/>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788920"/>
            <a:ext cx="3291840" cy="457200"/>
          </a:xfrm>
          <a:prstGeom prst="rect">
            <a:avLst/>
          </a:prstGeom>
          <a:noFill/>
        </p:spPr>
        <p:txBody>
          <a:bodyPr wrap="square">
            <a:spAutoFit/>
          </a:bodyPr>
          <a:lstStyle/>
          <a:p>
            <a:pPr algn="ctr">
              <a:spcAft>
                <a:spcPts val="400"/>
              </a:spcAft>
              <a:defRPr sz="1200" b="1">
                <a:solidFill>
                  <a:srgbClr val="008F78"/>
                </a:solidFill>
                <a:latin typeface="Calibri"/>
              </a:defRPr>
            </a:pPr>
            <a:r>
              <a:t>✅ Tap NFC !</a:t>
            </a:r>
          </a:p>
        </p:txBody>
      </p:sp>
      <p:sp>
        <p:nvSpPr>
          <p:cNvPr id="14" name="Rounded Rectangle 13"/>
          <p:cNvSpPr/>
          <p:nvPr/>
        </p:nvSpPr>
        <p:spPr>
          <a:xfrm>
            <a:off x="731520" y="3566160"/>
            <a:ext cx="6858000" cy="82296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639312"/>
            <a:ext cx="6400800" cy="274320"/>
          </a:xfrm>
          <a:prstGeom prst="rect">
            <a:avLst/>
          </a:prstGeom>
          <a:noFill/>
        </p:spPr>
        <p:txBody>
          <a:bodyPr wrap="square">
            <a:spAutoFit/>
          </a:bodyPr>
          <a:lstStyle/>
          <a:p>
            <a:pPr algn="l">
              <a:spcAft>
                <a:spcPts val="400"/>
              </a:spcAft>
              <a:defRPr sz="1400" b="1">
                <a:solidFill>
                  <a:srgbClr val="1A1A1A"/>
                </a:solidFill>
                <a:latin typeface="Calibri"/>
              </a:defRPr>
            </a:pPr>
            <a:r>
              <a:t>🔔 Recevoir des notifications</a:t>
            </a:r>
          </a:p>
        </p:txBody>
      </p:sp>
      <p:sp>
        <p:nvSpPr>
          <p:cNvPr id="16" name="TextBox 15"/>
          <p:cNvSpPr txBox="1"/>
          <p:nvPr/>
        </p:nvSpPr>
        <p:spPr>
          <a:xfrm>
            <a:off x="914400" y="3931920"/>
            <a:ext cx="6400800" cy="365760"/>
          </a:xfrm>
          <a:prstGeom prst="rect">
            <a:avLst/>
          </a:prstGeom>
          <a:noFill/>
        </p:spPr>
        <p:txBody>
          <a:bodyPr wrap="square">
            <a:spAutoFit/>
          </a:bodyPr>
          <a:lstStyle/>
          <a:p>
            <a:pPr algn="l">
              <a:spcAft>
                <a:spcPts val="400"/>
              </a:spcAft>
              <a:defRPr sz="1000" b="0">
                <a:solidFill>
                  <a:srgbClr val="6B6B6B"/>
                </a:solidFill>
                <a:latin typeface="Calibri"/>
              </a:defRPr>
            </a:pPr>
            <a:r>
              <a:t>Sur un site, tu reçois une notification uniquement si tu as l'onglet ouvert. En app, tu reçois tout le temps.</a:t>
            </a:r>
          </a:p>
        </p:txBody>
      </p:sp>
      <p:sp>
        <p:nvSpPr>
          <p:cNvPr id="17" name="Rounded Rectangle 16"/>
          <p:cNvSpPr/>
          <p:nvPr/>
        </p:nvSpPr>
        <p:spPr>
          <a:xfrm>
            <a:off x="7772400" y="3566160"/>
            <a:ext cx="3474720" cy="822960"/>
          </a:xfrm>
          <a:prstGeom prst="roundRect">
            <a:avLst>
              <a:gd name="adj" fmla="val 2000"/>
            </a:avLst>
          </a:prstGeom>
          <a:solidFill>
            <a:srgbClr val="ECFDF5"/>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0" y="3749040"/>
            <a:ext cx="3291840" cy="457200"/>
          </a:xfrm>
          <a:prstGeom prst="rect">
            <a:avLst/>
          </a:prstGeom>
          <a:noFill/>
        </p:spPr>
        <p:txBody>
          <a:bodyPr wrap="square">
            <a:spAutoFit/>
          </a:bodyPr>
          <a:lstStyle/>
          <a:p>
            <a:pPr algn="ctr">
              <a:spcAft>
                <a:spcPts val="400"/>
              </a:spcAft>
              <a:defRPr sz="1200" b="1">
                <a:solidFill>
                  <a:srgbClr val="008F78"/>
                </a:solidFill>
                <a:latin typeface="Calibri"/>
              </a:defRPr>
            </a:pPr>
            <a:r>
              <a:t>✅ Push toujours</a:t>
            </a:r>
          </a:p>
        </p:txBody>
      </p:sp>
      <p:sp>
        <p:nvSpPr>
          <p:cNvPr id="19" name="Rounded Rectangle 18"/>
          <p:cNvSpPr/>
          <p:nvPr/>
        </p:nvSpPr>
        <p:spPr>
          <a:xfrm>
            <a:off x="731520" y="4526280"/>
            <a:ext cx="6858000" cy="82296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599432"/>
            <a:ext cx="6400800" cy="274320"/>
          </a:xfrm>
          <a:prstGeom prst="rect">
            <a:avLst/>
          </a:prstGeom>
          <a:noFill/>
        </p:spPr>
        <p:txBody>
          <a:bodyPr wrap="square">
            <a:spAutoFit/>
          </a:bodyPr>
          <a:lstStyle/>
          <a:p>
            <a:pPr algn="l">
              <a:spcAft>
                <a:spcPts val="400"/>
              </a:spcAft>
              <a:defRPr sz="1400" b="1">
                <a:solidFill>
                  <a:srgbClr val="1A1A1A"/>
                </a:solidFill>
                <a:latin typeface="Calibri"/>
              </a:defRPr>
            </a:pPr>
            <a:r>
              <a:t>📴 Utiliser sans Internet</a:t>
            </a:r>
          </a:p>
        </p:txBody>
      </p:sp>
      <p:sp>
        <p:nvSpPr>
          <p:cNvPr id="21" name="TextBox 20"/>
          <p:cNvSpPr txBox="1"/>
          <p:nvPr/>
        </p:nvSpPr>
        <p:spPr>
          <a:xfrm>
            <a:off x="914400" y="4892040"/>
            <a:ext cx="6400800" cy="365760"/>
          </a:xfrm>
          <a:prstGeom prst="rect">
            <a:avLst/>
          </a:prstGeom>
          <a:noFill/>
        </p:spPr>
        <p:txBody>
          <a:bodyPr wrap="square">
            <a:spAutoFit/>
          </a:bodyPr>
          <a:lstStyle/>
          <a:p>
            <a:pPr algn="l">
              <a:spcAft>
                <a:spcPts val="400"/>
              </a:spcAft>
              <a:defRPr sz="1000" b="0">
                <a:solidFill>
                  <a:srgbClr val="6B6B6B"/>
                </a:solidFill>
                <a:latin typeface="Calibri"/>
              </a:defRPr>
            </a:pPr>
            <a:r>
              <a:t>Le site ne marche pas sans connexion. Une app peut mettre en cache les données pour les consulter hors-ligne.</a:t>
            </a:r>
          </a:p>
        </p:txBody>
      </p:sp>
      <p:sp>
        <p:nvSpPr>
          <p:cNvPr id="22" name="Rounded Rectangle 21"/>
          <p:cNvSpPr/>
          <p:nvPr/>
        </p:nvSpPr>
        <p:spPr>
          <a:xfrm>
            <a:off x="7772400" y="4526280"/>
            <a:ext cx="3474720" cy="822960"/>
          </a:xfrm>
          <a:prstGeom prst="roundRect">
            <a:avLst>
              <a:gd name="adj" fmla="val 2000"/>
            </a:avLst>
          </a:prstGeom>
          <a:solidFill>
            <a:srgbClr val="ECFDF5"/>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4709160"/>
            <a:ext cx="3291840" cy="457200"/>
          </a:xfrm>
          <a:prstGeom prst="rect">
            <a:avLst/>
          </a:prstGeom>
          <a:noFill/>
        </p:spPr>
        <p:txBody>
          <a:bodyPr wrap="square">
            <a:spAutoFit/>
          </a:bodyPr>
          <a:lstStyle/>
          <a:p>
            <a:pPr algn="ctr">
              <a:spcAft>
                <a:spcPts val="400"/>
              </a:spcAft>
              <a:defRPr sz="1200" b="1">
                <a:solidFill>
                  <a:srgbClr val="008F78"/>
                </a:solidFill>
                <a:latin typeface="Calibri"/>
              </a:defRPr>
            </a:pPr>
            <a:r>
              <a:t>✅ Mode hors-ligne</a:t>
            </a:r>
          </a:p>
        </p:txBody>
      </p:sp>
      <p:sp>
        <p:nvSpPr>
          <p:cNvPr id="24" name="Rounded Rectangle 23"/>
          <p:cNvSpPr/>
          <p:nvPr/>
        </p:nvSpPr>
        <p:spPr>
          <a:xfrm>
            <a:off x="731520" y="5486400"/>
            <a:ext cx="6858000" cy="82296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559552"/>
            <a:ext cx="6400800" cy="274320"/>
          </a:xfrm>
          <a:prstGeom prst="rect">
            <a:avLst/>
          </a:prstGeom>
          <a:noFill/>
        </p:spPr>
        <p:txBody>
          <a:bodyPr wrap="square">
            <a:spAutoFit/>
          </a:bodyPr>
          <a:lstStyle/>
          <a:p>
            <a:pPr algn="l">
              <a:spcAft>
                <a:spcPts val="400"/>
              </a:spcAft>
              <a:defRPr sz="1400" b="1">
                <a:solidFill>
                  <a:srgbClr val="1A1A1A"/>
                </a:solidFill>
                <a:latin typeface="Calibri"/>
              </a:defRPr>
            </a:pPr>
            <a:r>
              <a:t>🏠 Avoir une icône sur le téléphone</a:t>
            </a:r>
          </a:p>
        </p:txBody>
      </p:sp>
      <p:sp>
        <p:nvSpPr>
          <p:cNvPr id="26" name="TextBox 25"/>
          <p:cNvSpPr txBox="1"/>
          <p:nvPr/>
        </p:nvSpPr>
        <p:spPr>
          <a:xfrm>
            <a:off x="914400" y="5852160"/>
            <a:ext cx="6400800" cy="365760"/>
          </a:xfrm>
          <a:prstGeom prst="rect">
            <a:avLst/>
          </a:prstGeom>
          <a:noFill/>
        </p:spPr>
        <p:txBody>
          <a:bodyPr wrap="square">
            <a:spAutoFit/>
          </a:bodyPr>
          <a:lstStyle/>
          <a:p>
            <a:pPr algn="l">
              <a:spcAft>
                <a:spcPts val="400"/>
              </a:spcAft>
              <a:defRPr sz="1000" b="0">
                <a:solidFill>
                  <a:srgbClr val="6B6B6B"/>
                </a:solidFill>
                <a:latin typeface="Calibri"/>
              </a:defRPr>
            </a:pPr>
            <a:r>
              <a:t>Un site peut être ajouté à l'écran d'accueil, mais c'est moins bien qu'une vraie app installée depuis un store.</a:t>
            </a:r>
          </a:p>
        </p:txBody>
      </p:sp>
      <p:sp>
        <p:nvSpPr>
          <p:cNvPr id="27" name="Rounded Rectangle 26"/>
          <p:cNvSpPr/>
          <p:nvPr/>
        </p:nvSpPr>
        <p:spPr>
          <a:xfrm>
            <a:off x="7772400" y="5486400"/>
            <a:ext cx="3474720" cy="822960"/>
          </a:xfrm>
          <a:prstGeom prst="roundRect">
            <a:avLst>
              <a:gd name="adj" fmla="val 2000"/>
            </a:avLst>
          </a:prstGeom>
          <a:solidFill>
            <a:srgbClr val="ECFDF5"/>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0" y="5669280"/>
            <a:ext cx="3291840" cy="457200"/>
          </a:xfrm>
          <a:prstGeom prst="rect">
            <a:avLst/>
          </a:prstGeom>
          <a:noFill/>
        </p:spPr>
        <p:txBody>
          <a:bodyPr wrap="square">
            <a:spAutoFit/>
          </a:bodyPr>
          <a:lstStyle/>
          <a:p>
            <a:pPr algn="ctr">
              <a:spcAft>
                <a:spcPts val="400"/>
              </a:spcAft>
              <a:defRPr sz="1200" b="1">
                <a:solidFill>
                  <a:srgbClr val="008F78"/>
                </a:solidFill>
                <a:latin typeface="Calibri"/>
              </a:defRPr>
            </a:pPr>
            <a:r>
              <a:t>✅ Icône permanente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spcAft>
                <a:spcPts val="400"/>
              </a:spcAft>
              <a:defRPr sz="3000" b="1">
                <a:solidFill>
                  <a:srgbClr val="1A1A1A"/>
                </a:solidFill>
                <a:latin typeface="Calibri Light"/>
              </a:defRPr>
            </a:pPr>
            <a:r>
              <a:t>🛤️ Les 3 options pour rendre TimeHeroes mobile</a:t>
            </a:r>
          </a:p>
        </p:txBody>
      </p:sp>
      <p:sp>
        <p:nvSpPr>
          <p:cNvPr id="3" name="TextBox 2"/>
          <p:cNvSpPr txBox="1"/>
          <p:nvPr/>
        </p:nvSpPr>
        <p:spPr>
          <a:xfrm>
            <a:off x="731520" y="1005840"/>
            <a:ext cx="9144000" cy="365760"/>
          </a:xfrm>
          <a:prstGeom prst="rect">
            <a:avLst/>
          </a:prstGeom>
          <a:noFill/>
        </p:spPr>
        <p:txBody>
          <a:bodyPr wrap="square">
            <a:spAutoFit/>
          </a:bodyPr>
          <a:lstStyle/>
          <a:p>
            <a:pPr algn="l">
              <a:spcAft>
                <a:spcPts val="400"/>
              </a:spcAft>
              <a:defRPr sz="1400" b="0">
                <a:solidFill>
                  <a:srgbClr val="6B6B6B"/>
                </a:solidFill>
                <a:latin typeface="Calibri"/>
              </a:defRPr>
            </a:pPr>
            <a:r>
              <a:t>Du plus simple au plus puissant — chaque option est expliquée en détail après</a:t>
            </a:r>
          </a:p>
        </p:txBody>
      </p:sp>
      <p:sp>
        <p:nvSpPr>
          <p:cNvPr id="4" name="Rounded Rectangle 3"/>
          <p:cNvSpPr/>
          <p:nvPr/>
        </p:nvSpPr>
        <p:spPr>
          <a:xfrm>
            <a:off x="731520" y="1645920"/>
            <a:ext cx="3474720" cy="47548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3474720" cy="54864"/>
          </a:xfrm>
          <a:prstGeom prst="rect">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11680" y="1920240"/>
            <a:ext cx="914400" cy="914400"/>
          </a:xfrm>
          <a:prstGeom prst="ellipse">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920240"/>
            <a:ext cx="914400" cy="914400"/>
          </a:xfrm>
          <a:prstGeom prst="rect">
            <a:avLst/>
          </a:prstGeom>
          <a:noFill/>
        </p:spPr>
        <p:txBody>
          <a:bodyPr wrap="square">
            <a:spAutoFit/>
          </a:bodyPr>
          <a:lstStyle/>
          <a:p>
            <a:pPr algn="ctr">
              <a:spcAft>
                <a:spcPts val="400"/>
              </a:spcAft>
              <a:defRPr sz="3200" b="1">
                <a:solidFill>
                  <a:srgbClr val="FFFFFF"/>
                </a:solidFill>
                <a:latin typeface="Calibri Light"/>
              </a:defRPr>
            </a:pPr>
            <a:r>
              <a:t>1</a:t>
            </a:r>
          </a:p>
        </p:txBody>
      </p:sp>
      <p:sp>
        <p:nvSpPr>
          <p:cNvPr id="8" name="TextBox 7"/>
          <p:cNvSpPr txBox="1"/>
          <p:nvPr/>
        </p:nvSpPr>
        <p:spPr>
          <a:xfrm>
            <a:off x="914400" y="3017520"/>
            <a:ext cx="3108960" cy="457200"/>
          </a:xfrm>
          <a:prstGeom prst="rect">
            <a:avLst/>
          </a:prstGeom>
          <a:noFill/>
        </p:spPr>
        <p:txBody>
          <a:bodyPr wrap="square">
            <a:spAutoFit/>
          </a:bodyPr>
          <a:lstStyle/>
          <a:p>
            <a:pPr algn="ctr">
              <a:spcAft>
                <a:spcPts val="400"/>
              </a:spcAft>
              <a:defRPr sz="2000" b="1">
                <a:solidFill>
                  <a:srgbClr val="1A1A1A"/>
                </a:solidFill>
                <a:latin typeface="Calibri Light"/>
              </a:defRPr>
            </a:pPr>
            <a:r>
              <a:t>Option 1 : PWA</a:t>
            </a:r>
          </a:p>
        </p:txBody>
      </p:sp>
      <p:sp>
        <p:nvSpPr>
          <p:cNvPr id="9" name="TextBox 8"/>
          <p:cNvSpPr txBox="1"/>
          <p:nvPr/>
        </p:nvSpPr>
        <p:spPr>
          <a:xfrm>
            <a:off x="914400" y="3474720"/>
            <a:ext cx="3108960" cy="365760"/>
          </a:xfrm>
          <a:prstGeom prst="rect">
            <a:avLst/>
          </a:prstGeom>
          <a:noFill/>
        </p:spPr>
        <p:txBody>
          <a:bodyPr wrap="square">
            <a:spAutoFit/>
          </a:bodyPr>
          <a:lstStyle/>
          <a:p>
            <a:pPr algn="ctr">
              <a:spcAft>
                <a:spcPts val="400"/>
              </a:spcAft>
              <a:defRPr sz="1300" b="1">
                <a:solidFill>
                  <a:srgbClr val="2BB286"/>
                </a:solidFill>
                <a:latin typeface="Calibri"/>
              </a:defRPr>
            </a:pPr>
            <a:r>
              <a:t>1 jour</a:t>
            </a:r>
          </a:p>
        </p:txBody>
      </p:sp>
      <p:sp>
        <p:nvSpPr>
          <p:cNvPr id="10" name="TextBox 9"/>
          <p:cNvSpPr txBox="1"/>
          <p:nvPr/>
        </p:nvSpPr>
        <p:spPr>
          <a:xfrm>
            <a:off x="1005840" y="4023360"/>
            <a:ext cx="2926080" cy="457200"/>
          </a:xfrm>
          <a:prstGeom prst="rect">
            <a:avLst/>
          </a:prstGeom>
          <a:noFill/>
        </p:spPr>
        <p:txBody>
          <a:bodyPr wrap="square">
            <a:spAutoFit/>
          </a:bodyPr>
          <a:lstStyle/>
          <a:p>
            <a:pPr algn="l">
              <a:spcAft>
                <a:spcPts val="400"/>
              </a:spcAft>
              <a:defRPr sz="1100" b="0">
                <a:solidFill>
                  <a:srgbClr val="067854"/>
                </a:solidFill>
                <a:latin typeface="Calibri"/>
              </a:defRPr>
            </a:pPr>
            <a:r>
              <a:t>✅ Gratuit, facile</a:t>
            </a:r>
          </a:p>
        </p:txBody>
      </p:sp>
      <p:sp>
        <p:nvSpPr>
          <p:cNvPr id="11" name="TextBox 10"/>
          <p:cNvSpPr txBox="1"/>
          <p:nvPr/>
        </p:nvSpPr>
        <p:spPr>
          <a:xfrm>
            <a:off x="1005840" y="4572000"/>
            <a:ext cx="2926080" cy="457200"/>
          </a:xfrm>
          <a:prstGeom prst="rect">
            <a:avLst/>
          </a:prstGeom>
          <a:noFill/>
        </p:spPr>
        <p:txBody>
          <a:bodyPr wrap="square">
            <a:spAutoFit/>
          </a:bodyPr>
          <a:lstStyle/>
          <a:p>
            <a:pPr algn="l">
              <a:spcAft>
                <a:spcPts val="400"/>
              </a:spcAft>
              <a:defRPr sz="1100" b="0">
                <a:solidFill>
                  <a:srgbClr val="DC2626"/>
                </a:solidFill>
                <a:latin typeface="Calibri"/>
              </a:defRPr>
            </a:pPr>
            <a:r>
              <a:t>❌ Pas de NFC</a:t>
            </a:r>
          </a:p>
        </p:txBody>
      </p:sp>
      <p:sp>
        <p:nvSpPr>
          <p:cNvPr id="12" name="Rounded Rectangle 11"/>
          <p:cNvSpPr/>
          <p:nvPr/>
        </p:nvSpPr>
        <p:spPr>
          <a:xfrm>
            <a:off x="4572000" y="1645920"/>
            <a:ext cx="3474720" cy="47548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645920"/>
            <a:ext cx="347472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60" y="1920240"/>
            <a:ext cx="914400" cy="91440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1920240"/>
            <a:ext cx="914400" cy="914400"/>
          </a:xfrm>
          <a:prstGeom prst="rect">
            <a:avLst/>
          </a:prstGeom>
          <a:noFill/>
        </p:spPr>
        <p:txBody>
          <a:bodyPr wrap="square">
            <a:spAutoFit/>
          </a:bodyPr>
          <a:lstStyle/>
          <a:p>
            <a:pPr algn="ctr">
              <a:spcAft>
                <a:spcPts val="400"/>
              </a:spcAft>
              <a:defRPr sz="3200" b="1">
                <a:solidFill>
                  <a:srgbClr val="FFFFFF"/>
                </a:solidFill>
                <a:latin typeface="Calibri Light"/>
              </a:defRPr>
            </a:pPr>
            <a:r>
              <a:t>2</a:t>
            </a:r>
          </a:p>
        </p:txBody>
      </p:sp>
      <p:sp>
        <p:nvSpPr>
          <p:cNvPr id="16" name="TextBox 15"/>
          <p:cNvSpPr txBox="1"/>
          <p:nvPr/>
        </p:nvSpPr>
        <p:spPr>
          <a:xfrm>
            <a:off x="4754880" y="3017520"/>
            <a:ext cx="3108960" cy="457200"/>
          </a:xfrm>
          <a:prstGeom prst="rect">
            <a:avLst/>
          </a:prstGeom>
          <a:noFill/>
        </p:spPr>
        <p:txBody>
          <a:bodyPr wrap="square">
            <a:spAutoFit/>
          </a:bodyPr>
          <a:lstStyle/>
          <a:p>
            <a:pPr algn="ctr">
              <a:spcAft>
                <a:spcPts val="400"/>
              </a:spcAft>
              <a:defRPr sz="2000" b="1">
                <a:solidFill>
                  <a:srgbClr val="1A1A1A"/>
                </a:solidFill>
                <a:latin typeface="Calibri Light"/>
              </a:defRPr>
            </a:pPr>
            <a:r>
              <a:t>Option 2 : Capacitor</a:t>
            </a:r>
          </a:p>
        </p:txBody>
      </p:sp>
      <p:sp>
        <p:nvSpPr>
          <p:cNvPr id="17" name="TextBox 16"/>
          <p:cNvSpPr txBox="1"/>
          <p:nvPr/>
        </p:nvSpPr>
        <p:spPr>
          <a:xfrm>
            <a:off x="4754880" y="3474720"/>
            <a:ext cx="3108960" cy="365760"/>
          </a:xfrm>
          <a:prstGeom prst="rect">
            <a:avLst/>
          </a:prstGeom>
          <a:noFill/>
        </p:spPr>
        <p:txBody>
          <a:bodyPr wrap="square">
            <a:spAutoFit/>
          </a:bodyPr>
          <a:lstStyle/>
          <a:p>
            <a:pPr algn="ctr">
              <a:spcAft>
                <a:spcPts val="400"/>
              </a:spcAft>
              <a:defRPr sz="1300" b="1">
                <a:solidFill>
                  <a:srgbClr val="7C3AED"/>
                </a:solidFill>
                <a:latin typeface="Calibri"/>
              </a:defRPr>
            </a:pPr>
            <a:r>
              <a:t>3-4 jours</a:t>
            </a:r>
          </a:p>
        </p:txBody>
      </p:sp>
      <p:sp>
        <p:nvSpPr>
          <p:cNvPr id="18" name="TextBox 17"/>
          <p:cNvSpPr txBox="1"/>
          <p:nvPr/>
        </p:nvSpPr>
        <p:spPr>
          <a:xfrm>
            <a:off x="4846320" y="4023360"/>
            <a:ext cx="2926080" cy="457200"/>
          </a:xfrm>
          <a:prstGeom prst="rect">
            <a:avLst/>
          </a:prstGeom>
          <a:noFill/>
        </p:spPr>
        <p:txBody>
          <a:bodyPr wrap="square">
            <a:spAutoFit/>
          </a:bodyPr>
          <a:lstStyle/>
          <a:p>
            <a:pPr algn="l">
              <a:spcAft>
                <a:spcPts val="400"/>
              </a:spcAft>
              <a:defRPr sz="1100" b="0">
                <a:solidFill>
                  <a:srgbClr val="067854"/>
                </a:solidFill>
                <a:latin typeface="Calibri"/>
              </a:defRPr>
            </a:pPr>
            <a:r>
              <a:t>✅ NFC ! ✅ 95% du code gardé</a:t>
            </a:r>
          </a:p>
        </p:txBody>
      </p:sp>
      <p:sp>
        <p:nvSpPr>
          <p:cNvPr id="19" name="TextBox 18"/>
          <p:cNvSpPr txBox="1"/>
          <p:nvPr/>
        </p:nvSpPr>
        <p:spPr>
          <a:xfrm>
            <a:off x="4846320" y="4572000"/>
            <a:ext cx="2926080" cy="457200"/>
          </a:xfrm>
          <a:prstGeom prst="rect">
            <a:avLst/>
          </a:prstGeom>
          <a:noFill/>
        </p:spPr>
        <p:txBody>
          <a:bodyPr wrap="square">
            <a:spAutoFit/>
          </a:bodyPr>
          <a:lstStyle/>
          <a:p>
            <a:pPr algn="l">
              <a:spcAft>
                <a:spcPts val="400"/>
              </a:spcAft>
              <a:defRPr sz="1100" b="0">
                <a:solidFill>
                  <a:srgbClr val="DC2626"/>
                </a:solidFill>
                <a:latin typeface="Calibri"/>
              </a:defRPr>
            </a:pPr>
            <a:r>
              <a:t>❌ Compte Apple 99€/an</a:t>
            </a:r>
          </a:p>
        </p:txBody>
      </p:sp>
      <p:sp>
        <p:nvSpPr>
          <p:cNvPr id="20" name="Rounded Rectangle 19"/>
          <p:cNvSpPr/>
          <p:nvPr/>
        </p:nvSpPr>
        <p:spPr>
          <a:xfrm>
            <a:off x="8412480" y="1645920"/>
            <a:ext cx="3474720" cy="47548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12480" y="1645920"/>
            <a:ext cx="34747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692640" y="1920240"/>
            <a:ext cx="914400" cy="9144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0" y="1920240"/>
            <a:ext cx="914400" cy="914400"/>
          </a:xfrm>
          <a:prstGeom prst="rect">
            <a:avLst/>
          </a:prstGeom>
          <a:noFill/>
        </p:spPr>
        <p:txBody>
          <a:bodyPr wrap="square">
            <a:spAutoFit/>
          </a:bodyPr>
          <a:lstStyle/>
          <a:p>
            <a:pPr algn="ctr">
              <a:spcAft>
                <a:spcPts val="400"/>
              </a:spcAft>
              <a:defRPr sz="3200" b="1">
                <a:solidFill>
                  <a:srgbClr val="FFFFFF"/>
                </a:solidFill>
                <a:latin typeface="Calibri Light"/>
              </a:defRPr>
            </a:pPr>
            <a:r>
              <a:t>3</a:t>
            </a:r>
          </a:p>
        </p:txBody>
      </p:sp>
      <p:sp>
        <p:nvSpPr>
          <p:cNvPr id="24" name="TextBox 23"/>
          <p:cNvSpPr txBox="1"/>
          <p:nvPr/>
        </p:nvSpPr>
        <p:spPr>
          <a:xfrm>
            <a:off x="8595360" y="3017520"/>
            <a:ext cx="3108960" cy="457200"/>
          </a:xfrm>
          <a:prstGeom prst="rect">
            <a:avLst/>
          </a:prstGeom>
          <a:noFill/>
        </p:spPr>
        <p:txBody>
          <a:bodyPr wrap="square">
            <a:spAutoFit/>
          </a:bodyPr>
          <a:lstStyle/>
          <a:p>
            <a:pPr algn="ctr">
              <a:spcAft>
                <a:spcPts val="400"/>
              </a:spcAft>
              <a:defRPr sz="2000" b="1">
                <a:solidFill>
                  <a:srgbClr val="1A1A1A"/>
                </a:solidFill>
                <a:latin typeface="Calibri Light"/>
              </a:defRPr>
            </a:pPr>
            <a:r>
              <a:t>Option 3 : React Native</a:t>
            </a:r>
          </a:p>
        </p:txBody>
      </p:sp>
      <p:sp>
        <p:nvSpPr>
          <p:cNvPr id="25" name="TextBox 24"/>
          <p:cNvSpPr txBox="1"/>
          <p:nvPr/>
        </p:nvSpPr>
        <p:spPr>
          <a:xfrm>
            <a:off x="8595360" y="3474720"/>
            <a:ext cx="3108960" cy="365760"/>
          </a:xfrm>
          <a:prstGeom prst="rect">
            <a:avLst/>
          </a:prstGeom>
          <a:noFill/>
        </p:spPr>
        <p:txBody>
          <a:bodyPr wrap="square">
            <a:spAutoFit/>
          </a:bodyPr>
          <a:lstStyle/>
          <a:p>
            <a:pPr algn="ctr">
              <a:spcAft>
                <a:spcPts val="400"/>
              </a:spcAft>
              <a:defRPr sz="1300" b="1">
                <a:solidFill>
                  <a:srgbClr val="F59E0B"/>
                </a:solidFill>
                <a:latin typeface="Calibri"/>
              </a:defRPr>
            </a:pPr>
            <a:r>
              <a:t>2-4 semaines</a:t>
            </a:r>
          </a:p>
        </p:txBody>
      </p:sp>
      <p:sp>
        <p:nvSpPr>
          <p:cNvPr id="26" name="TextBox 25"/>
          <p:cNvSpPr txBox="1"/>
          <p:nvPr/>
        </p:nvSpPr>
        <p:spPr>
          <a:xfrm>
            <a:off x="8686800" y="4023360"/>
            <a:ext cx="2926080" cy="457200"/>
          </a:xfrm>
          <a:prstGeom prst="rect">
            <a:avLst/>
          </a:prstGeom>
          <a:noFill/>
        </p:spPr>
        <p:txBody>
          <a:bodyPr wrap="square">
            <a:spAutoFit/>
          </a:bodyPr>
          <a:lstStyle/>
          <a:p>
            <a:pPr algn="l">
              <a:spcAft>
                <a:spcPts val="400"/>
              </a:spcAft>
              <a:defRPr sz="1100" b="0">
                <a:solidFill>
                  <a:srgbClr val="067854"/>
                </a:solidFill>
                <a:latin typeface="Calibri"/>
              </a:defRPr>
            </a:pPr>
            <a:r>
              <a:t>✅ Tout natif, pro</a:t>
            </a:r>
          </a:p>
        </p:txBody>
      </p:sp>
      <p:sp>
        <p:nvSpPr>
          <p:cNvPr id="27" name="TextBox 26"/>
          <p:cNvSpPr txBox="1"/>
          <p:nvPr/>
        </p:nvSpPr>
        <p:spPr>
          <a:xfrm>
            <a:off x="8686800" y="4572000"/>
            <a:ext cx="2926080" cy="457200"/>
          </a:xfrm>
          <a:prstGeom prst="rect">
            <a:avLst/>
          </a:prstGeom>
          <a:noFill/>
        </p:spPr>
        <p:txBody>
          <a:bodyPr wrap="square">
            <a:spAutoFit/>
          </a:bodyPr>
          <a:lstStyle/>
          <a:p>
            <a:pPr algn="l">
              <a:spcAft>
                <a:spcPts val="400"/>
              </a:spcAft>
              <a:defRPr sz="1100" b="0">
                <a:solidFill>
                  <a:srgbClr val="DC2626"/>
                </a:solidFill>
                <a:latin typeface="Calibri"/>
              </a:defRPr>
            </a:pPr>
            <a:r>
              <a:t>❌ Cher, long, code à réécrire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BB286"/>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spcAft>
                <a:spcPts val="400"/>
              </a:spcAft>
              <a:defRPr sz="3200" b="1">
                <a:solidFill>
                  <a:srgbClr val="FFFFFF"/>
                </a:solidFill>
                <a:latin typeface="Calibri Light"/>
              </a:defRPr>
            </a:pPr>
            <a:r>
              <a:t>🌐 Option 1 : PWA (Progressive Web App)</a:t>
            </a:r>
          </a:p>
        </p:txBody>
      </p:sp>
      <p:sp>
        <p:nvSpPr>
          <p:cNvPr id="3" name="TextBox 2"/>
          <p:cNvSpPr txBox="1"/>
          <p:nvPr/>
        </p:nvSpPr>
        <p:spPr>
          <a:xfrm>
            <a:off x="731520" y="1005840"/>
            <a:ext cx="10972800" cy="731520"/>
          </a:xfrm>
          <a:prstGeom prst="rect">
            <a:avLst/>
          </a:prstGeom>
          <a:noFill/>
        </p:spPr>
        <p:txBody>
          <a:bodyPr wrap="square">
            <a:spAutoFit/>
          </a:bodyPr>
          <a:lstStyle/>
          <a:p>
            <a:pPr algn="l">
              <a:spcAft>
                <a:spcPts val="400"/>
              </a:spcAft>
              <a:defRPr sz="1600" b="1">
                <a:solidFill>
                  <a:srgbClr val="CCFAE8"/>
                </a:solidFill>
                <a:latin typeface="Calibri"/>
              </a:defRPr>
            </a:pPr>
            <a:r>
              <a:t>C'est quoi ?</a:t>
            </a:r>
          </a:p>
          <a:p>
            <a:pPr algn="l">
              <a:spcAft>
                <a:spcPts val="400"/>
              </a:spcAft>
              <a:defRPr sz="1200" b="0">
                <a:solidFill>
                  <a:srgbClr val="E0F7EE"/>
                </a:solidFill>
                <a:latin typeface="Calibri"/>
              </a:defRPr>
            </a:pPr>
            <a:r>
              <a:t>Imagine que TimeHeroes reste un site web normal, mais que le navigateur (Chrome, Safari) propose de l'"installer" sur ton téléphone.</a:t>
            </a:r>
          </a:p>
          <a:p>
            <a:pPr algn="l">
              <a:spcAft>
                <a:spcPts val="400"/>
              </a:spcAft>
              <a:defRPr sz="1200" b="0">
                <a:solidFill>
                  <a:srgbClr val="E0F7EE"/>
                </a:solidFill>
                <a:latin typeface="Calibri"/>
              </a:defRPr>
            </a:pPr>
            <a:r>
              <a:t>L'utilisateur ouvre timeheroes.fr → Chrome lui dit "Ajouter à l'écran d'accueil" → une icône apparaît → au clic, ça s'ouvre comme une vraie app (sans la barre d'adresse). Ça peut même marcher un peu hors-ligne.</a:t>
            </a:r>
          </a:p>
        </p:txBody>
      </p:sp>
      <p:sp>
        <p:nvSpPr>
          <p:cNvPr id="4" name="TextBox 3"/>
          <p:cNvSpPr txBox="1"/>
          <p:nvPr/>
        </p:nvSpPr>
        <p:spPr>
          <a:xfrm>
            <a:off x="731520" y="2926080"/>
            <a:ext cx="10972800" cy="365760"/>
          </a:xfrm>
          <a:prstGeom prst="rect">
            <a:avLst/>
          </a:prstGeom>
          <a:noFill/>
        </p:spPr>
        <p:txBody>
          <a:bodyPr wrap="square">
            <a:spAutoFit/>
          </a:bodyPr>
          <a:lstStyle/>
          <a:p>
            <a:pPr algn="l">
              <a:spcAft>
                <a:spcPts val="400"/>
              </a:spcAft>
              <a:defRPr sz="1600" b="1">
                <a:solidFill>
                  <a:srgbClr val="CCFAE8"/>
                </a:solidFill>
                <a:latin typeface="Calibri"/>
              </a:defRPr>
            </a:pPr>
            <a:r>
              <a:t>Comment ça marche techniquement ? (simplifié)</a:t>
            </a:r>
          </a:p>
        </p:txBody>
      </p:sp>
      <p:sp>
        <p:nvSpPr>
          <p:cNvPr id="5" name="Rounded Rectangle 4"/>
          <p:cNvSpPr/>
          <p:nvPr/>
        </p:nvSpPr>
        <p:spPr>
          <a:xfrm>
            <a:off x="731520" y="3474720"/>
            <a:ext cx="10515600" cy="68580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520440"/>
            <a:ext cx="10058400" cy="594360"/>
          </a:xfrm>
          <a:prstGeom prst="rect">
            <a:avLst/>
          </a:prstGeom>
          <a:noFill/>
        </p:spPr>
        <p:txBody>
          <a:bodyPr wrap="square">
            <a:spAutoFit/>
          </a:bodyPr>
          <a:lstStyle/>
          <a:p>
            <a:pPr algn="l">
              <a:spcAft>
                <a:spcPts val="400"/>
              </a:spcAft>
              <a:defRPr sz="1300" b="1">
                <a:solidFill>
                  <a:srgbClr val="FFFFFF"/>
                </a:solidFill>
                <a:latin typeface="Calibri"/>
              </a:defRPr>
            </a:pPr>
            <a:r>
              <a:t>📄 manifest.json</a:t>
            </a:r>
          </a:p>
          <a:p>
            <a:pPr algn="l">
              <a:spcAft>
                <a:spcPts val="400"/>
              </a:spcAft>
              <a:defRPr sz="1000" b="0">
                <a:solidFill>
                  <a:srgbClr val="6B6B6B"/>
                </a:solidFill>
                <a:latin typeface="Calibri"/>
              </a:defRPr>
            </a:pPr>
            <a:r>
              <a:t>Un fichier tout simple qui dit "voici le nom de l'app, son icône, sa couleur". Le navigateur lit ce fichier pour savoir comment afficher l'app installée.</a:t>
            </a:r>
          </a:p>
        </p:txBody>
      </p:sp>
      <p:sp>
        <p:nvSpPr>
          <p:cNvPr id="7" name="Rounded Rectangle 6"/>
          <p:cNvSpPr/>
          <p:nvPr/>
        </p:nvSpPr>
        <p:spPr>
          <a:xfrm>
            <a:off x="731520" y="4251960"/>
            <a:ext cx="10515600" cy="68580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297680"/>
            <a:ext cx="10058400" cy="594360"/>
          </a:xfrm>
          <a:prstGeom prst="rect">
            <a:avLst/>
          </a:prstGeom>
          <a:noFill/>
        </p:spPr>
        <p:txBody>
          <a:bodyPr wrap="square">
            <a:spAutoFit/>
          </a:bodyPr>
          <a:lstStyle/>
          <a:p>
            <a:pPr algn="l">
              <a:spcAft>
                <a:spcPts val="400"/>
              </a:spcAft>
              <a:defRPr sz="1300" b="1">
                <a:solidFill>
                  <a:srgbClr val="FFFFFF"/>
                </a:solidFill>
                <a:latin typeface="Calibri"/>
              </a:defRPr>
            </a:pPr>
            <a:r>
              <a:t>⚙️ Service Worker</a:t>
            </a:r>
          </a:p>
          <a:p>
            <a:pPr algn="l">
              <a:spcAft>
                <a:spcPts val="400"/>
              </a:spcAft>
              <a:defRPr sz="1000" b="0">
                <a:solidFill>
                  <a:srgbClr val="6B6B6B"/>
                </a:solidFill>
                <a:latin typeface="Calibri"/>
              </a:defRPr>
            </a:pPr>
            <a:r>
              <a:t>Un petit programme JavaScript qui tourne en arrière-plan (même quand la page est fermée). Il s'occupe de : 1) Cacher des pages pour le hors-ligne 2) Recevoir les notifications push</a:t>
            </a:r>
          </a:p>
        </p:txBody>
      </p:sp>
      <p:sp>
        <p:nvSpPr>
          <p:cNvPr id="9" name="Rounded Rectangle 8"/>
          <p:cNvSpPr/>
          <p:nvPr/>
        </p:nvSpPr>
        <p:spPr>
          <a:xfrm>
            <a:off x="731520" y="5029200"/>
            <a:ext cx="10515600" cy="68580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074920"/>
            <a:ext cx="10058400" cy="594360"/>
          </a:xfrm>
          <a:prstGeom prst="rect">
            <a:avLst/>
          </a:prstGeom>
          <a:noFill/>
        </p:spPr>
        <p:txBody>
          <a:bodyPr wrap="square">
            <a:spAutoFit/>
          </a:bodyPr>
          <a:lstStyle/>
          <a:p>
            <a:pPr algn="l">
              <a:spcAft>
                <a:spcPts val="400"/>
              </a:spcAft>
              <a:defRPr sz="1300" b="1">
                <a:solidFill>
                  <a:srgbClr val="FFFFFF"/>
                </a:solidFill>
                <a:latin typeface="Calibri"/>
              </a:defRPr>
            </a:pPr>
            <a:r>
              <a:t>🔔 Web Push API</a:t>
            </a:r>
          </a:p>
          <a:p>
            <a:pPr algn="l">
              <a:spcAft>
                <a:spcPts val="400"/>
              </a:spcAft>
              <a:defRPr sz="1000" b="0">
                <a:solidFill>
                  <a:srgbClr val="6B6B6B"/>
                </a:solidFill>
                <a:latin typeface="Calibri"/>
              </a:defRPr>
            </a:pPr>
            <a:r>
              <a:t>C'est le système de notifications. Le serveur envoie un message → ton téléphone affiche une notification. Pas besoin d'App Store.</a:t>
            </a:r>
          </a:p>
        </p:txBody>
      </p:sp>
      <p:sp>
        <p:nvSpPr>
          <p:cNvPr id="11" name="Rounded Rectangle 10"/>
          <p:cNvSpPr/>
          <p:nvPr/>
        </p:nvSpPr>
        <p:spPr>
          <a:xfrm>
            <a:off x="731520" y="5806440"/>
            <a:ext cx="10515600" cy="68580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52160"/>
            <a:ext cx="10058400" cy="594360"/>
          </a:xfrm>
          <a:prstGeom prst="rect">
            <a:avLst/>
          </a:prstGeom>
          <a:noFill/>
        </p:spPr>
        <p:txBody>
          <a:bodyPr wrap="square">
            <a:spAutoFit/>
          </a:bodyPr>
          <a:lstStyle/>
          <a:p>
            <a:pPr algn="l">
              <a:spcAft>
                <a:spcPts val="400"/>
              </a:spcAft>
              <a:defRPr sz="1300" b="1">
                <a:solidFill>
                  <a:srgbClr val="FFFFFF"/>
                </a:solidFill>
                <a:latin typeface="Calibri"/>
              </a:defRPr>
            </a:pPr>
            <a:r>
              <a:t>📱 Installation</a:t>
            </a:r>
          </a:p>
          <a:p>
            <a:pPr algn="l">
              <a:spcAft>
                <a:spcPts val="400"/>
              </a:spcAft>
              <a:defRPr sz="1000" b="0">
                <a:solidFill>
                  <a:srgbClr val="6B6B6B"/>
                </a:solidFill>
                <a:latin typeface="Calibri"/>
              </a:defRPr>
            </a:pPr>
            <a:r>
              <a:t>Sur Android : Chrome propose tout seul l'installation. Sur iPhone : l'utilisateur doit aller dans "Partager" → "Sur l'écran d'accueil"</a:t>
            </a:r>
          </a:p>
        </p:txBody>
      </p:sp>
      <p:sp>
        <p:nvSpPr>
          <p:cNvPr id="13" name="Rounded Rectangle 12"/>
          <p:cNvSpPr/>
          <p:nvPr/>
        </p:nvSpPr>
        <p:spPr>
          <a:xfrm>
            <a:off x="731520" y="6400800"/>
            <a:ext cx="10515600" cy="457200"/>
          </a:xfrm>
          <a:prstGeom prst="roundRect">
            <a:avLst>
              <a:gd name="adj" fmla="val 2000"/>
            </a:avLst>
          </a:prstGeom>
          <a:solidFill>
            <a:srgbClr val="ECFDF5"/>
          </a:solidFill>
          <a:ln w="12700">
            <a:solidFill>
              <a:srgbClr val="2BB2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400800"/>
            <a:ext cx="10058400" cy="457200"/>
          </a:xfrm>
          <a:prstGeom prst="rect">
            <a:avLst/>
          </a:prstGeom>
          <a:noFill/>
        </p:spPr>
        <p:txBody>
          <a:bodyPr wrap="square">
            <a:spAutoFit/>
          </a:bodyPr>
          <a:lstStyle/>
          <a:p>
            <a:pPr algn="ctr">
              <a:spcAft>
                <a:spcPts val="400"/>
              </a:spcAft>
              <a:defRPr sz="1200" b="1">
                <a:solidFill>
                  <a:srgbClr val="008F78"/>
                </a:solidFill>
                <a:latin typeface="Calibri"/>
              </a:defRPr>
            </a:pPr>
            <a:r>
              <a:t>⏱️ Estimation si Ronald fait tout : 1 journée  •  💰 Coût : 0€  •  📱 Exemples : Twitter, Pinterest, Starbucks, Uber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spcAft>
                <a:spcPts val="400"/>
              </a:spcAft>
              <a:defRPr sz="3000" b="1">
                <a:solidFill>
                  <a:srgbClr val="1A1A1A"/>
                </a:solidFill>
                <a:latin typeface="Calibri Light"/>
              </a:defRPr>
            </a:pPr>
            <a:r>
              <a:t>✅ PWA : ce qui marche et ce qui ne marche pas</a:t>
            </a:r>
          </a:p>
        </p:txBody>
      </p:sp>
      <p:sp>
        <p:nvSpPr>
          <p:cNvPr id="3" name="Rounded Rectangle 2"/>
          <p:cNvSpPr/>
          <p:nvPr/>
        </p:nvSpPr>
        <p:spPr>
          <a:xfrm>
            <a:off x="731520" y="1188720"/>
            <a:ext cx="5486400" cy="411480"/>
          </a:xfrm>
          <a:prstGeom prst="roundRect">
            <a:avLst>
              <a:gd name="adj" fmla="val 2000"/>
            </a:avLst>
          </a:prstGeom>
          <a:solidFill>
            <a:srgbClr val="ECFDF5"/>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16152"/>
            <a:ext cx="5120640" cy="347472"/>
          </a:xfrm>
          <a:prstGeom prst="rect">
            <a:avLst/>
          </a:prstGeom>
          <a:noFill/>
        </p:spPr>
        <p:txBody>
          <a:bodyPr wrap="square">
            <a:spAutoFit/>
          </a:bodyPr>
          <a:lstStyle/>
          <a:p>
            <a:pPr algn="l">
              <a:spcAft>
                <a:spcPts val="400"/>
              </a:spcAft>
              <a:defRPr sz="1000" b="0">
                <a:solidFill>
                  <a:srgbClr val="008F78"/>
                </a:solidFill>
                <a:latin typeface="Calibri"/>
              </a:defRPr>
            </a:pPr>
            <a:r>
              <a:t>✅ Icône sur l'écran d'accueil — Oui, comme une vraie app</a:t>
            </a:r>
          </a:p>
        </p:txBody>
      </p:sp>
      <p:sp>
        <p:nvSpPr>
          <p:cNvPr id="5" name="Rounded Rectangle 4"/>
          <p:cNvSpPr/>
          <p:nvPr/>
        </p:nvSpPr>
        <p:spPr>
          <a:xfrm>
            <a:off x="731520" y="1691640"/>
            <a:ext cx="5486400" cy="411480"/>
          </a:xfrm>
          <a:prstGeom prst="roundRect">
            <a:avLst>
              <a:gd name="adj" fmla="val 2000"/>
            </a:avLst>
          </a:prstGeom>
          <a:solidFill>
            <a:srgbClr val="ECFDF5"/>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19072"/>
            <a:ext cx="5120640" cy="347472"/>
          </a:xfrm>
          <a:prstGeom prst="rect">
            <a:avLst/>
          </a:prstGeom>
          <a:noFill/>
        </p:spPr>
        <p:txBody>
          <a:bodyPr wrap="square">
            <a:spAutoFit/>
          </a:bodyPr>
          <a:lstStyle/>
          <a:p>
            <a:pPr algn="l">
              <a:spcAft>
                <a:spcPts val="400"/>
              </a:spcAft>
              <a:defRPr sz="1000" b="0">
                <a:solidFill>
                  <a:srgbClr val="008F78"/>
                </a:solidFill>
                <a:latin typeface="Calibri"/>
              </a:defRPr>
            </a:pPr>
            <a:r>
              <a:t>✅ Marche sans barre de navigateur — Oui, plein écran</a:t>
            </a:r>
          </a:p>
        </p:txBody>
      </p:sp>
      <p:sp>
        <p:nvSpPr>
          <p:cNvPr id="7" name="Rounded Rectangle 6"/>
          <p:cNvSpPr/>
          <p:nvPr/>
        </p:nvSpPr>
        <p:spPr>
          <a:xfrm>
            <a:off x="731520" y="2194560"/>
            <a:ext cx="5486400" cy="411480"/>
          </a:xfrm>
          <a:prstGeom prst="roundRect">
            <a:avLst>
              <a:gd name="adj" fmla="val 2000"/>
            </a:avLst>
          </a:prstGeom>
          <a:solidFill>
            <a:srgbClr val="ECFDF5"/>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21992"/>
            <a:ext cx="5120640" cy="347472"/>
          </a:xfrm>
          <a:prstGeom prst="rect">
            <a:avLst/>
          </a:prstGeom>
          <a:noFill/>
        </p:spPr>
        <p:txBody>
          <a:bodyPr wrap="square">
            <a:spAutoFit/>
          </a:bodyPr>
          <a:lstStyle/>
          <a:p>
            <a:pPr algn="l">
              <a:spcAft>
                <a:spcPts val="400"/>
              </a:spcAft>
              <a:defRPr sz="1000" b="0">
                <a:solidFill>
                  <a:srgbClr val="008F78"/>
                </a:solidFill>
                <a:latin typeface="Calibri"/>
              </a:defRPr>
            </a:pPr>
            <a:r>
              <a:t>✅ Fonctionne hors-ligne (pages en cache) — Oui, les pages déjà visitées restent accessibles</a:t>
            </a:r>
          </a:p>
        </p:txBody>
      </p:sp>
      <p:sp>
        <p:nvSpPr>
          <p:cNvPr id="9" name="Rounded Rectangle 8"/>
          <p:cNvSpPr/>
          <p:nvPr/>
        </p:nvSpPr>
        <p:spPr>
          <a:xfrm>
            <a:off x="731520" y="2697480"/>
            <a:ext cx="5486400" cy="411480"/>
          </a:xfrm>
          <a:prstGeom prst="roundRect">
            <a:avLst>
              <a:gd name="adj" fmla="val 2000"/>
            </a:avLst>
          </a:prstGeom>
          <a:solidFill>
            <a:srgbClr val="ECFDF5"/>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24912"/>
            <a:ext cx="5120640" cy="347472"/>
          </a:xfrm>
          <a:prstGeom prst="rect">
            <a:avLst/>
          </a:prstGeom>
          <a:noFill/>
        </p:spPr>
        <p:txBody>
          <a:bodyPr wrap="square">
            <a:spAutoFit/>
          </a:bodyPr>
          <a:lstStyle/>
          <a:p>
            <a:pPr algn="l">
              <a:spcAft>
                <a:spcPts val="400"/>
              </a:spcAft>
              <a:defRPr sz="1000" b="0">
                <a:solidFill>
                  <a:srgbClr val="008F78"/>
                </a:solidFill>
                <a:latin typeface="Calibri"/>
              </a:defRPr>
            </a:pPr>
            <a:r>
              <a:t>✅ Notifications push — Oui, même si l'app est fermée</a:t>
            </a:r>
          </a:p>
        </p:txBody>
      </p:sp>
      <p:sp>
        <p:nvSpPr>
          <p:cNvPr id="11" name="Rounded Rectangle 10"/>
          <p:cNvSpPr/>
          <p:nvPr/>
        </p:nvSpPr>
        <p:spPr>
          <a:xfrm>
            <a:off x="731520" y="3200400"/>
            <a:ext cx="5486400" cy="411480"/>
          </a:xfrm>
          <a:prstGeom prst="roundRect">
            <a:avLst>
              <a:gd name="adj" fmla="val 2000"/>
            </a:avLst>
          </a:prstGeom>
          <a:solidFill>
            <a:srgbClr val="ECFDF5"/>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227832"/>
            <a:ext cx="5120640" cy="347472"/>
          </a:xfrm>
          <a:prstGeom prst="rect">
            <a:avLst/>
          </a:prstGeom>
          <a:noFill/>
        </p:spPr>
        <p:txBody>
          <a:bodyPr wrap="square">
            <a:spAutoFit/>
          </a:bodyPr>
          <a:lstStyle/>
          <a:p>
            <a:pPr algn="l">
              <a:spcAft>
                <a:spcPts val="400"/>
              </a:spcAft>
              <a:defRPr sz="1000" b="0">
                <a:solidFill>
                  <a:srgbClr val="008F78"/>
                </a:solidFill>
                <a:latin typeface="Calibri"/>
              </a:defRPr>
            </a:pPr>
            <a:r>
              <a:t>✅ Partage (Web Share API) — Oui, peut partager du contenu via WhatsApp etc.</a:t>
            </a:r>
          </a:p>
        </p:txBody>
      </p:sp>
      <p:sp>
        <p:nvSpPr>
          <p:cNvPr id="13" name="Rounded Rectangle 12"/>
          <p:cNvSpPr/>
          <p:nvPr/>
        </p:nvSpPr>
        <p:spPr>
          <a:xfrm>
            <a:off x="731520" y="3703320"/>
            <a:ext cx="5486400" cy="411480"/>
          </a:xfrm>
          <a:prstGeom prst="roundRect">
            <a:avLst>
              <a:gd name="adj" fmla="val 2000"/>
            </a:avLst>
          </a:prstGeom>
          <a:solidFill>
            <a:srgbClr val="ECFDF5"/>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730752"/>
            <a:ext cx="5120640" cy="347472"/>
          </a:xfrm>
          <a:prstGeom prst="rect">
            <a:avLst/>
          </a:prstGeom>
          <a:noFill/>
        </p:spPr>
        <p:txBody>
          <a:bodyPr wrap="square">
            <a:spAutoFit/>
          </a:bodyPr>
          <a:lstStyle/>
          <a:p>
            <a:pPr algn="l">
              <a:spcAft>
                <a:spcPts val="400"/>
              </a:spcAft>
              <a:defRPr sz="1000" b="0">
                <a:solidFill>
                  <a:srgbClr val="008F78"/>
                </a:solidFill>
                <a:latin typeface="Calibri"/>
              </a:defRPr>
            </a:pPr>
            <a:r>
              <a:t>⚠️ QR Code via la caméra — Possible, mais moins fluide que du natif</a:t>
            </a:r>
          </a:p>
        </p:txBody>
      </p:sp>
      <p:sp>
        <p:nvSpPr>
          <p:cNvPr id="15" name="Rounded Rectangle 14"/>
          <p:cNvSpPr/>
          <p:nvPr/>
        </p:nvSpPr>
        <p:spPr>
          <a:xfrm>
            <a:off x="6583680" y="1188720"/>
            <a:ext cx="5029200" cy="731520"/>
          </a:xfrm>
          <a:prstGeom prst="roundRect">
            <a:avLst>
              <a:gd name="adj" fmla="val 2000"/>
            </a:avLst>
          </a:prstGeom>
          <a:solidFill>
            <a:srgbClr val="FEF0F0"/>
          </a:solidFill>
          <a:ln w="12700">
            <a:solidFill>
              <a:srgbClr val="FECB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1234440"/>
            <a:ext cx="4663440" cy="640080"/>
          </a:xfrm>
          <a:prstGeom prst="rect">
            <a:avLst/>
          </a:prstGeom>
          <a:noFill/>
        </p:spPr>
        <p:txBody>
          <a:bodyPr wrap="square">
            <a:spAutoFit/>
          </a:bodyPr>
          <a:lstStyle/>
          <a:p>
            <a:pPr algn="l">
              <a:spcAft>
                <a:spcPts val="400"/>
              </a:spcAft>
              <a:defRPr sz="1000" b="1">
                <a:solidFill>
                  <a:srgbClr val="B91C1C"/>
                </a:solidFill>
                <a:latin typeface="Calibri"/>
              </a:defRPr>
            </a:pPr>
            <a:r>
              <a:t>❌ NFC (sans contact)</a:t>
            </a:r>
          </a:p>
          <a:p>
            <a:pPr algn="l">
              <a:spcAft>
                <a:spcPts val="400"/>
              </a:spcAft>
              <a:defRPr sz="900" b="0">
                <a:solidFill>
                  <a:srgbClr val="8B1C1C"/>
                </a:solidFill>
                <a:latin typeface="Calibri"/>
              </a:defRPr>
            </a:pPr>
            <a:r>
              <a:t>IMPOSSIBLE. Le NFC est un composant physique du téléphone, le site web n'y a pas accès. C'est le point bloquant pour TimeHeroes.</a:t>
            </a:r>
          </a:p>
        </p:txBody>
      </p:sp>
      <p:sp>
        <p:nvSpPr>
          <p:cNvPr id="17" name="Rounded Rectangle 16"/>
          <p:cNvSpPr/>
          <p:nvPr/>
        </p:nvSpPr>
        <p:spPr>
          <a:xfrm>
            <a:off x="6583680" y="2011680"/>
            <a:ext cx="5029200" cy="731520"/>
          </a:xfrm>
          <a:prstGeom prst="roundRect">
            <a:avLst>
              <a:gd name="adj" fmla="val 2000"/>
            </a:avLst>
          </a:prstGeom>
          <a:solidFill>
            <a:srgbClr val="FEF0F0"/>
          </a:solidFill>
          <a:ln w="12700">
            <a:solidFill>
              <a:srgbClr val="FECB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2057400"/>
            <a:ext cx="4663440" cy="640080"/>
          </a:xfrm>
          <a:prstGeom prst="rect">
            <a:avLst/>
          </a:prstGeom>
          <a:noFill/>
        </p:spPr>
        <p:txBody>
          <a:bodyPr wrap="square">
            <a:spAutoFit/>
          </a:bodyPr>
          <a:lstStyle/>
          <a:p>
            <a:pPr algn="l">
              <a:spcAft>
                <a:spcPts val="400"/>
              </a:spcAft>
              <a:defRPr sz="1000" b="1">
                <a:solidFill>
                  <a:srgbClr val="B91C1C"/>
                </a:solidFill>
                <a:latin typeface="Calibri"/>
              </a:defRPr>
            </a:pPr>
            <a:r>
              <a:t>❌ Bluetooth avancé</a:t>
            </a:r>
          </a:p>
          <a:p>
            <a:pPr algn="l">
              <a:spcAft>
                <a:spcPts val="400"/>
              </a:spcAft>
              <a:defRPr sz="900" b="0">
                <a:solidFill>
                  <a:srgbClr val="8B1C1C"/>
                </a:solidFill>
                <a:latin typeface="Calibri"/>
              </a:defRPr>
            </a:pPr>
            <a:r>
              <a:t>Pas possible non plus</a:t>
            </a:r>
          </a:p>
        </p:txBody>
      </p:sp>
      <p:sp>
        <p:nvSpPr>
          <p:cNvPr id="19" name="Rounded Rectangle 18"/>
          <p:cNvSpPr/>
          <p:nvPr/>
        </p:nvSpPr>
        <p:spPr>
          <a:xfrm>
            <a:off x="6583680" y="2834640"/>
            <a:ext cx="5029200" cy="731520"/>
          </a:xfrm>
          <a:prstGeom prst="roundRect">
            <a:avLst>
              <a:gd name="adj" fmla="val 2000"/>
            </a:avLst>
          </a:prstGeom>
          <a:solidFill>
            <a:srgbClr val="FEF0F0"/>
          </a:solidFill>
          <a:ln w="12700">
            <a:solidFill>
              <a:srgbClr val="FECB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2880360"/>
            <a:ext cx="4663440" cy="640080"/>
          </a:xfrm>
          <a:prstGeom prst="rect">
            <a:avLst/>
          </a:prstGeom>
          <a:noFill/>
        </p:spPr>
        <p:txBody>
          <a:bodyPr wrap="square">
            <a:spAutoFit/>
          </a:bodyPr>
          <a:lstStyle/>
          <a:p>
            <a:pPr algn="l">
              <a:spcAft>
                <a:spcPts val="400"/>
              </a:spcAft>
              <a:defRPr sz="1000" b="1">
                <a:solidFill>
                  <a:srgbClr val="B91C1C"/>
                </a:solidFill>
                <a:latin typeface="Calibri"/>
              </a:defRPr>
            </a:pPr>
            <a:r>
              <a:t>❌ Stockage limité</a:t>
            </a:r>
          </a:p>
          <a:p>
            <a:pPr algn="l">
              <a:spcAft>
                <a:spcPts val="400"/>
              </a:spcAft>
              <a:defRPr sz="900" b="0">
                <a:solidFill>
                  <a:srgbClr val="8B1C1C"/>
                </a:solidFill>
                <a:latin typeface="Calibri"/>
              </a:defRPr>
            </a:pPr>
            <a:r>
              <a:t>iPhone limite le cache à ~50 MB</a:t>
            </a:r>
          </a:p>
        </p:txBody>
      </p:sp>
      <p:sp>
        <p:nvSpPr>
          <p:cNvPr id="21" name="Rounded Rectangle 20"/>
          <p:cNvSpPr/>
          <p:nvPr/>
        </p:nvSpPr>
        <p:spPr>
          <a:xfrm>
            <a:off x="6583680" y="3657600"/>
            <a:ext cx="5029200" cy="731520"/>
          </a:xfrm>
          <a:prstGeom prst="roundRect">
            <a:avLst>
              <a:gd name="adj" fmla="val 2000"/>
            </a:avLst>
          </a:prstGeom>
          <a:solidFill>
            <a:srgbClr val="FEF0F0"/>
          </a:solidFill>
          <a:ln w="12700">
            <a:solidFill>
              <a:srgbClr val="FECB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3703320"/>
            <a:ext cx="4663440" cy="640080"/>
          </a:xfrm>
          <a:prstGeom prst="rect">
            <a:avLst/>
          </a:prstGeom>
          <a:noFill/>
        </p:spPr>
        <p:txBody>
          <a:bodyPr wrap="square">
            <a:spAutoFit/>
          </a:bodyPr>
          <a:lstStyle/>
          <a:p>
            <a:pPr algn="l">
              <a:spcAft>
                <a:spcPts val="400"/>
              </a:spcAft>
              <a:defRPr sz="1000" b="1">
                <a:solidFill>
                  <a:srgbClr val="B91C1C"/>
                </a:solidFill>
                <a:latin typeface="Calibri"/>
              </a:defRPr>
            </a:pPr>
            <a:r>
              <a:t>❌ Installation sur iPhone</a:t>
            </a:r>
          </a:p>
          <a:p>
            <a:pPr algn="l">
              <a:spcAft>
                <a:spcPts val="400"/>
              </a:spcAft>
              <a:defRPr sz="900" b="0">
                <a:solidFill>
                  <a:srgbClr val="8B1C1C"/>
                </a:solidFill>
                <a:latin typeface="Calibri"/>
              </a:defRPr>
            </a:pPr>
            <a:r>
              <a:t>Pas automatique : l'utilisateur doit savoir le faire</a:t>
            </a:r>
          </a:p>
        </p:txBody>
      </p:sp>
      <p:sp>
        <p:nvSpPr>
          <p:cNvPr id="23" name="Rounded Rectangle 22"/>
          <p:cNvSpPr/>
          <p:nvPr/>
        </p:nvSpPr>
        <p:spPr>
          <a:xfrm>
            <a:off x="6583680" y="4480560"/>
            <a:ext cx="5029200" cy="731520"/>
          </a:xfrm>
          <a:prstGeom prst="roundRect">
            <a:avLst>
              <a:gd name="adj" fmla="val 2000"/>
            </a:avLst>
          </a:prstGeom>
          <a:solidFill>
            <a:srgbClr val="FEF0F0"/>
          </a:solidFill>
          <a:ln w="12700">
            <a:solidFill>
              <a:srgbClr val="FECB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4526280"/>
            <a:ext cx="4663440" cy="640080"/>
          </a:xfrm>
          <a:prstGeom prst="rect">
            <a:avLst/>
          </a:prstGeom>
          <a:noFill/>
        </p:spPr>
        <p:txBody>
          <a:bodyPr wrap="square">
            <a:spAutoFit/>
          </a:bodyPr>
          <a:lstStyle/>
          <a:p>
            <a:pPr algn="l">
              <a:spcAft>
                <a:spcPts val="400"/>
              </a:spcAft>
              <a:defRPr sz="1000" b="1">
                <a:solidFill>
                  <a:srgbClr val="B91C1C"/>
                </a:solidFill>
                <a:latin typeface="Calibri"/>
              </a:defRPr>
            </a:pPr>
            <a:r>
              <a:t>❌ Pas dans l'App Store</a:t>
            </a:r>
          </a:p>
          <a:p>
            <a:pPr algn="l">
              <a:spcAft>
                <a:spcPts val="400"/>
              </a:spcAft>
              <a:defRPr sz="900" b="0">
                <a:solidFill>
                  <a:srgbClr val="8B1C1C"/>
                </a:solidFill>
                <a:latin typeface="Calibri"/>
              </a:defRPr>
            </a:pPr>
            <a:r>
              <a:t>Moins crédible pour une fondation / un partenaire</a:t>
            </a:r>
          </a:p>
        </p:txBody>
      </p:sp>
      <p:sp>
        <p:nvSpPr>
          <p:cNvPr id="25" name="Rounded Rectangle 24"/>
          <p:cNvSpPr/>
          <p:nvPr/>
        </p:nvSpPr>
        <p:spPr>
          <a:xfrm>
            <a:off x="731520" y="5943600"/>
            <a:ext cx="10698480" cy="731520"/>
          </a:xfrm>
          <a:prstGeom prst="roundRect">
            <a:avLst>
              <a:gd name="adj" fmla="val 2000"/>
            </a:avLst>
          </a:prstGeom>
          <a:solidFill>
            <a:srgbClr val="FFF3CD"/>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989320"/>
            <a:ext cx="10241280" cy="640080"/>
          </a:xfrm>
          <a:prstGeom prst="rect">
            <a:avLst/>
          </a:prstGeom>
          <a:noFill/>
        </p:spPr>
        <p:txBody>
          <a:bodyPr wrap="square">
            <a:spAutoFit/>
          </a:bodyPr>
          <a:lstStyle/>
          <a:p>
            <a:pPr algn="l">
              <a:spcAft>
                <a:spcPts val="400"/>
              </a:spcAft>
              <a:defRPr sz="1100" b="1">
                <a:solidFill>
                  <a:srgbClr val="856404"/>
                </a:solidFill>
                <a:latin typeface="Calibri"/>
              </a:defRPr>
            </a:pPr>
            <a:r>
              <a:t>⚠️ Pour TimeHeroes : la PWA est un bon début (démo, 1 jour de travail), mais si tu veux le NFC pour valider les missions, il faut passer à l'Option 2 (Capacitor).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7C3AED"/>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spcAft>
                <a:spcPts val="400"/>
              </a:spcAft>
              <a:defRPr sz="3200" b="1">
                <a:solidFill>
                  <a:srgbClr val="FFFFFF"/>
                </a:solidFill>
                <a:latin typeface="Calibri Light"/>
              </a:defRPr>
            </a:pPr>
            <a:r>
              <a:t>🔌 Option 2 : Capacitor</a:t>
            </a:r>
          </a:p>
        </p:txBody>
      </p:sp>
      <p:sp>
        <p:nvSpPr>
          <p:cNvPr id="3" name="TextBox 2"/>
          <p:cNvSpPr txBox="1"/>
          <p:nvPr/>
        </p:nvSpPr>
        <p:spPr>
          <a:xfrm>
            <a:off x="731520" y="1005840"/>
            <a:ext cx="10972800" cy="914400"/>
          </a:xfrm>
          <a:prstGeom prst="rect">
            <a:avLst/>
          </a:prstGeom>
          <a:noFill/>
        </p:spPr>
        <p:txBody>
          <a:bodyPr wrap="square">
            <a:spAutoFit/>
          </a:bodyPr>
          <a:lstStyle/>
          <a:p>
            <a:pPr algn="l">
              <a:spcAft>
                <a:spcPts val="400"/>
              </a:spcAft>
              <a:defRPr sz="1600" b="1">
                <a:solidFill>
                  <a:srgbClr val="DDD6FC"/>
                </a:solidFill>
                <a:latin typeface="Calibri"/>
              </a:defRPr>
            </a:pPr>
            <a:r>
              <a:t>C'est quoi ?</a:t>
            </a:r>
          </a:p>
          <a:p>
            <a:pPr algn="l">
              <a:spcAft>
                <a:spcPts val="400"/>
              </a:spcAft>
              <a:defRPr sz="1200" b="0">
                <a:solidFill>
                  <a:srgbClr val="E8E0FC"/>
                </a:solidFill>
                <a:latin typeface="Calibri"/>
              </a:defRPr>
            </a:pPr>
            <a:r>
              <a:t>Capacitor, c'est une "coquille" d'app native qui contient ton site web à l'intérieur.</a:t>
            </a:r>
          </a:p>
          <a:p>
            <a:pPr algn="l">
              <a:spcAft>
                <a:spcPts val="400"/>
              </a:spcAft>
              <a:defRPr sz="1200" b="0">
                <a:solidFill>
                  <a:srgbClr val="E8E0FC"/>
                </a:solidFill>
                <a:latin typeface="Calibri"/>
              </a:defRPr>
            </a:pPr>
            <a:r>
              <a:t>Concrètement : tu prends TimeHeroes (Next.js) tel quel, tu l'emballes dans Capacitor, et tu obtiens une vraie app iPhone/Android. La différence avec la PWA : cette coquille peut communiquer avec les composants physiques du téléphone (NFC, caméra, Bluetooth, notifications push natives).</a:t>
            </a:r>
          </a:p>
        </p:txBody>
      </p:sp>
      <p:sp>
        <p:nvSpPr>
          <p:cNvPr id="4" name="TextBox 3"/>
          <p:cNvSpPr txBox="1"/>
          <p:nvPr/>
        </p:nvSpPr>
        <p:spPr>
          <a:xfrm>
            <a:off x="731520" y="2926080"/>
            <a:ext cx="3657600" cy="365760"/>
          </a:xfrm>
          <a:prstGeom prst="rect">
            <a:avLst/>
          </a:prstGeom>
          <a:noFill/>
        </p:spPr>
        <p:txBody>
          <a:bodyPr wrap="square">
            <a:spAutoFit/>
          </a:bodyPr>
          <a:lstStyle/>
          <a:p>
            <a:pPr algn="l">
              <a:spcAft>
                <a:spcPts val="400"/>
              </a:spcAft>
              <a:defRPr sz="1600" b="1">
                <a:solidFill>
                  <a:srgbClr val="DDD6FC"/>
                </a:solidFill>
                <a:latin typeface="Calibri"/>
              </a:defRPr>
            </a:pPr>
            <a:r>
              <a:t>Comment ça marche ? (visuellement)</a:t>
            </a:r>
          </a:p>
        </p:txBody>
      </p:sp>
      <p:sp>
        <p:nvSpPr>
          <p:cNvPr id="5" name="Rounded Rectangle 4"/>
          <p:cNvSpPr/>
          <p:nvPr/>
        </p:nvSpPr>
        <p:spPr>
          <a:xfrm>
            <a:off x="731520" y="3474720"/>
            <a:ext cx="10515600" cy="2286000"/>
          </a:xfrm>
          <a:prstGeom prst="roundRect">
            <a:avLst>
              <a:gd name="adj" fmla="val 2000"/>
            </a:avLst>
          </a:prstGeom>
          <a:solidFill>
            <a:srgbClr val="E8E0FC"/>
          </a:solidFill>
          <a:ln w="12700">
            <a:solidFill>
              <a:srgbClr val="BBA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3566160"/>
            <a:ext cx="9784080" cy="640080"/>
          </a:xfrm>
          <a:prstGeom prst="rect">
            <a:avLst/>
          </a:prstGeom>
          <a:solidFill>
            <a:srgbClr val="E0D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611880"/>
            <a:ext cx="9144000" cy="548640"/>
          </a:xfrm>
          <a:prstGeom prst="rect">
            <a:avLst/>
          </a:prstGeom>
          <a:noFill/>
        </p:spPr>
        <p:txBody>
          <a:bodyPr wrap="square">
            <a:spAutoFit/>
          </a:bodyPr>
          <a:lstStyle/>
          <a:p>
            <a:pPr algn="l">
              <a:spcAft>
                <a:spcPts val="400"/>
              </a:spcAft>
              <a:defRPr sz="1200" b="1">
                <a:solidFill>
                  <a:srgbClr val="FFFFFF"/>
                </a:solidFill>
                <a:latin typeface="Calibri"/>
              </a:defRPr>
            </a:pPr>
            <a:r>
              <a:t>🌐 COUCHE WEB (Next.js inchangé) — timeheroes.fr/dashboard, /services, /bookings…</a:t>
            </a:r>
          </a:p>
          <a:p>
            <a:pPr algn="l">
              <a:spcAft>
                <a:spcPts val="400"/>
              </a:spcAft>
              <a:defRPr sz="1000" b="0">
                <a:solidFill>
                  <a:srgbClr val="CCC0F5"/>
                </a:solidFill>
                <a:latin typeface="Calibri"/>
              </a:defRPr>
            </a:pPr>
            <a:r>
              <a:t>Ton code actuel ne change PAS. Tout ce que tu as déjà construit reste identique.</a:t>
            </a:r>
          </a:p>
        </p:txBody>
      </p:sp>
      <p:sp>
        <p:nvSpPr>
          <p:cNvPr id="8" name="Rectangle 7"/>
          <p:cNvSpPr/>
          <p:nvPr/>
        </p:nvSpPr>
        <p:spPr>
          <a:xfrm>
            <a:off x="1097280" y="4297680"/>
            <a:ext cx="9784080" cy="640080"/>
          </a:xfrm>
          <a:prstGeom prst="rect">
            <a:avLst/>
          </a:prstGeom>
          <a:solidFill>
            <a:srgbClr val="D8D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4343400"/>
            <a:ext cx="9144000" cy="548640"/>
          </a:xfrm>
          <a:prstGeom prst="rect">
            <a:avLst/>
          </a:prstGeom>
          <a:noFill/>
        </p:spPr>
        <p:txBody>
          <a:bodyPr wrap="square">
            <a:spAutoFit/>
          </a:bodyPr>
          <a:lstStyle/>
          <a:p>
            <a:pPr algn="l">
              <a:spcAft>
                <a:spcPts val="400"/>
              </a:spcAft>
              <a:defRPr sz="1200" b="1">
                <a:solidFill>
                  <a:srgbClr val="DDD6FC"/>
                </a:solidFill>
                <a:latin typeface="Calibri"/>
              </a:defRPr>
            </a:pPr>
            <a:r>
              <a:t>🔌 PONT CAPACITOR — fait le lien entre le site web et le téléphone</a:t>
            </a:r>
          </a:p>
          <a:p>
            <a:pPr algn="l">
              <a:spcAft>
                <a:spcPts val="400"/>
              </a:spcAft>
              <a:defRPr sz="1000" b="0">
                <a:solidFill>
                  <a:srgbClr val="CCC0F5"/>
                </a:solidFill>
                <a:latin typeface="Calibri"/>
              </a:defRPr>
            </a:pPr>
            <a:r>
              <a:t>Quand tu veux utiliser le NFC : ton site appelle un "plugin" Capacitor → Capacitor parle au chip NFC du téléphone.</a:t>
            </a:r>
          </a:p>
        </p:txBody>
      </p:sp>
      <p:sp>
        <p:nvSpPr>
          <p:cNvPr id="10" name="Rectangle 9"/>
          <p:cNvSpPr/>
          <p:nvPr/>
        </p:nvSpPr>
        <p:spPr>
          <a:xfrm>
            <a:off x="1097280" y="5029200"/>
            <a:ext cx="9784080" cy="548640"/>
          </a:xfrm>
          <a:prstGeom prst="rect">
            <a:avLst/>
          </a:prstGeom>
          <a:solidFill>
            <a:srgbClr val="D0C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5074920"/>
            <a:ext cx="9144000" cy="457200"/>
          </a:xfrm>
          <a:prstGeom prst="rect">
            <a:avLst/>
          </a:prstGeom>
          <a:noFill/>
        </p:spPr>
        <p:txBody>
          <a:bodyPr wrap="square">
            <a:spAutoFit/>
          </a:bodyPr>
          <a:lstStyle/>
          <a:p>
            <a:pPr algn="l">
              <a:spcAft>
                <a:spcPts val="400"/>
              </a:spcAft>
              <a:defRPr sz="1200" b="1">
                <a:solidFill>
                  <a:srgbClr val="FFFFFF"/>
                </a:solidFill>
                <a:latin typeface="Calibri"/>
              </a:defRPr>
            </a:pPr>
            <a:r>
              <a:t>📱 COUCHE NATIVE — ton app publiée sur l'App Store et Google Play</a:t>
            </a:r>
          </a:p>
          <a:p>
            <a:pPr algn="l">
              <a:spcAft>
                <a:spcPts val="400"/>
              </a:spcAft>
              <a:defRPr sz="1000" b="0">
                <a:solidFill>
                  <a:srgbClr val="CCC0F5"/>
                </a:solidFill>
                <a:latin typeface="Calibri"/>
              </a:defRPr>
            </a:pPr>
            <a:r>
              <a:t>Les utilisateurs la téléchargent comme Instagram ou WhatsApp.</a:t>
            </a:r>
          </a:p>
        </p:txBody>
      </p:sp>
      <p:sp>
        <p:nvSpPr>
          <p:cNvPr id="12" name="Rounded Rectangle 11"/>
          <p:cNvSpPr/>
          <p:nvPr/>
        </p:nvSpPr>
        <p:spPr>
          <a:xfrm>
            <a:off x="731520" y="6126480"/>
            <a:ext cx="10515600" cy="548640"/>
          </a:xfrm>
          <a:prstGeom prst="roundRect">
            <a:avLst>
              <a:gd name="adj" fmla="val 2000"/>
            </a:avLst>
          </a:prstGeom>
          <a:solidFill>
            <a:srgbClr val="ECFDF5"/>
          </a:solidFill>
          <a:ln w="12700">
            <a:solidFill>
              <a:srgbClr val="2BB2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6126480"/>
            <a:ext cx="10058400" cy="548640"/>
          </a:xfrm>
          <a:prstGeom prst="rect">
            <a:avLst/>
          </a:prstGeom>
          <a:noFill/>
        </p:spPr>
        <p:txBody>
          <a:bodyPr wrap="square">
            <a:spAutoFit/>
          </a:bodyPr>
          <a:lstStyle/>
          <a:p>
            <a:pPr algn="ctr">
              <a:spcAft>
                <a:spcPts val="400"/>
              </a:spcAft>
              <a:defRPr sz="1200" b="1">
                <a:solidFill>
                  <a:srgbClr val="7C3AED"/>
                </a:solidFill>
                <a:latin typeface="Calibri"/>
              </a:defRPr>
            </a:pPr>
            <a:r>
              <a:t>⏱️ Estimation si Ronald fait tout : 3-4 jours  •  💰 Coûts : 99€ compte Apple (une fois) + 0,30€/tag NFC  •  📱 NFC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spcAft>
                <a:spcPts val="400"/>
              </a:spcAft>
              <a:defRPr sz="3000" b="1">
                <a:solidFill>
                  <a:srgbClr val="1A1A1A"/>
                </a:solidFill>
                <a:latin typeface="Calibri Light"/>
              </a:defRPr>
            </a:pPr>
            <a:r>
              <a:t>🔧 Option 2 (suite) : Les étapes concrètes</a:t>
            </a:r>
          </a:p>
        </p:txBody>
      </p:sp>
      <p:sp>
        <p:nvSpPr>
          <p:cNvPr id="3" name="TextBox 2"/>
          <p:cNvSpPr txBox="1"/>
          <p:nvPr/>
        </p:nvSpPr>
        <p:spPr>
          <a:xfrm>
            <a:off x="731520" y="1005840"/>
            <a:ext cx="9144000" cy="365760"/>
          </a:xfrm>
          <a:prstGeom prst="rect">
            <a:avLst/>
          </a:prstGeom>
          <a:noFill/>
        </p:spPr>
        <p:txBody>
          <a:bodyPr wrap="square">
            <a:spAutoFit/>
          </a:bodyPr>
          <a:lstStyle/>
          <a:p>
            <a:pPr algn="l">
              <a:spcAft>
                <a:spcPts val="400"/>
              </a:spcAft>
              <a:defRPr sz="1400" b="0">
                <a:solidFill>
                  <a:srgbClr val="6B6B6B"/>
                </a:solidFill>
                <a:latin typeface="Calibri"/>
              </a:defRPr>
            </a:pPr>
            <a:r>
              <a:t>Ce que Ronald doit faire, étape par étape</a:t>
            </a:r>
          </a:p>
        </p:txBody>
      </p:sp>
      <p:sp>
        <p:nvSpPr>
          <p:cNvPr id="4" name="Rounded Rectangle 3"/>
          <p:cNvSpPr/>
          <p:nvPr/>
        </p:nvSpPr>
        <p:spPr>
          <a:xfrm>
            <a:off x="731520" y="1554480"/>
            <a:ext cx="5303520" cy="10972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303520" cy="36576"/>
          </a:xfrm>
          <a:prstGeom prst="rect">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657600" cy="274320"/>
          </a:xfrm>
          <a:prstGeom prst="rect">
            <a:avLst/>
          </a:prstGeom>
          <a:noFill/>
        </p:spPr>
        <p:txBody>
          <a:bodyPr wrap="square">
            <a:spAutoFit/>
          </a:bodyPr>
          <a:lstStyle/>
          <a:p>
            <a:pPr algn="l">
              <a:spcAft>
                <a:spcPts val="400"/>
              </a:spcAft>
              <a:defRPr sz="1300" b="1">
                <a:solidFill>
                  <a:srgbClr val="1A1A1A"/>
                </a:solidFill>
                <a:latin typeface="Calibri"/>
              </a:defRPr>
            </a:pPr>
            <a:r>
              <a:t>1️⃣ Installer Capacitor</a:t>
            </a:r>
          </a:p>
        </p:txBody>
      </p:sp>
      <p:sp>
        <p:nvSpPr>
          <p:cNvPr id="7" name="TextBox 6"/>
          <p:cNvSpPr txBox="1"/>
          <p:nvPr/>
        </p:nvSpPr>
        <p:spPr>
          <a:xfrm>
            <a:off x="4572000" y="1645920"/>
            <a:ext cx="1280160" cy="274320"/>
          </a:xfrm>
          <a:prstGeom prst="rect">
            <a:avLst/>
          </a:prstGeom>
          <a:noFill/>
        </p:spPr>
        <p:txBody>
          <a:bodyPr wrap="square">
            <a:spAutoFit/>
          </a:bodyPr>
          <a:lstStyle/>
          <a:p>
            <a:pPr algn="r">
              <a:spcAft>
                <a:spcPts val="400"/>
              </a:spcAft>
              <a:defRPr sz="1000" b="1">
                <a:solidFill>
                  <a:srgbClr val="2BB286"/>
                </a:solidFill>
                <a:latin typeface="Calibri"/>
              </a:defRPr>
            </a:pPr>
            <a:r>
              <a:t>⏱️ 5 min</a:t>
            </a:r>
          </a:p>
        </p:txBody>
      </p:sp>
      <p:sp>
        <p:nvSpPr>
          <p:cNvPr id="8" name="Rounded Rectangle 7"/>
          <p:cNvSpPr/>
          <p:nvPr/>
        </p:nvSpPr>
        <p:spPr>
          <a:xfrm>
            <a:off x="914400" y="1920240"/>
            <a:ext cx="4937760" cy="274320"/>
          </a:xfrm>
          <a:prstGeom prst="roundRect">
            <a:avLst>
              <a:gd name="adj" fmla="val 1000"/>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20240"/>
            <a:ext cx="4754880" cy="274320"/>
          </a:xfrm>
          <a:prstGeom prst="rect">
            <a:avLst/>
          </a:prstGeom>
          <a:noFill/>
        </p:spPr>
        <p:txBody>
          <a:bodyPr wrap="square">
            <a:spAutoFit/>
          </a:bodyPr>
          <a:lstStyle/>
          <a:p>
            <a:pPr algn="l">
              <a:spcAft>
                <a:spcPts val="400"/>
              </a:spcAft>
              <a:defRPr sz="800" b="0">
                <a:solidFill>
                  <a:srgbClr val="6B6B6B"/>
                </a:solidFill>
                <a:latin typeface="Consolas"/>
              </a:defRPr>
            </a:pPr>
            <a:r>
              <a:t>npm install @capacitor/core @capacitor/cli</a:t>
            </a:r>
          </a:p>
        </p:txBody>
      </p:sp>
      <p:sp>
        <p:nvSpPr>
          <p:cNvPr id="10" name="TextBox 9"/>
          <p:cNvSpPr txBox="1"/>
          <p:nvPr/>
        </p:nvSpPr>
        <p:spPr>
          <a:xfrm>
            <a:off x="914400" y="2240280"/>
            <a:ext cx="4937760" cy="365760"/>
          </a:xfrm>
          <a:prstGeom prst="rect">
            <a:avLst/>
          </a:prstGeom>
          <a:noFill/>
        </p:spPr>
        <p:txBody>
          <a:bodyPr wrap="square">
            <a:spAutoFit/>
          </a:bodyPr>
          <a:lstStyle/>
          <a:p>
            <a:pPr algn="l">
              <a:spcAft>
                <a:spcPts val="400"/>
              </a:spcAft>
              <a:defRPr sz="900" b="0">
                <a:solidFill>
                  <a:srgbClr val="6B6B6B"/>
                </a:solidFill>
                <a:latin typeface="Calibri"/>
              </a:defRPr>
            </a:pPr>
            <a:r>
              <a:t>Une commande dans le terminal. Capacitor s'installe comme n'importe quelle librairie JavaScript.</a:t>
            </a:r>
          </a:p>
        </p:txBody>
      </p:sp>
      <p:sp>
        <p:nvSpPr>
          <p:cNvPr id="11" name="Rounded Rectangle 10"/>
          <p:cNvSpPr/>
          <p:nvPr/>
        </p:nvSpPr>
        <p:spPr>
          <a:xfrm>
            <a:off x="6400800" y="1554480"/>
            <a:ext cx="5303520" cy="10972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554480"/>
            <a:ext cx="5303520" cy="36576"/>
          </a:xfrm>
          <a:prstGeom prst="rect">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645920"/>
            <a:ext cx="3657600" cy="274320"/>
          </a:xfrm>
          <a:prstGeom prst="rect">
            <a:avLst/>
          </a:prstGeom>
          <a:noFill/>
        </p:spPr>
        <p:txBody>
          <a:bodyPr wrap="square">
            <a:spAutoFit/>
          </a:bodyPr>
          <a:lstStyle/>
          <a:p>
            <a:pPr algn="l">
              <a:spcAft>
                <a:spcPts val="400"/>
              </a:spcAft>
              <a:defRPr sz="1300" b="1">
                <a:solidFill>
                  <a:srgbClr val="1A1A1A"/>
                </a:solidFill>
                <a:latin typeface="Calibri"/>
              </a:defRPr>
            </a:pPr>
            <a:r>
              <a:t>2️⃣ Initialiser le projet</a:t>
            </a:r>
          </a:p>
        </p:txBody>
      </p:sp>
      <p:sp>
        <p:nvSpPr>
          <p:cNvPr id="14" name="TextBox 13"/>
          <p:cNvSpPr txBox="1"/>
          <p:nvPr/>
        </p:nvSpPr>
        <p:spPr>
          <a:xfrm>
            <a:off x="10241280" y="1645920"/>
            <a:ext cx="1280160" cy="274320"/>
          </a:xfrm>
          <a:prstGeom prst="rect">
            <a:avLst/>
          </a:prstGeom>
          <a:noFill/>
        </p:spPr>
        <p:txBody>
          <a:bodyPr wrap="square">
            <a:spAutoFit/>
          </a:bodyPr>
          <a:lstStyle/>
          <a:p>
            <a:pPr algn="r">
              <a:spcAft>
                <a:spcPts val="400"/>
              </a:spcAft>
              <a:defRPr sz="1000" b="1">
                <a:solidFill>
                  <a:srgbClr val="2BB286"/>
                </a:solidFill>
                <a:latin typeface="Calibri"/>
              </a:defRPr>
            </a:pPr>
            <a:r>
              <a:t>⏱️ 2 min</a:t>
            </a:r>
          </a:p>
        </p:txBody>
      </p:sp>
      <p:sp>
        <p:nvSpPr>
          <p:cNvPr id="15" name="Rounded Rectangle 14"/>
          <p:cNvSpPr/>
          <p:nvPr/>
        </p:nvSpPr>
        <p:spPr>
          <a:xfrm>
            <a:off x="6583680" y="1920240"/>
            <a:ext cx="4937760" cy="274320"/>
          </a:xfrm>
          <a:prstGeom prst="roundRect">
            <a:avLst>
              <a:gd name="adj" fmla="val 1000"/>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920240"/>
            <a:ext cx="4754880" cy="274320"/>
          </a:xfrm>
          <a:prstGeom prst="rect">
            <a:avLst/>
          </a:prstGeom>
          <a:noFill/>
        </p:spPr>
        <p:txBody>
          <a:bodyPr wrap="square">
            <a:spAutoFit/>
          </a:bodyPr>
          <a:lstStyle/>
          <a:p>
            <a:pPr algn="l">
              <a:spcAft>
                <a:spcPts val="400"/>
              </a:spcAft>
              <a:defRPr sz="800" b="0">
                <a:solidFill>
                  <a:srgbClr val="6B6B6B"/>
                </a:solidFill>
                <a:latin typeface="Consolas"/>
              </a:defRPr>
            </a:pPr>
            <a:r>
              <a:t>npx cap init TimeHeroes com.timeheroes.app</a:t>
            </a:r>
          </a:p>
        </p:txBody>
      </p:sp>
      <p:sp>
        <p:nvSpPr>
          <p:cNvPr id="17" name="TextBox 16"/>
          <p:cNvSpPr txBox="1"/>
          <p:nvPr/>
        </p:nvSpPr>
        <p:spPr>
          <a:xfrm>
            <a:off x="6583680" y="2240280"/>
            <a:ext cx="4937760" cy="365760"/>
          </a:xfrm>
          <a:prstGeom prst="rect">
            <a:avLst/>
          </a:prstGeom>
          <a:noFill/>
        </p:spPr>
        <p:txBody>
          <a:bodyPr wrap="square">
            <a:spAutoFit/>
          </a:bodyPr>
          <a:lstStyle/>
          <a:p>
            <a:pPr algn="l">
              <a:spcAft>
                <a:spcPts val="400"/>
              </a:spcAft>
              <a:defRPr sz="900" b="0">
                <a:solidFill>
                  <a:srgbClr val="6B6B6B"/>
                </a:solidFill>
                <a:latin typeface="Calibri"/>
              </a:defRPr>
            </a:pPr>
            <a:r>
              <a:t>Capacitor crée les dossiers de base pour iOS et Android.</a:t>
            </a:r>
          </a:p>
        </p:txBody>
      </p:sp>
      <p:sp>
        <p:nvSpPr>
          <p:cNvPr id="18" name="Rounded Rectangle 17"/>
          <p:cNvSpPr/>
          <p:nvPr/>
        </p:nvSpPr>
        <p:spPr>
          <a:xfrm>
            <a:off x="731520" y="2788920"/>
            <a:ext cx="5303520" cy="10972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2788920"/>
            <a:ext cx="5303520" cy="36576"/>
          </a:xfrm>
          <a:prstGeom prst="rect">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80360"/>
            <a:ext cx="3657600" cy="274320"/>
          </a:xfrm>
          <a:prstGeom prst="rect">
            <a:avLst/>
          </a:prstGeom>
          <a:noFill/>
        </p:spPr>
        <p:txBody>
          <a:bodyPr wrap="square">
            <a:spAutoFit/>
          </a:bodyPr>
          <a:lstStyle/>
          <a:p>
            <a:pPr algn="l">
              <a:spcAft>
                <a:spcPts val="400"/>
              </a:spcAft>
              <a:defRPr sz="1300" b="1">
                <a:solidFill>
                  <a:srgbClr val="1A1A1A"/>
                </a:solidFill>
                <a:latin typeface="Calibri"/>
              </a:defRPr>
            </a:pPr>
            <a:r>
              <a:t>3️⃣ Ajouter les plugins</a:t>
            </a:r>
          </a:p>
        </p:txBody>
      </p:sp>
      <p:sp>
        <p:nvSpPr>
          <p:cNvPr id="21" name="TextBox 20"/>
          <p:cNvSpPr txBox="1"/>
          <p:nvPr/>
        </p:nvSpPr>
        <p:spPr>
          <a:xfrm>
            <a:off x="4572000" y="2880360"/>
            <a:ext cx="1280160" cy="274320"/>
          </a:xfrm>
          <a:prstGeom prst="rect">
            <a:avLst/>
          </a:prstGeom>
          <a:noFill/>
        </p:spPr>
        <p:txBody>
          <a:bodyPr wrap="square">
            <a:spAutoFit/>
          </a:bodyPr>
          <a:lstStyle/>
          <a:p>
            <a:pPr algn="r">
              <a:spcAft>
                <a:spcPts val="400"/>
              </a:spcAft>
              <a:defRPr sz="1000" b="1">
                <a:solidFill>
                  <a:srgbClr val="2BB286"/>
                </a:solidFill>
                <a:latin typeface="Calibri"/>
              </a:defRPr>
            </a:pPr>
            <a:r>
              <a:t>⏱️ 5 min</a:t>
            </a:r>
          </a:p>
        </p:txBody>
      </p:sp>
      <p:sp>
        <p:nvSpPr>
          <p:cNvPr id="22" name="Rounded Rectangle 21"/>
          <p:cNvSpPr/>
          <p:nvPr/>
        </p:nvSpPr>
        <p:spPr>
          <a:xfrm>
            <a:off x="914400" y="3154680"/>
            <a:ext cx="4937760" cy="274320"/>
          </a:xfrm>
          <a:prstGeom prst="roundRect">
            <a:avLst>
              <a:gd name="adj" fmla="val 1000"/>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3154680"/>
            <a:ext cx="4754880" cy="274320"/>
          </a:xfrm>
          <a:prstGeom prst="rect">
            <a:avLst/>
          </a:prstGeom>
          <a:noFill/>
        </p:spPr>
        <p:txBody>
          <a:bodyPr wrap="square">
            <a:spAutoFit/>
          </a:bodyPr>
          <a:lstStyle/>
          <a:p>
            <a:pPr algn="l">
              <a:spcAft>
                <a:spcPts val="400"/>
              </a:spcAft>
              <a:defRPr sz="800" b="0">
                <a:solidFill>
                  <a:srgbClr val="6B6B6B"/>
                </a:solidFill>
                <a:latin typeface="Consolas"/>
              </a:defRPr>
            </a:pPr>
            <a:r>
              <a:t>npm install @capacitor/nfc @capacitor/push-notifications @capacitor/camera</a:t>
            </a:r>
          </a:p>
        </p:txBody>
      </p:sp>
      <p:sp>
        <p:nvSpPr>
          <p:cNvPr id="24" name="TextBox 23"/>
          <p:cNvSpPr txBox="1"/>
          <p:nvPr/>
        </p:nvSpPr>
        <p:spPr>
          <a:xfrm>
            <a:off x="914400" y="3474720"/>
            <a:ext cx="4937760" cy="365760"/>
          </a:xfrm>
          <a:prstGeom prst="rect">
            <a:avLst/>
          </a:prstGeom>
          <a:noFill/>
        </p:spPr>
        <p:txBody>
          <a:bodyPr wrap="square">
            <a:spAutoFit/>
          </a:bodyPr>
          <a:lstStyle/>
          <a:p>
            <a:pPr algn="l">
              <a:spcAft>
                <a:spcPts val="400"/>
              </a:spcAft>
              <a:defRPr sz="900" b="0">
                <a:solidFill>
                  <a:srgbClr val="6B6B6B"/>
                </a:solidFill>
                <a:latin typeface="Calibri"/>
              </a:defRPr>
            </a:pPr>
            <a:r>
              <a:t>Ce sont les "traducteurs" entre le web et le téléphone. NFC = lire les tags sans contact.</a:t>
            </a:r>
          </a:p>
        </p:txBody>
      </p:sp>
      <p:sp>
        <p:nvSpPr>
          <p:cNvPr id="25" name="Rounded Rectangle 24"/>
          <p:cNvSpPr/>
          <p:nvPr/>
        </p:nvSpPr>
        <p:spPr>
          <a:xfrm>
            <a:off x="6400800" y="2788920"/>
            <a:ext cx="5303520" cy="10972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2788920"/>
            <a:ext cx="5303520" cy="36576"/>
          </a:xfrm>
          <a:prstGeom prst="rect">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2880360"/>
            <a:ext cx="3657600" cy="274320"/>
          </a:xfrm>
          <a:prstGeom prst="rect">
            <a:avLst/>
          </a:prstGeom>
          <a:noFill/>
        </p:spPr>
        <p:txBody>
          <a:bodyPr wrap="square">
            <a:spAutoFit/>
          </a:bodyPr>
          <a:lstStyle/>
          <a:p>
            <a:pPr algn="l">
              <a:spcAft>
                <a:spcPts val="400"/>
              </a:spcAft>
              <a:defRPr sz="1300" b="1">
                <a:solidFill>
                  <a:srgbClr val="1A1A1A"/>
                </a:solidFill>
                <a:latin typeface="Calibri"/>
              </a:defRPr>
            </a:pPr>
            <a:r>
              <a:t>4️⃣ Adapter le code NFC</a:t>
            </a:r>
          </a:p>
        </p:txBody>
      </p:sp>
      <p:sp>
        <p:nvSpPr>
          <p:cNvPr id="28" name="TextBox 27"/>
          <p:cNvSpPr txBox="1"/>
          <p:nvPr/>
        </p:nvSpPr>
        <p:spPr>
          <a:xfrm>
            <a:off x="10241280" y="2880360"/>
            <a:ext cx="1280160" cy="274320"/>
          </a:xfrm>
          <a:prstGeom prst="rect">
            <a:avLst/>
          </a:prstGeom>
          <a:noFill/>
        </p:spPr>
        <p:txBody>
          <a:bodyPr wrap="square">
            <a:spAutoFit/>
          </a:bodyPr>
          <a:lstStyle/>
          <a:p>
            <a:pPr algn="r">
              <a:spcAft>
                <a:spcPts val="400"/>
              </a:spcAft>
              <a:defRPr sz="1000" b="1">
                <a:solidFill>
                  <a:srgbClr val="2BB286"/>
                </a:solidFill>
                <a:latin typeface="Calibri"/>
              </a:defRPr>
            </a:pPr>
            <a:r>
              <a:t>⏱️ 2h</a:t>
            </a:r>
          </a:p>
        </p:txBody>
      </p:sp>
      <p:sp>
        <p:nvSpPr>
          <p:cNvPr id="29" name="Rounded Rectangle 28"/>
          <p:cNvSpPr/>
          <p:nvPr/>
        </p:nvSpPr>
        <p:spPr>
          <a:xfrm>
            <a:off x="6583680" y="3154680"/>
            <a:ext cx="4937760" cy="274320"/>
          </a:xfrm>
          <a:prstGeom prst="roundRect">
            <a:avLst>
              <a:gd name="adj" fmla="val 1000"/>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3154680"/>
            <a:ext cx="4754880" cy="274320"/>
          </a:xfrm>
          <a:prstGeom prst="rect">
            <a:avLst/>
          </a:prstGeom>
          <a:noFill/>
        </p:spPr>
        <p:txBody>
          <a:bodyPr wrap="square">
            <a:spAutoFit/>
          </a:bodyPr>
          <a:lstStyle/>
          <a:p>
            <a:pPr algn="l">
              <a:spcAft>
                <a:spcPts val="400"/>
              </a:spcAft>
              <a:defRPr sz="800" b="0">
                <a:solidFill>
                  <a:srgbClr val="6B6B6B"/>
                </a:solidFill>
                <a:latin typeface="Consolas"/>
              </a:defRPr>
            </a:pPr>
            <a:r>
              <a:t>Ajouter ~30 lignes de JS pour lire les tags NFC</a:t>
            </a:r>
          </a:p>
        </p:txBody>
      </p:sp>
      <p:sp>
        <p:nvSpPr>
          <p:cNvPr id="31" name="TextBox 30"/>
          <p:cNvSpPr txBox="1"/>
          <p:nvPr/>
        </p:nvSpPr>
        <p:spPr>
          <a:xfrm>
            <a:off x="6583680" y="3474720"/>
            <a:ext cx="4937760" cy="365760"/>
          </a:xfrm>
          <a:prstGeom prst="rect">
            <a:avLst/>
          </a:prstGeom>
          <a:noFill/>
        </p:spPr>
        <p:txBody>
          <a:bodyPr wrap="square">
            <a:spAutoFit/>
          </a:bodyPr>
          <a:lstStyle/>
          <a:p>
            <a:pPr algn="l">
              <a:spcAft>
                <a:spcPts val="400"/>
              </a:spcAft>
              <a:defRPr sz="900" b="0">
                <a:solidFill>
                  <a:srgbClr val="6B6B6B"/>
                </a:solidFill>
                <a:latin typeface="Calibri"/>
              </a:defRPr>
            </a:pPr>
            <a:r>
              <a:t>Le code le plus important : quand on tape un téléphone, lire l'ID et valider la mission.</a:t>
            </a:r>
          </a:p>
        </p:txBody>
      </p:sp>
      <p:sp>
        <p:nvSpPr>
          <p:cNvPr id="32" name="Rounded Rectangle 31"/>
          <p:cNvSpPr/>
          <p:nvPr/>
        </p:nvSpPr>
        <p:spPr>
          <a:xfrm>
            <a:off x="731520" y="4023360"/>
            <a:ext cx="5303520" cy="10972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1520" y="4023360"/>
            <a:ext cx="5303520" cy="36576"/>
          </a:xfrm>
          <a:prstGeom prst="rect">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114800"/>
            <a:ext cx="3657600" cy="274320"/>
          </a:xfrm>
          <a:prstGeom prst="rect">
            <a:avLst/>
          </a:prstGeom>
          <a:noFill/>
        </p:spPr>
        <p:txBody>
          <a:bodyPr wrap="square">
            <a:spAutoFit/>
          </a:bodyPr>
          <a:lstStyle/>
          <a:p>
            <a:pPr algn="l">
              <a:spcAft>
                <a:spcPts val="400"/>
              </a:spcAft>
              <a:defRPr sz="1300" b="1">
                <a:solidFill>
                  <a:srgbClr val="1A1A1A"/>
                </a:solidFill>
                <a:latin typeface="Calibri"/>
              </a:defRPr>
            </a:pPr>
            <a:r>
              <a:t>5️⃣ Build + Sync</a:t>
            </a:r>
          </a:p>
        </p:txBody>
      </p:sp>
      <p:sp>
        <p:nvSpPr>
          <p:cNvPr id="35" name="TextBox 34"/>
          <p:cNvSpPr txBox="1"/>
          <p:nvPr/>
        </p:nvSpPr>
        <p:spPr>
          <a:xfrm>
            <a:off x="4572000" y="4114800"/>
            <a:ext cx="1280160" cy="274320"/>
          </a:xfrm>
          <a:prstGeom prst="rect">
            <a:avLst/>
          </a:prstGeom>
          <a:noFill/>
        </p:spPr>
        <p:txBody>
          <a:bodyPr wrap="square">
            <a:spAutoFit/>
          </a:bodyPr>
          <a:lstStyle/>
          <a:p>
            <a:pPr algn="r">
              <a:spcAft>
                <a:spcPts val="400"/>
              </a:spcAft>
              <a:defRPr sz="1000" b="1">
                <a:solidFill>
                  <a:srgbClr val="2BB286"/>
                </a:solidFill>
                <a:latin typeface="Calibri"/>
              </a:defRPr>
            </a:pPr>
            <a:r>
              <a:t>⏱️ 10 min</a:t>
            </a:r>
          </a:p>
        </p:txBody>
      </p:sp>
      <p:sp>
        <p:nvSpPr>
          <p:cNvPr id="36" name="Rounded Rectangle 35"/>
          <p:cNvSpPr/>
          <p:nvPr/>
        </p:nvSpPr>
        <p:spPr>
          <a:xfrm>
            <a:off x="914400" y="4389120"/>
            <a:ext cx="4937760" cy="274320"/>
          </a:xfrm>
          <a:prstGeom prst="roundRect">
            <a:avLst>
              <a:gd name="adj" fmla="val 1000"/>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4389120"/>
            <a:ext cx="4754880" cy="274320"/>
          </a:xfrm>
          <a:prstGeom prst="rect">
            <a:avLst/>
          </a:prstGeom>
          <a:noFill/>
        </p:spPr>
        <p:txBody>
          <a:bodyPr wrap="square">
            <a:spAutoFit/>
          </a:bodyPr>
          <a:lstStyle/>
          <a:p>
            <a:pPr algn="l">
              <a:spcAft>
                <a:spcPts val="400"/>
              </a:spcAft>
              <a:defRPr sz="800" b="0">
                <a:solidFill>
                  <a:srgbClr val="6B6B6B"/>
                </a:solidFill>
                <a:latin typeface="Consolas"/>
              </a:defRPr>
            </a:pPr>
            <a:r>
              <a:t>npm run build → npx cap copy → npx cap sync</a:t>
            </a:r>
          </a:p>
        </p:txBody>
      </p:sp>
      <p:sp>
        <p:nvSpPr>
          <p:cNvPr id="38" name="TextBox 37"/>
          <p:cNvSpPr txBox="1"/>
          <p:nvPr/>
        </p:nvSpPr>
        <p:spPr>
          <a:xfrm>
            <a:off x="914400" y="4709160"/>
            <a:ext cx="4937760" cy="365760"/>
          </a:xfrm>
          <a:prstGeom prst="rect">
            <a:avLst/>
          </a:prstGeom>
          <a:noFill/>
        </p:spPr>
        <p:txBody>
          <a:bodyPr wrap="square">
            <a:spAutoFit/>
          </a:bodyPr>
          <a:lstStyle/>
          <a:p>
            <a:pPr algn="l">
              <a:spcAft>
                <a:spcPts val="400"/>
              </a:spcAft>
              <a:defRPr sz="900" b="0">
                <a:solidFill>
                  <a:srgbClr val="6B6B6B"/>
                </a:solidFill>
                <a:latin typeface="Calibri"/>
              </a:defRPr>
            </a:pPr>
            <a:r>
              <a:t>Copie ton site Next.js buildé dans les dossiers iOS/Android.</a:t>
            </a:r>
          </a:p>
        </p:txBody>
      </p:sp>
      <p:sp>
        <p:nvSpPr>
          <p:cNvPr id="39" name="Rounded Rectangle 38"/>
          <p:cNvSpPr/>
          <p:nvPr/>
        </p:nvSpPr>
        <p:spPr>
          <a:xfrm>
            <a:off x="6400800" y="4023360"/>
            <a:ext cx="5303520" cy="10972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0800" y="4023360"/>
            <a:ext cx="5303520" cy="36576"/>
          </a:xfrm>
          <a:prstGeom prst="rect">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4114800"/>
            <a:ext cx="3657600" cy="274320"/>
          </a:xfrm>
          <a:prstGeom prst="rect">
            <a:avLst/>
          </a:prstGeom>
          <a:noFill/>
        </p:spPr>
        <p:txBody>
          <a:bodyPr wrap="square">
            <a:spAutoFit/>
          </a:bodyPr>
          <a:lstStyle/>
          <a:p>
            <a:pPr algn="l">
              <a:spcAft>
                <a:spcPts val="400"/>
              </a:spcAft>
              <a:defRPr sz="1300" b="1">
                <a:solidFill>
                  <a:srgbClr val="1A1A1A"/>
                </a:solidFill>
                <a:latin typeface="Calibri"/>
              </a:defRPr>
            </a:pPr>
            <a:r>
              <a:t>6️⃣ Tester sur téléphone</a:t>
            </a:r>
          </a:p>
        </p:txBody>
      </p:sp>
      <p:sp>
        <p:nvSpPr>
          <p:cNvPr id="42" name="TextBox 41"/>
          <p:cNvSpPr txBox="1"/>
          <p:nvPr/>
        </p:nvSpPr>
        <p:spPr>
          <a:xfrm>
            <a:off x="10241280" y="4114800"/>
            <a:ext cx="1280160" cy="274320"/>
          </a:xfrm>
          <a:prstGeom prst="rect">
            <a:avLst/>
          </a:prstGeom>
          <a:noFill/>
        </p:spPr>
        <p:txBody>
          <a:bodyPr wrap="square">
            <a:spAutoFit/>
          </a:bodyPr>
          <a:lstStyle/>
          <a:p>
            <a:pPr algn="r">
              <a:spcAft>
                <a:spcPts val="400"/>
              </a:spcAft>
              <a:defRPr sz="1000" b="1">
                <a:solidFill>
                  <a:srgbClr val="2BB286"/>
                </a:solidFill>
                <a:latin typeface="Calibri"/>
              </a:defRPr>
            </a:pPr>
            <a:r>
              <a:t>⏱️ 1h</a:t>
            </a:r>
          </a:p>
        </p:txBody>
      </p:sp>
      <p:sp>
        <p:nvSpPr>
          <p:cNvPr id="43" name="Rounded Rectangle 42"/>
          <p:cNvSpPr/>
          <p:nvPr/>
        </p:nvSpPr>
        <p:spPr>
          <a:xfrm>
            <a:off x="6583680" y="4389120"/>
            <a:ext cx="4937760" cy="274320"/>
          </a:xfrm>
          <a:prstGeom prst="roundRect">
            <a:avLst>
              <a:gd name="adj" fmla="val 1000"/>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75120" y="4389120"/>
            <a:ext cx="4754880" cy="274320"/>
          </a:xfrm>
          <a:prstGeom prst="rect">
            <a:avLst/>
          </a:prstGeom>
          <a:noFill/>
        </p:spPr>
        <p:txBody>
          <a:bodyPr wrap="square">
            <a:spAutoFit/>
          </a:bodyPr>
          <a:lstStyle/>
          <a:p>
            <a:pPr algn="l">
              <a:spcAft>
                <a:spcPts val="400"/>
              </a:spcAft>
              <a:defRPr sz="800" b="0">
                <a:solidFill>
                  <a:srgbClr val="6B6B6B"/>
                </a:solidFill>
                <a:latin typeface="Consolas"/>
              </a:defRPr>
            </a:pPr>
            <a:r>
              <a:t>npx cap open android → lancer sur ton vrai téléphone</a:t>
            </a:r>
          </a:p>
        </p:txBody>
      </p:sp>
      <p:sp>
        <p:nvSpPr>
          <p:cNvPr id="45" name="TextBox 44"/>
          <p:cNvSpPr txBox="1"/>
          <p:nvPr/>
        </p:nvSpPr>
        <p:spPr>
          <a:xfrm>
            <a:off x="6583680" y="4709160"/>
            <a:ext cx="4937760" cy="365760"/>
          </a:xfrm>
          <a:prstGeom prst="rect">
            <a:avLst/>
          </a:prstGeom>
          <a:noFill/>
        </p:spPr>
        <p:txBody>
          <a:bodyPr wrap="square">
            <a:spAutoFit/>
          </a:bodyPr>
          <a:lstStyle/>
          <a:p>
            <a:pPr algn="l">
              <a:spcAft>
                <a:spcPts val="400"/>
              </a:spcAft>
              <a:defRPr sz="900" b="0">
                <a:solidFill>
                  <a:srgbClr val="6B6B6B"/>
                </a:solidFill>
                <a:latin typeface="Calibri"/>
              </a:defRPr>
            </a:pPr>
            <a:r>
              <a:t>Tu branches ton téléphone en USB, tu lances l'app dessus.</a:t>
            </a:r>
          </a:p>
        </p:txBody>
      </p:sp>
      <p:sp>
        <p:nvSpPr>
          <p:cNvPr id="46" name="Rounded Rectangle 45"/>
          <p:cNvSpPr/>
          <p:nvPr/>
        </p:nvSpPr>
        <p:spPr>
          <a:xfrm>
            <a:off x="731520" y="5257800"/>
            <a:ext cx="5303520" cy="10972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1520" y="5257800"/>
            <a:ext cx="5303520" cy="36576"/>
          </a:xfrm>
          <a:prstGeom prst="rect">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5349240"/>
            <a:ext cx="3657600" cy="274320"/>
          </a:xfrm>
          <a:prstGeom prst="rect">
            <a:avLst/>
          </a:prstGeom>
          <a:noFill/>
        </p:spPr>
        <p:txBody>
          <a:bodyPr wrap="square">
            <a:spAutoFit/>
          </a:bodyPr>
          <a:lstStyle/>
          <a:p>
            <a:pPr algn="l">
              <a:spcAft>
                <a:spcPts val="400"/>
              </a:spcAft>
              <a:defRPr sz="1300" b="1">
                <a:solidFill>
                  <a:srgbClr val="1A1A1A"/>
                </a:solidFill>
                <a:latin typeface="Calibri"/>
              </a:defRPr>
            </a:pPr>
            <a:r>
              <a:t>7️⃣ Générer l'APK</a:t>
            </a:r>
          </a:p>
        </p:txBody>
      </p:sp>
      <p:sp>
        <p:nvSpPr>
          <p:cNvPr id="49" name="TextBox 48"/>
          <p:cNvSpPr txBox="1"/>
          <p:nvPr/>
        </p:nvSpPr>
        <p:spPr>
          <a:xfrm>
            <a:off x="4572000" y="5349240"/>
            <a:ext cx="1280160" cy="274320"/>
          </a:xfrm>
          <a:prstGeom prst="rect">
            <a:avLst/>
          </a:prstGeom>
          <a:noFill/>
        </p:spPr>
        <p:txBody>
          <a:bodyPr wrap="square">
            <a:spAutoFit/>
          </a:bodyPr>
          <a:lstStyle/>
          <a:p>
            <a:pPr algn="r">
              <a:spcAft>
                <a:spcPts val="400"/>
              </a:spcAft>
              <a:defRPr sz="1000" b="1">
                <a:solidFill>
                  <a:srgbClr val="2BB286"/>
                </a:solidFill>
                <a:latin typeface="Calibri"/>
              </a:defRPr>
            </a:pPr>
            <a:r>
              <a:t>⏱️ 1h</a:t>
            </a:r>
          </a:p>
        </p:txBody>
      </p:sp>
      <p:sp>
        <p:nvSpPr>
          <p:cNvPr id="50" name="Rounded Rectangle 49"/>
          <p:cNvSpPr/>
          <p:nvPr/>
        </p:nvSpPr>
        <p:spPr>
          <a:xfrm>
            <a:off x="914400" y="5623560"/>
            <a:ext cx="4937760" cy="274320"/>
          </a:xfrm>
          <a:prstGeom prst="roundRect">
            <a:avLst>
              <a:gd name="adj" fmla="val 1000"/>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05840" y="5623560"/>
            <a:ext cx="4754880" cy="274320"/>
          </a:xfrm>
          <a:prstGeom prst="rect">
            <a:avLst/>
          </a:prstGeom>
          <a:noFill/>
        </p:spPr>
        <p:txBody>
          <a:bodyPr wrap="square">
            <a:spAutoFit/>
          </a:bodyPr>
          <a:lstStyle/>
          <a:p>
            <a:pPr algn="l">
              <a:spcAft>
                <a:spcPts val="400"/>
              </a:spcAft>
              <a:defRPr sz="800" b="0">
                <a:solidFill>
                  <a:srgbClr val="6B6B6B"/>
                </a:solidFill>
                <a:latin typeface="Consolas"/>
              </a:defRPr>
            </a:pPr>
            <a:r>
              <a:t>Android Studio → Build → Generate Signed Bundle</a:t>
            </a:r>
          </a:p>
        </p:txBody>
      </p:sp>
      <p:sp>
        <p:nvSpPr>
          <p:cNvPr id="52" name="TextBox 51"/>
          <p:cNvSpPr txBox="1"/>
          <p:nvPr/>
        </p:nvSpPr>
        <p:spPr>
          <a:xfrm>
            <a:off x="914400" y="5943600"/>
            <a:ext cx="4937760" cy="365760"/>
          </a:xfrm>
          <a:prstGeom prst="rect">
            <a:avLst/>
          </a:prstGeom>
          <a:noFill/>
        </p:spPr>
        <p:txBody>
          <a:bodyPr wrap="square">
            <a:spAutoFit/>
          </a:bodyPr>
          <a:lstStyle/>
          <a:p>
            <a:pPr algn="l">
              <a:spcAft>
                <a:spcPts val="400"/>
              </a:spcAft>
              <a:defRPr sz="900" b="0">
                <a:solidFill>
                  <a:srgbClr val="6B6B6B"/>
                </a:solidFill>
                <a:latin typeface="Calibri"/>
              </a:defRPr>
            </a:pPr>
            <a:r>
              <a:t>Le fichier .apk ou .aab à envoyer aux testeurs ou à publier.</a:t>
            </a:r>
          </a:p>
        </p:txBody>
      </p:sp>
      <p:sp>
        <p:nvSpPr>
          <p:cNvPr id="53" name="Rounded Rectangle 52"/>
          <p:cNvSpPr/>
          <p:nvPr/>
        </p:nvSpPr>
        <p:spPr>
          <a:xfrm>
            <a:off x="6400800" y="5257800"/>
            <a:ext cx="5303520" cy="10972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400800" y="5257800"/>
            <a:ext cx="5303520" cy="36576"/>
          </a:xfrm>
          <a:prstGeom prst="rect">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0" y="5349240"/>
            <a:ext cx="3657600" cy="274320"/>
          </a:xfrm>
          <a:prstGeom prst="rect">
            <a:avLst/>
          </a:prstGeom>
          <a:noFill/>
        </p:spPr>
        <p:txBody>
          <a:bodyPr wrap="square">
            <a:spAutoFit/>
          </a:bodyPr>
          <a:lstStyle/>
          <a:p>
            <a:pPr algn="l">
              <a:spcAft>
                <a:spcPts val="400"/>
              </a:spcAft>
              <a:defRPr sz="1300" b="1">
                <a:solidFill>
                  <a:srgbClr val="1A1A1A"/>
                </a:solidFill>
                <a:latin typeface="Calibri"/>
              </a:defRPr>
            </a:pPr>
            <a:r>
              <a:t>8️⃣ Compte développeur Apple</a:t>
            </a:r>
          </a:p>
        </p:txBody>
      </p:sp>
      <p:sp>
        <p:nvSpPr>
          <p:cNvPr id="56" name="TextBox 55"/>
          <p:cNvSpPr txBox="1"/>
          <p:nvPr/>
        </p:nvSpPr>
        <p:spPr>
          <a:xfrm>
            <a:off x="10241280" y="5349240"/>
            <a:ext cx="1280160" cy="274320"/>
          </a:xfrm>
          <a:prstGeom prst="rect">
            <a:avLst/>
          </a:prstGeom>
          <a:noFill/>
        </p:spPr>
        <p:txBody>
          <a:bodyPr wrap="square">
            <a:spAutoFit/>
          </a:bodyPr>
          <a:lstStyle/>
          <a:p>
            <a:pPr algn="r">
              <a:spcAft>
                <a:spcPts val="400"/>
              </a:spcAft>
              <a:defRPr sz="1000" b="1">
                <a:solidFill>
                  <a:srgbClr val="2BB286"/>
                </a:solidFill>
                <a:latin typeface="Calibri"/>
              </a:defRPr>
            </a:pPr>
            <a:r>
              <a:t>⏱️ 30 min</a:t>
            </a:r>
          </a:p>
        </p:txBody>
      </p:sp>
      <p:sp>
        <p:nvSpPr>
          <p:cNvPr id="57" name="Rounded Rectangle 56"/>
          <p:cNvSpPr/>
          <p:nvPr/>
        </p:nvSpPr>
        <p:spPr>
          <a:xfrm>
            <a:off x="6583680" y="5623560"/>
            <a:ext cx="4937760" cy="274320"/>
          </a:xfrm>
          <a:prstGeom prst="roundRect">
            <a:avLst>
              <a:gd name="adj" fmla="val 1000"/>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75120" y="5623560"/>
            <a:ext cx="4754880" cy="274320"/>
          </a:xfrm>
          <a:prstGeom prst="rect">
            <a:avLst/>
          </a:prstGeom>
          <a:noFill/>
        </p:spPr>
        <p:txBody>
          <a:bodyPr wrap="square">
            <a:spAutoFit/>
          </a:bodyPr>
          <a:lstStyle/>
          <a:p>
            <a:pPr algn="l">
              <a:spcAft>
                <a:spcPts val="400"/>
              </a:spcAft>
              <a:defRPr sz="800" b="0">
                <a:solidFill>
                  <a:srgbClr val="6B6B6B"/>
                </a:solidFill>
                <a:latin typeface="Consolas"/>
              </a:defRPr>
            </a:pPr>
            <a:r>
              <a:t>inscription sur developer.apple.com (99€/an)</a:t>
            </a:r>
          </a:p>
        </p:txBody>
      </p:sp>
      <p:sp>
        <p:nvSpPr>
          <p:cNvPr id="59" name="TextBox 58"/>
          <p:cNvSpPr txBox="1"/>
          <p:nvPr/>
        </p:nvSpPr>
        <p:spPr>
          <a:xfrm>
            <a:off x="6583680" y="5943600"/>
            <a:ext cx="4937760" cy="365760"/>
          </a:xfrm>
          <a:prstGeom prst="rect">
            <a:avLst/>
          </a:prstGeom>
          <a:noFill/>
        </p:spPr>
        <p:txBody>
          <a:bodyPr wrap="square">
            <a:spAutoFit/>
          </a:bodyPr>
          <a:lstStyle/>
          <a:p>
            <a:pPr algn="l">
              <a:spcAft>
                <a:spcPts val="400"/>
              </a:spcAft>
              <a:defRPr sz="900" b="0">
                <a:solidFill>
                  <a:srgbClr val="6B6B6B"/>
                </a:solidFill>
                <a:latin typeface="Calibri"/>
              </a:defRPr>
            </a:pPr>
            <a:r>
              <a:t>Obligatoire pour installer sur iPhone. Android n'a pas ce coût (25$ unique).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9E0B"/>
        </a:solidFill>
        <a:effectLst/>
      </p:bgPr>
    </p:bg>
    <p:spTree>
      <p:nvGrpSpPr>
        <p:cNvPr id="1" name=""/>
        <p:cNvGrpSpPr/>
        <p:nvPr/>
      </p:nvGrpSpPr>
      <p:grpSpPr/>
      <p:sp>
        <p:nvSpPr>
          <p:cNvPr id="2" name="TextBox 1"/>
          <p:cNvSpPr txBox="1"/>
          <p:nvPr/>
        </p:nvSpPr>
        <p:spPr>
          <a:xfrm>
            <a:off x="731520" y="365760"/>
            <a:ext cx="10972800" cy="640080"/>
          </a:xfrm>
          <a:prstGeom prst="rect">
            <a:avLst/>
          </a:prstGeom>
          <a:noFill/>
        </p:spPr>
        <p:txBody>
          <a:bodyPr wrap="square">
            <a:spAutoFit/>
          </a:bodyPr>
          <a:lstStyle/>
          <a:p>
            <a:pPr algn="l">
              <a:spcAft>
                <a:spcPts val="400"/>
              </a:spcAft>
              <a:defRPr sz="3200" b="1">
                <a:solidFill>
                  <a:srgbClr val="FFFFFF"/>
                </a:solidFill>
                <a:latin typeface="Calibri Light"/>
              </a:defRPr>
            </a:pPr>
            <a:r>
              <a:t>⚛️ Option 3 : React Native (avec Expo)</a:t>
            </a:r>
          </a:p>
        </p:txBody>
      </p:sp>
      <p:sp>
        <p:nvSpPr>
          <p:cNvPr id="3" name="TextBox 2"/>
          <p:cNvSpPr txBox="1"/>
          <p:nvPr/>
        </p:nvSpPr>
        <p:spPr>
          <a:xfrm>
            <a:off x="731520" y="1005840"/>
            <a:ext cx="10972800" cy="914400"/>
          </a:xfrm>
          <a:prstGeom prst="rect">
            <a:avLst/>
          </a:prstGeom>
          <a:noFill/>
        </p:spPr>
        <p:txBody>
          <a:bodyPr wrap="square">
            <a:spAutoFit/>
          </a:bodyPr>
          <a:lstStyle/>
          <a:p>
            <a:pPr algn="l">
              <a:spcAft>
                <a:spcPts val="400"/>
              </a:spcAft>
              <a:defRPr sz="1600" b="1">
                <a:solidFill>
                  <a:srgbClr val="FEF3C7"/>
                </a:solidFill>
                <a:latin typeface="Calibri"/>
              </a:defRPr>
            </a:pPr>
            <a:r>
              <a:t>C'est quoi ?</a:t>
            </a:r>
          </a:p>
          <a:p>
            <a:pPr algn="l">
              <a:spcAft>
                <a:spcPts val="400"/>
              </a:spcAft>
              <a:defRPr sz="1200" b="0">
                <a:solidFill>
                  <a:srgbClr val="FDF0B0"/>
                </a:solidFill>
                <a:latin typeface="Calibri"/>
              </a:defRPr>
            </a:pPr>
            <a:r>
              <a:t>Contrairement aux deux options précédentes, React Native ne met PAS ton site web dans une coquille.</a:t>
            </a:r>
          </a:p>
          <a:p>
            <a:pPr algn="l">
              <a:spcAft>
                <a:spcPts val="400"/>
              </a:spcAft>
              <a:defRPr sz="1200" b="0">
                <a:solidFill>
                  <a:srgbClr val="FDF0B0"/>
                </a:solidFill>
                <a:latin typeface="Calibri"/>
              </a:defRPr>
            </a:pPr>
            <a:r>
              <a:t>Il REconstruit toute l'interface en composants 100% natifs. C'est comme si tu réécrivais TimeHeroes en "langage iPhone/Android" plutôt qu'en HTML.</a:t>
            </a:r>
          </a:p>
        </p:txBody>
      </p:sp>
      <p:sp>
        <p:nvSpPr>
          <p:cNvPr id="4" name="Rounded Rectangle 3"/>
          <p:cNvSpPr/>
          <p:nvPr/>
        </p:nvSpPr>
        <p:spPr>
          <a:xfrm>
            <a:off x="731520" y="2743200"/>
            <a:ext cx="5303520" cy="3200400"/>
          </a:xfrm>
          <a:prstGeom prst="roundRect">
            <a:avLst>
              <a:gd name="adj" fmla="val 2000"/>
            </a:avLst>
          </a:prstGeom>
          <a:solidFill>
            <a:srgbClr val="FDF0B0"/>
          </a:solidFill>
          <a:ln w="12700">
            <a:solidFill>
              <a:srgbClr val="E8C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834640"/>
            <a:ext cx="4754880" cy="3017520"/>
          </a:xfrm>
          <a:prstGeom prst="rect">
            <a:avLst/>
          </a:prstGeom>
          <a:noFill/>
        </p:spPr>
        <p:txBody>
          <a:bodyPr wrap="square">
            <a:spAutoFit/>
          </a:bodyPr>
          <a:lstStyle/>
          <a:p>
            <a:pPr algn="l">
              <a:spcAft>
                <a:spcPts val="400"/>
              </a:spcAft>
              <a:defRPr sz="1600" b="1">
                <a:solidFill>
                  <a:srgbClr val="FFFFFF"/>
                </a:solidFill>
                <a:latin typeface="Calibri Light"/>
              </a:defRPr>
            </a:pPr>
            <a:r>
              <a:t>✅ Ce qui RESTE inchangé :</a:t>
            </a:r>
          </a:p>
          <a:p>
            <a:pPr algn="l">
              <a:spcAft>
                <a:spcPts val="400"/>
              </a:spcAft>
              <a:defRPr sz="1200" b="0">
                <a:solidFill>
                  <a:srgbClr val="FFF5D0"/>
                </a:solidFill>
                <a:latin typeface="Calibri"/>
              </a:defRPr>
            </a:pPr>
            <a:r>
              <a:t>• Le serveur Next.js (API, base de données, Prisma)</a:t>
            </a:r>
          </a:p>
          <a:p>
            <a:pPr algn="l">
              <a:spcAft>
                <a:spcPts val="400"/>
              </a:spcAft>
              <a:defRPr sz="1200" b="0">
                <a:solidFill>
                  <a:srgbClr val="FFF5D0"/>
                </a:solidFill>
                <a:latin typeface="Calibri"/>
              </a:defRPr>
            </a:pPr>
            <a:r>
              <a:t>• Toutes les routes /api/services, /api/bookings…</a:t>
            </a:r>
          </a:p>
          <a:p>
            <a:pPr algn="l">
              <a:spcAft>
                <a:spcPts val="400"/>
              </a:spcAft>
              <a:defRPr sz="1200" b="0">
                <a:solidFill>
                  <a:srgbClr val="FFF5D0"/>
                </a:solidFill>
                <a:latin typeface="Calibri"/>
              </a:defRPr>
            </a:pPr>
            <a:r>
              <a:t>• La base SQLite avec toutes les données</a:t>
            </a:r>
          </a:p>
          <a:p>
            <a:pPr algn="l">
              <a:spcAft>
                <a:spcPts val="400"/>
              </a:spcAft>
              <a:defRPr sz="800" b="0">
                <a:solidFill>
                  <a:srgbClr val="1A1A1A"/>
                </a:solidFill>
                <a:latin typeface="Calibri"/>
              </a:defRPr>
            </a:pPr>
          </a:p>
          <a:p>
            <a:pPr algn="l">
              <a:spcAft>
                <a:spcPts val="400"/>
              </a:spcAft>
              <a:defRPr sz="1600" b="1">
                <a:solidFill>
                  <a:srgbClr val="FFFFFF"/>
                </a:solidFill>
                <a:latin typeface="Calibri Light"/>
              </a:defRPr>
            </a:pPr>
            <a:r>
              <a:t>❌ Ce qui CHANGE :</a:t>
            </a:r>
          </a:p>
          <a:p>
            <a:pPr algn="l">
              <a:spcAft>
                <a:spcPts val="400"/>
              </a:spcAft>
              <a:defRPr sz="1200" b="0">
                <a:solidFill>
                  <a:srgbClr val="FFF5D0"/>
                </a:solidFill>
                <a:latin typeface="Calibri"/>
              </a:defRPr>
            </a:pPr>
            <a:r>
              <a:t>• L'interface utilisateur (tout l'écran)</a:t>
            </a:r>
          </a:p>
          <a:p>
            <a:pPr algn="l">
              <a:spcAft>
                <a:spcPts val="400"/>
              </a:spcAft>
              <a:defRPr sz="1200" b="0">
                <a:solidFill>
                  <a:srgbClr val="FFF5D0"/>
                </a:solidFill>
                <a:latin typeface="Calibri"/>
              </a:defRPr>
            </a:pPr>
            <a:r>
              <a:t>• Les composants (Dashboard, Services, Bookings)</a:t>
            </a:r>
          </a:p>
          <a:p>
            <a:pPr algn="l">
              <a:spcAft>
                <a:spcPts val="400"/>
              </a:spcAft>
              <a:defRPr sz="1200" b="0">
                <a:solidFill>
                  <a:srgbClr val="FFF5D0"/>
                </a:solidFill>
                <a:latin typeface="Calibri"/>
              </a:defRPr>
            </a:pPr>
            <a:r>
              <a:t>• La navigation (plus de pages web, des "écrans")</a:t>
            </a:r>
          </a:p>
        </p:txBody>
      </p:sp>
      <p:sp>
        <p:nvSpPr>
          <p:cNvPr id="6" name="Rounded Rectangle 5"/>
          <p:cNvSpPr/>
          <p:nvPr/>
        </p:nvSpPr>
        <p:spPr>
          <a:xfrm>
            <a:off x="6400800" y="2743200"/>
            <a:ext cx="5303520" cy="3200400"/>
          </a:xfrm>
          <a:prstGeom prst="roundRect">
            <a:avLst>
              <a:gd name="adj" fmla="val 2000"/>
            </a:avLst>
          </a:prstGeom>
          <a:solidFill>
            <a:srgbClr val="FDF0B0"/>
          </a:solidFill>
          <a:ln w="12700">
            <a:solidFill>
              <a:srgbClr val="E8C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2834640"/>
            <a:ext cx="4754880" cy="3017520"/>
          </a:xfrm>
          <a:prstGeom prst="rect">
            <a:avLst/>
          </a:prstGeom>
          <a:noFill/>
        </p:spPr>
        <p:txBody>
          <a:bodyPr wrap="square">
            <a:spAutoFit/>
          </a:bodyPr>
          <a:lstStyle/>
          <a:p>
            <a:pPr algn="l">
              <a:spcAft>
                <a:spcPts val="400"/>
              </a:spcAft>
              <a:defRPr sz="1600" b="1">
                <a:solidFill>
                  <a:srgbClr val="FFFFFF"/>
                </a:solidFill>
                <a:latin typeface="Calibri Light"/>
              </a:defRPr>
            </a:pPr>
            <a:r>
              <a:t>💰 Budget détaillé si Ronald fait tout :</a:t>
            </a:r>
          </a:p>
          <a:p>
            <a:pPr algn="l">
              <a:spcAft>
                <a:spcPts val="400"/>
              </a:spcAft>
              <a:defRPr sz="800" b="0">
                <a:solidFill>
                  <a:srgbClr val="1A1A1A"/>
                </a:solidFill>
                <a:latin typeface="Calibri"/>
              </a:defRPr>
            </a:pPr>
          </a:p>
          <a:p>
            <a:pPr algn="l">
              <a:spcAft>
                <a:spcPts val="400"/>
              </a:spcAft>
              <a:defRPr sz="1200" b="0">
                <a:solidFill>
                  <a:srgbClr val="FFF5D0"/>
                </a:solidFill>
                <a:latin typeface="Calibri"/>
              </a:defRPr>
            </a:pPr>
            <a:r>
              <a:t>• Apprentissage React Native : 1 semaine</a:t>
            </a:r>
          </a:p>
          <a:p>
            <a:pPr algn="l">
              <a:spcAft>
                <a:spcPts val="400"/>
              </a:spcAft>
              <a:defRPr sz="1000" b="0">
                <a:solidFill>
                  <a:srgbClr val="D0C080"/>
                </a:solidFill>
                <a:latin typeface="Calibri"/>
              </a:defRPr>
            </a:pPr>
            <a:r>
              <a:t>  (Expo + React Navigation + composants de base)</a:t>
            </a:r>
          </a:p>
          <a:p>
            <a:pPr algn="l">
              <a:spcAft>
                <a:spcPts val="400"/>
              </a:spcAft>
              <a:defRPr sz="1200" b="0">
                <a:solidFill>
                  <a:srgbClr val="FFF5D0"/>
                </a:solidFill>
                <a:latin typeface="Calibri"/>
              </a:defRPr>
            </a:pPr>
            <a:r>
              <a:t>• Réécriture des écrans : 1-2 semaines</a:t>
            </a:r>
          </a:p>
          <a:p>
            <a:pPr algn="l">
              <a:spcAft>
                <a:spcPts val="400"/>
              </a:spcAft>
              <a:defRPr sz="1000" b="0">
                <a:solidFill>
                  <a:srgbClr val="D0C080"/>
                </a:solidFill>
                <a:latin typeface="Calibri"/>
              </a:defRPr>
            </a:pPr>
            <a:r>
              <a:t>  (Dashboard, Missions, Booking, Profil, etc.)</a:t>
            </a:r>
          </a:p>
          <a:p>
            <a:pPr algn="l">
              <a:spcAft>
                <a:spcPts val="400"/>
              </a:spcAft>
              <a:defRPr sz="1200" b="0">
                <a:solidFill>
                  <a:srgbClr val="FFF5D0"/>
                </a:solidFill>
                <a:latin typeface="Calibri"/>
              </a:defRPr>
            </a:pPr>
            <a:r>
              <a:t>• Test + corrections : 1 semaine</a:t>
            </a:r>
          </a:p>
          <a:p>
            <a:pPr algn="l">
              <a:spcAft>
                <a:spcPts val="400"/>
              </a:spcAft>
              <a:defRPr sz="1200" b="0">
                <a:solidFill>
                  <a:srgbClr val="FFF5D0"/>
                </a:solidFill>
                <a:latin typeface="Calibri"/>
              </a:defRPr>
            </a:pPr>
            <a:r>
              <a:t>• Publication App Store + Play Store : 2 jours</a:t>
            </a:r>
          </a:p>
          <a:p>
            <a:pPr algn="l">
              <a:spcAft>
                <a:spcPts val="400"/>
              </a:spcAft>
              <a:defRPr sz="600" b="0">
                <a:solidFill>
                  <a:srgbClr val="1A1A1A"/>
                </a:solidFill>
                <a:latin typeface="Calibri"/>
              </a:defRPr>
            </a:pPr>
          </a:p>
          <a:p>
            <a:pPr algn="l">
              <a:spcAft>
                <a:spcPts val="400"/>
              </a:spcAft>
              <a:defRPr sz="1300" b="1">
                <a:solidFill>
                  <a:srgbClr val="FFFFFF"/>
                </a:solidFill>
                <a:latin typeface="Calibri"/>
              </a:defRPr>
            </a:pPr>
            <a:r>
              <a:t>💰 TOTAL : 2 à 4 semaines • 99€ Apple + 25$ Google</a:t>
            </a:r>
          </a:p>
        </p:txBody>
      </p:sp>
      <p:sp>
        <p:nvSpPr>
          <p:cNvPr id="8" name="Rounded Rectangle 7"/>
          <p:cNvSpPr/>
          <p:nvPr/>
        </p:nvSpPr>
        <p:spPr>
          <a:xfrm>
            <a:off x="731520" y="6217920"/>
            <a:ext cx="10515600" cy="457200"/>
          </a:xfrm>
          <a:prstGeom prst="roundRect">
            <a:avLst>
              <a:gd name="adj" fmla="val 2000"/>
            </a:avLst>
          </a:prstGeom>
          <a:solidFill>
            <a:srgbClr val="ECFDF5"/>
          </a:solidFill>
          <a:ln w="12700">
            <a:solidFill>
              <a:srgbClr val="2BB2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6217920"/>
            <a:ext cx="10058400" cy="457200"/>
          </a:xfrm>
          <a:prstGeom prst="rect">
            <a:avLst/>
          </a:prstGeom>
          <a:noFill/>
        </p:spPr>
        <p:txBody>
          <a:bodyPr wrap="square">
            <a:spAutoFit/>
          </a:bodyPr>
          <a:lstStyle/>
          <a:p>
            <a:pPr algn="ctr">
              <a:spcAft>
                <a:spcPts val="400"/>
              </a:spcAft>
              <a:defRPr sz="1200" b="1">
                <a:solidFill>
                  <a:srgbClr val="856404"/>
                </a:solidFill>
                <a:latin typeface="Calibri"/>
              </a:defRPr>
            </a:pPr>
            <a:r>
              <a:t>⏱️ Estimation si Ronald fait tout : 2-4 semaines  •  💰 Coûts : 99€ + 25$ + 0€ de main-d'œuvre  •  📱 App 100% native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spcAft>
                <a:spcPts val="400"/>
              </a:spcAft>
              <a:defRPr sz="3000" b="1">
                <a:solidFill>
                  <a:srgbClr val="1A1A1A"/>
                </a:solidFill>
                <a:latin typeface="Calibri Light"/>
              </a:defRPr>
            </a:pPr>
            <a:r>
              <a:t>📊 Comparatif — si Ronald fait tout lui-même</a:t>
            </a:r>
          </a:p>
        </p:txBody>
      </p:sp>
      <p:sp>
        <p:nvSpPr>
          <p:cNvPr id="3" name="Rectangle 2"/>
          <p:cNvSpPr/>
          <p:nvPr/>
        </p:nvSpPr>
        <p:spPr>
          <a:xfrm>
            <a:off x="731520" y="1097280"/>
            <a:ext cx="2743200" cy="411480"/>
          </a:xfrm>
          <a:prstGeom prst="rect">
            <a:avLst/>
          </a:prstGeom>
          <a:solidFill>
            <a:srgbClr val="00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97280"/>
            <a:ext cx="2560320" cy="411480"/>
          </a:xfrm>
          <a:prstGeom prst="rect">
            <a:avLst/>
          </a:prstGeom>
          <a:noFill/>
        </p:spPr>
        <p:txBody>
          <a:bodyPr wrap="square">
            <a:spAutoFit/>
          </a:bodyPr>
          <a:lstStyle/>
          <a:p>
            <a:pPr algn="l">
              <a:spcAft>
                <a:spcPts val="400"/>
              </a:spcAft>
              <a:defRPr sz="1100" b="1">
                <a:solidFill>
                  <a:srgbClr val="FFFFFF"/>
                </a:solidFill>
                <a:latin typeface="Calibri"/>
              </a:defRPr>
            </a:pPr>
          </a:p>
        </p:txBody>
      </p:sp>
      <p:sp>
        <p:nvSpPr>
          <p:cNvPr id="5" name="Rectangle 4"/>
          <p:cNvSpPr/>
          <p:nvPr/>
        </p:nvSpPr>
        <p:spPr>
          <a:xfrm>
            <a:off x="3657600" y="1097280"/>
            <a:ext cx="2377440" cy="411480"/>
          </a:xfrm>
          <a:prstGeom prst="rect">
            <a:avLst/>
          </a:prstGeom>
          <a:solidFill>
            <a:srgbClr val="00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0" y="1097280"/>
            <a:ext cx="2194560" cy="411480"/>
          </a:xfrm>
          <a:prstGeom prst="rect">
            <a:avLst/>
          </a:prstGeom>
          <a:noFill/>
        </p:spPr>
        <p:txBody>
          <a:bodyPr wrap="square">
            <a:spAutoFit/>
          </a:bodyPr>
          <a:lstStyle/>
          <a:p>
            <a:pPr algn="ctr">
              <a:spcAft>
                <a:spcPts val="400"/>
              </a:spcAft>
              <a:defRPr sz="1100" b="1">
                <a:solidFill>
                  <a:srgbClr val="FFFFFF"/>
                </a:solidFill>
                <a:latin typeface="Calibri"/>
              </a:defRPr>
            </a:pPr>
            <a:r>
              <a:t>PWA</a:t>
            </a:r>
          </a:p>
        </p:txBody>
      </p:sp>
      <p:sp>
        <p:nvSpPr>
          <p:cNvPr id="7" name="Rectangle 6"/>
          <p:cNvSpPr/>
          <p:nvPr/>
        </p:nvSpPr>
        <p:spPr>
          <a:xfrm>
            <a:off x="6217920" y="1097280"/>
            <a:ext cx="2377440" cy="411480"/>
          </a:xfrm>
          <a:prstGeom prst="rect">
            <a:avLst/>
          </a:prstGeom>
          <a:solidFill>
            <a:srgbClr val="00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097280"/>
            <a:ext cx="2194560" cy="411480"/>
          </a:xfrm>
          <a:prstGeom prst="rect">
            <a:avLst/>
          </a:prstGeom>
          <a:noFill/>
        </p:spPr>
        <p:txBody>
          <a:bodyPr wrap="square">
            <a:spAutoFit/>
          </a:bodyPr>
          <a:lstStyle/>
          <a:p>
            <a:pPr algn="ctr">
              <a:spcAft>
                <a:spcPts val="400"/>
              </a:spcAft>
              <a:defRPr sz="1100" b="1">
                <a:solidFill>
                  <a:srgbClr val="FFFFFF"/>
                </a:solidFill>
                <a:latin typeface="Calibri"/>
              </a:defRPr>
            </a:pPr>
            <a:r>
              <a:t>Capacitor</a:t>
            </a:r>
          </a:p>
        </p:txBody>
      </p:sp>
      <p:sp>
        <p:nvSpPr>
          <p:cNvPr id="9" name="Rectangle 8"/>
          <p:cNvSpPr/>
          <p:nvPr/>
        </p:nvSpPr>
        <p:spPr>
          <a:xfrm>
            <a:off x="8778240" y="1097280"/>
            <a:ext cx="2377440" cy="411480"/>
          </a:xfrm>
          <a:prstGeom prst="rect">
            <a:avLst/>
          </a:prstGeom>
          <a:solidFill>
            <a:srgbClr val="00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0" y="1097280"/>
            <a:ext cx="2194560" cy="411480"/>
          </a:xfrm>
          <a:prstGeom prst="rect">
            <a:avLst/>
          </a:prstGeom>
          <a:noFill/>
        </p:spPr>
        <p:txBody>
          <a:bodyPr wrap="square">
            <a:spAutoFit/>
          </a:bodyPr>
          <a:lstStyle/>
          <a:p>
            <a:pPr algn="ctr">
              <a:spcAft>
                <a:spcPts val="400"/>
              </a:spcAft>
              <a:defRPr sz="1100" b="1">
                <a:solidFill>
                  <a:srgbClr val="FFFFFF"/>
                </a:solidFill>
                <a:latin typeface="Calibri"/>
              </a:defRPr>
            </a:pPr>
            <a:r>
              <a:t>React Native</a:t>
            </a:r>
          </a:p>
        </p:txBody>
      </p:sp>
      <p:sp>
        <p:nvSpPr>
          <p:cNvPr id="11" name="Rectangle 10"/>
          <p:cNvSpPr/>
          <p:nvPr/>
        </p:nvSpPr>
        <p:spPr>
          <a:xfrm>
            <a:off x="731520" y="1554480"/>
            <a:ext cx="10698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600200"/>
            <a:ext cx="2743200" cy="320040"/>
          </a:xfrm>
          <a:prstGeom prst="rect">
            <a:avLst/>
          </a:prstGeom>
          <a:noFill/>
        </p:spPr>
        <p:txBody>
          <a:bodyPr wrap="square">
            <a:spAutoFit/>
          </a:bodyPr>
          <a:lstStyle/>
          <a:p>
            <a:pPr algn="l">
              <a:spcAft>
                <a:spcPts val="400"/>
              </a:spcAft>
              <a:defRPr sz="1000" b="1">
                <a:solidFill>
                  <a:srgbClr val="1A1A1A"/>
                </a:solidFill>
                <a:latin typeface="Calibri"/>
              </a:defRPr>
            </a:pPr>
            <a:r>
              <a:t>Temps (Ronald seul)</a:t>
            </a:r>
          </a:p>
        </p:txBody>
      </p:sp>
      <p:sp>
        <p:nvSpPr>
          <p:cNvPr id="13" name="TextBox 12"/>
          <p:cNvSpPr txBox="1"/>
          <p:nvPr/>
        </p:nvSpPr>
        <p:spPr>
          <a:xfrm>
            <a:off x="3749040" y="1600200"/>
            <a:ext cx="2194560" cy="320040"/>
          </a:xfrm>
          <a:prstGeom prst="rect">
            <a:avLst/>
          </a:prstGeom>
          <a:noFill/>
        </p:spPr>
        <p:txBody>
          <a:bodyPr wrap="square">
            <a:spAutoFit/>
          </a:bodyPr>
          <a:lstStyle/>
          <a:p>
            <a:pPr algn="ctr">
              <a:spcAft>
                <a:spcPts val="400"/>
              </a:spcAft>
              <a:defRPr sz="1000" b="1">
                <a:solidFill>
                  <a:srgbClr val="008F78"/>
                </a:solidFill>
                <a:latin typeface="Calibri"/>
              </a:defRPr>
            </a:pPr>
            <a:r>
              <a:t>1 jour ⚡</a:t>
            </a:r>
          </a:p>
        </p:txBody>
      </p:sp>
      <p:sp>
        <p:nvSpPr>
          <p:cNvPr id="14" name="TextBox 13"/>
          <p:cNvSpPr txBox="1"/>
          <p:nvPr/>
        </p:nvSpPr>
        <p:spPr>
          <a:xfrm>
            <a:off x="6309360" y="1600200"/>
            <a:ext cx="2194560" cy="320040"/>
          </a:xfrm>
          <a:prstGeom prst="rect">
            <a:avLst/>
          </a:prstGeom>
          <a:noFill/>
        </p:spPr>
        <p:txBody>
          <a:bodyPr wrap="square">
            <a:spAutoFit/>
          </a:bodyPr>
          <a:lstStyle/>
          <a:p>
            <a:pPr algn="ctr">
              <a:spcAft>
                <a:spcPts val="400"/>
              </a:spcAft>
              <a:defRPr sz="1000" b="0">
                <a:solidFill>
                  <a:srgbClr val="6B6B6B"/>
                </a:solidFill>
                <a:latin typeface="Calibri"/>
              </a:defRPr>
            </a:pPr>
            <a:r>
              <a:t>3-4 jours</a:t>
            </a:r>
          </a:p>
        </p:txBody>
      </p:sp>
      <p:sp>
        <p:nvSpPr>
          <p:cNvPr id="15" name="TextBox 14"/>
          <p:cNvSpPr txBox="1"/>
          <p:nvPr/>
        </p:nvSpPr>
        <p:spPr>
          <a:xfrm>
            <a:off x="8869680" y="1600200"/>
            <a:ext cx="2194560" cy="320040"/>
          </a:xfrm>
          <a:prstGeom prst="rect">
            <a:avLst/>
          </a:prstGeom>
          <a:noFill/>
        </p:spPr>
        <p:txBody>
          <a:bodyPr wrap="square">
            <a:spAutoFit/>
          </a:bodyPr>
          <a:lstStyle/>
          <a:p>
            <a:pPr algn="ctr">
              <a:spcAft>
                <a:spcPts val="400"/>
              </a:spcAft>
              <a:defRPr sz="1000" b="0">
                <a:solidFill>
                  <a:srgbClr val="6B6B6B"/>
                </a:solidFill>
                <a:latin typeface="Calibri"/>
              </a:defRPr>
            </a:pPr>
            <a:r>
              <a:t>2-4 semaines</a:t>
            </a:r>
          </a:p>
        </p:txBody>
      </p:sp>
      <p:sp>
        <p:nvSpPr>
          <p:cNvPr id="16" name="Rectangle 15"/>
          <p:cNvSpPr/>
          <p:nvPr/>
        </p:nvSpPr>
        <p:spPr>
          <a:xfrm>
            <a:off x="731520" y="1993392"/>
            <a:ext cx="10698480" cy="411480"/>
          </a:xfrm>
          <a:prstGeom prst="rect">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039112"/>
            <a:ext cx="2743200" cy="320040"/>
          </a:xfrm>
          <a:prstGeom prst="rect">
            <a:avLst/>
          </a:prstGeom>
          <a:noFill/>
        </p:spPr>
        <p:txBody>
          <a:bodyPr wrap="square">
            <a:spAutoFit/>
          </a:bodyPr>
          <a:lstStyle/>
          <a:p>
            <a:pPr algn="l">
              <a:spcAft>
                <a:spcPts val="400"/>
              </a:spcAft>
              <a:defRPr sz="1000" b="1">
                <a:solidFill>
                  <a:srgbClr val="1A1A1A"/>
                </a:solidFill>
                <a:latin typeface="Calibri"/>
              </a:defRPr>
            </a:pPr>
            <a:r>
              <a:t>Code à réécrire</a:t>
            </a:r>
          </a:p>
        </p:txBody>
      </p:sp>
      <p:sp>
        <p:nvSpPr>
          <p:cNvPr id="18" name="TextBox 17"/>
          <p:cNvSpPr txBox="1"/>
          <p:nvPr/>
        </p:nvSpPr>
        <p:spPr>
          <a:xfrm>
            <a:off x="3749040" y="2039112"/>
            <a:ext cx="2194560" cy="320040"/>
          </a:xfrm>
          <a:prstGeom prst="rect">
            <a:avLst/>
          </a:prstGeom>
          <a:noFill/>
        </p:spPr>
        <p:txBody>
          <a:bodyPr wrap="square">
            <a:spAutoFit/>
          </a:bodyPr>
          <a:lstStyle/>
          <a:p>
            <a:pPr algn="ctr">
              <a:spcAft>
                <a:spcPts val="400"/>
              </a:spcAft>
              <a:defRPr sz="1000" b="0">
                <a:solidFill>
                  <a:srgbClr val="6B6B6B"/>
                </a:solidFill>
                <a:latin typeface="Calibri"/>
              </a:defRPr>
            </a:pPr>
            <a:r>
              <a:t>0%</a:t>
            </a:r>
          </a:p>
        </p:txBody>
      </p:sp>
      <p:sp>
        <p:nvSpPr>
          <p:cNvPr id="19" name="TextBox 18"/>
          <p:cNvSpPr txBox="1"/>
          <p:nvPr/>
        </p:nvSpPr>
        <p:spPr>
          <a:xfrm>
            <a:off x="6309360" y="2039112"/>
            <a:ext cx="2194560" cy="320040"/>
          </a:xfrm>
          <a:prstGeom prst="rect">
            <a:avLst/>
          </a:prstGeom>
          <a:noFill/>
        </p:spPr>
        <p:txBody>
          <a:bodyPr wrap="square">
            <a:spAutoFit/>
          </a:bodyPr>
          <a:lstStyle/>
          <a:p>
            <a:pPr algn="ctr">
              <a:spcAft>
                <a:spcPts val="400"/>
              </a:spcAft>
              <a:defRPr sz="1000" b="0">
                <a:solidFill>
                  <a:srgbClr val="6B6B6B"/>
                </a:solidFill>
                <a:latin typeface="Calibri"/>
              </a:defRPr>
            </a:pPr>
            <a:r>
              <a:t>~5% (plugins)</a:t>
            </a:r>
          </a:p>
        </p:txBody>
      </p:sp>
      <p:sp>
        <p:nvSpPr>
          <p:cNvPr id="20" name="TextBox 19"/>
          <p:cNvSpPr txBox="1"/>
          <p:nvPr/>
        </p:nvSpPr>
        <p:spPr>
          <a:xfrm>
            <a:off x="8869680" y="2039112"/>
            <a:ext cx="2194560" cy="320040"/>
          </a:xfrm>
          <a:prstGeom prst="rect">
            <a:avLst/>
          </a:prstGeom>
          <a:noFill/>
        </p:spPr>
        <p:txBody>
          <a:bodyPr wrap="square">
            <a:spAutoFit/>
          </a:bodyPr>
          <a:lstStyle/>
          <a:p>
            <a:pPr algn="ctr">
              <a:spcAft>
                <a:spcPts val="400"/>
              </a:spcAft>
              <a:defRPr sz="1000" b="0">
                <a:solidFill>
                  <a:srgbClr val="6B6B6B"/>
                </a:solidFill>
                <a:latin typeface="Calibri"/>
              </a:defRPr>
            </a:pPr>
            <a:r>
              <a:t>~60% (toute l'UI)</a:t>
            </a:r>
          </a:p>
        </p:txBody>
      </p:sp>
      <p:sp>
        <p:nvSpPr>
          <p:cNvPr id="21" name="Rectangle 20"/>
          <p:cNvSpPr/>
          <p:nvPr/>
        </p:nvSpPr>
        <p:spPr>
          <a:xfrm>
            <a:off x="731520" y="2432304"/>
            <a:ext cx="10698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2478024"/>
            <a:ext cx="2743200" cy="320040"/>
          </a:xfrm>
          <a:prstGeom prst="rect">
            <a:avLst/>
          </a:prstGeom>
          <a:noFill/>
        </p:spPr>
        <p:txBody>
          <a:bodyPr wrap="square">
            <a:spAutoFit/>
          </a:bodyPr>
          <a:lstStyle/>
          <a:p>
            <a:pPr algn="l">
              <a:spcAft>
                <a:spcPts val="400"/>
              </a:spcAft>
              <a:defRPr sz="1000" b="1">
                <a:solidFill>
                  <a:srgbClr val="1A1A1A"/>
                </a:solidFill>
                <a:latin typeface="Calibri"/>
              </a:defRPr>
            </a:pPr>
            <a:r>
              <a:t>NFC ?</a:t>
            </a:r>
          </a:p>
        </p:txBody>
      </p:sp>
      <p:sp>
        <p:nvSpPr>
          <p:cNvPr id="23" name="TextBox 22"/>
          <p:cNvSpPr txBox="1"/>
          <p:nvPr/>
        </p:nvSpPr>
        <p:spPr>
          <a:xfrm>
            <a:off x="3749040" y="2478024"/>
            <a:ext cx="2194560" cy="320040"/>
          </a:xfrm>
          <a:prstGeom prst="rect">
            <a:avLst/>
          </a:prstGeom>
          <a:noFill/>
        </p:spPr>
        <p:txBody>
          <a:bodyPr wrap="square">
            <a:spAutoFit/>
          </a:bodyPr>
          <a:lstStyle/>
          <a:p>
            <a:pPr algn="ctr">
              <a:spcAft>
                <a:spcPts val="400"/>
              </a:spcAft>
              <a:defRPr sz="1000" b="0">
                <a:solidFill>
                  <a:srgbClr val="DC2626"/>
                </a:solidFill>
                <a:latin typeface="Calibri"/>
              </a:defRPr>
            </a:pPr>
            <a:r>
              <a:t>❌</a:t>
            </a:r>
          </a:p>
        </p:txBody>
      </p:sp>
      <p:sp>
        <p:nvSpPr>
          <p:cNvPr id="24" name="TextBox 23"/>
          <p:cNvSpPr txBox="1"/>
          <p:nvPr/>
        </p:nvSpPr>
        <p:spPr>
          <a:xfrm>
            <a:off x="6309360" y="2478024"/>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a:t>
            </a:r>
          </a:p>
        </p:txBody>
      </p:sp>
      <p:sp>
        <p:nvSpPr>
          <p:cNvPr id="25" name="TextBox 24"/>
          <p:cNvSpPr txBox="1"/>
          <p:nvPr/>
        </p:nvSpPr>
        <p:spPr>
          <a:xfrm>
            <a:off x="8869680" y="2478024"/>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a:t>
            </a:r>
          </a:p>
        </p:txBody>
      </p:sp>
      <p:sp>
        <p:nvSpPr>
          <p:cNvPr id="26" name="Rectangle 25"/>
          <p:cNvSpPr/>
          <p:nvPr/>
        </p:nvSpPr>
        <p:spPr>
          <a:xfrm>
            <a:off x="731520" y="2871216"/>
            <a:ext cx="10698480" cy="411480"/>
          </a:xfrm>
          <a:prstGeom prst="rect">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2916936"/>
            <a:ext cx="2743200" cy="320040"/>
          </a:xfrm>
          <a:prstGeom prst="rect">
            <a:avLst/>
          </a:prstGeom>
          <a:noFill/>
        </p:spPr>
        <p:txBody>
          <a:bodyPr wrap="square">
            <a:spAutoFit/>
          </a:bodyPr>
          <a:lstStyle/>
          <a:p>
            <a:pPr algn="l">
              <a:spcAft>
                <a:spcPts val="400"/>
              </a:spcAft>
              <a:defRPr sz="1000" b="1">
                <a:solidFill>
                  <a:srgbClr val="1A1A1A"/>
                </a:solidFill>
                <a:latin typeface="Calibri"/>
              </a:defRPr>
            </a:pPr>
            <a:r>
              <a:t>Notifications push</a:t>
            </a:r>
          </a:p>
        </p:txBody>
      </p:sp>
      <p:sp>
        <p:nvSpPr>
          <p:cNvPr id="28" name="TextBox 27"/>
          <p:cNvSpPr txBox="1"/>
          <p:nvPr/>
        </p:nvSpPr>
        <p:spPr>
          <a:xfrm>
            <a:off x="3749040" y="2916936"/>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 Web</a:t>
            </a:r>
          </a:p>
        </p:txBody>
      </p:sp>
      <p:sp>
        <p:nvSpPr>
          <p:cNvPr id="29" name="TextBox 28"/>
          <p:cNvSpPr txBox="1"/>
          <p:nvPr/>
        </p:nvSpPr>
        <p:spPr>
          <a:xfrm>
            <a:off x="6309360" y="2916936"/>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 Natives</a:t>
            </a:r>
          </a:p>
        </p:txBody>
      </p:sp>
      <p:sp>
        <p:nvSpPr>
          <p:cNvPr id="30" name="TextBox 29"/>
          <p:cNvSpPr txBox="1"/>
          <p:nvPr/>
        </p:nvSpPr>
        <p:spPr>
          <a:xfrm>
            <a:off x="8869680" y="2916936"/>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 Natives</a:t>
            </a:r>
          </a:p>
        </p:txBody>
      </p:sp>
      <p:sp>
        <p:nvSpPr>
          <p:cNvPr id="31" name="Rectangle 30"/>
          <p:cNvSpPr/>
          <p:nvPr/>
        </p:nvSpPr>
        <p:spPr>
          <a:xfrm>
            <a:off x="731520" y="3310128"/>
            <a:ext cx="10698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3355848"/>
            <a:ext cx="2743200" cy="320040"/>
          </a:xfrm>
          <a:prstGeom prst="rect">
            <a:avLst/>
          </a:prstGeom>
          <a:noFill/>
        </p:spPr>
        <p:txBody>
          <a:bodyPr wrap="square">
            <a:spAutoFit/>
          </a:bodyPr>
          <a:lstStyle/>
          <a:p>
            <a:pPr algn="l">
              <a:spcAft>
                <a:spcPts val="400"/>
              </a:spcAft>
              <a:defRPr sz="1000" b="1">
                <a:solidFill>
                  <a:srgbClr val="1A1A1A"/>
                </a:solidFill>
                <a:latin typeface="Calibri"/>
              </a:defRPr>
            </a:pPr>
            <a:r>
              <a:t>Hors-ligne</a:t>
            </a:r>
          </a:p>
        </p:txBody>
      </p:sp>
      <p:sp>
        <p:nvSpPr>
          <p:cNvPr id="33" name="TextBox 32"/>
          <p:cNvSpPr txBox="1"/>
          <p:nvPr/>
        </p:nvSpPr>
        <p:spPr>
          <a:xfrm>
            <a:off x="3749040" y="3355848"/>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a:t>
            </a:r>
          </a:p>
        </p:txBody>
      </p:sp>
      <p:sp>
        <p:nvSpPr>
          <p:cNvPr id="34" name="TextBox 33"/>
          <p:cNvSpPr txBox="1"/>
          <p:nvPr/>
        </p:nvSpPr>
        <p:spPr>
          <a:xfrm>
            <a:off x="6309360" y="3355848"/>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a:t>
            </a:r>
          </a:p>
        </p:txBody>
      </p:sp>
      <p:sp>
        <p:nvSpPr>
          <p:cNvPr id="35" name="TextBox 34"/>
          <p:cNvSpPr txBox="1"/>
          <p:nvPr/>
        </p:nvSpPr>
        <p:spPr>
          <a:xfrm>
            <a:off x="8869680" y="3355848"/>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a:t>
            </a:r>
          </a:p>
        </p:txBody>
      </p:sp>
      <p:sp>
        <p:nvSpPr>
          <p:cNvPr id="36" name="Rectangle 35"/>
          <p:cNvSpPr/>
          <p:nvPr/>
        </p:nvSpPr>
        <p:spPr>
          <a:xfrm>
            <a:off x="731520" y="3749040"/>
            <a:ext cx="10698480" cy="411480"/>
          </a:xfrm>
          <a:prstGeom prst="rect">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3794760"/>
            <a:ext cx="2743200" cy="320040"/>
          </a:xfrm>
          <a:prstGeom prst="rect">
            <a:avLst/>
          </a:prstGeom>
          <a:noFill/>
        </p:spPr>
        <p:txBody>
          <a:bodyPr wrap="square">
            <a:spAutoFit/>
          </a:bodyPr>
          <a:lstStyle/>
          <a:p>
            <a:pPr algn="l">
              <a:spcAft>
                <a:spcPts val="400"/>
              </a:spcAft>
              <a:defRPr sz="1000" b="1">
                <a:solidFill>
                  <a:srgbClr val="1A1A1A"/>
                </a:solidFill>
                <a:latin typeface="Calibri"/>
              </a:defRPr>
            </a:pPr>
            <a:r>
              <a:t>Compte Apple (99€/an)</a:t>
            </a:r>
          </a:p>
        </p:txBody>
      </p:sp>
      <p:sp>
        <p:nvSpPr>
          <p:cNvPr id="38" name="TextBox 37"/>
          <p:cNvSpPr txBox="1"/>
          <p:nvPr/>
        </p:nvSpPr>
        <p:spPr>
          <a:xfrm>
            <a:off x="3749040" y="3794760"/>
            <a:ext cx="2194560" cy="320040"/>
          </a:xfrm>
          <a:prstGeom prst="rect">
            <a:avLst/>
          </a:prstGeom>
          <a:noFill/>
        </p:spPr>
        <p:txBody>
          <a:bodyPr wrap="square">
            <a:spAutoFit/>
          </a:bodyPr>
          <a:lstStyle/>
          <a:p>
            <a:pPr algn="ctr">
              <a:spcAft>
                <a:spcPts val="400"/>
              </a:spcAft>
              <a:defRPr sz="1000" b="0">
                <a:solidFill>
                  <a:srgbClr val="DC2626"/>
                </a:solidFill>
                <a:latin typeface="Calibri"/>
              </a:defRPr>
            </a:pPr>
            <a:r>
              <a:t>❌</a:t>
            </a:r>
          </a:p>
        </p:txBody>
      </p:sp>
      <p:sp>
        <p:nvSpPr>
          <p:cNvPr id="39" name="TextBox 38"/>
          <p:cNvSpPr txBox="1"/>
          <p:nvPr/>
        </p:nvSpPr>
        <p:spPr>
          <a:xfrm>
            <a:off x="6309360" y="3794760"/>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 OBLIGATOIRE</a:t>
            </a:r>
          </a:p>
        </p:txBody>
      </p:sp>
      <p:sp>
        <p:nvSpPr>
          <p:cNvPr id="40" name="TextBox 39"/>
          <p:cNvSpPr txBox="1"/>
          <p:nvPr/>
        </p:nvSpPr>
        <p:spPr>
          <a:xfrm>
            <a:off x="8869680" y="3794760"/>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 OBLIGATOIRE</a:t>
            </a:r>
          </a:p>
        </p:txBody>
      </p:sp>
      <p:sp>
        <p:nvSpPr>
          <p:cNvPr id="41" name="Rectangle 40"/>
          <p:cNvSpPr/>
          <p:nvPr/>
        </p:nvSpPr>
        <p:spPr>
          <a:xfrm>
            <a:off x="731520" y="4187952"/>
            <a:ext cx="10698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4233672"/>
            <a:ext cx="2743200" cy="320040"/>
          </a:xfrm>
          <a:prstGeom prst="rect">
            <a:avLst/>
          </a:prstGeom>
          <a:noFill/>
        </p:spPr>
        <p:txBody>
          <a:bodyPr wrap="square">
            <a:spAutoFit/>
          </a:bodyPr>
          <a:lstStyle/>
          <a:p>
            <a:pPr algn="l">
              <a:spcAft>
                <a:spcPts val="400"/>
              </a:spcAft>
              <a:defRPr sz="1000" b="1">
                <a:solidFill>
                  <a:srgbClr val="1A1A1A"/>
                </a:solidFill>
                <a:latin typeface="Calibri"/>
              </a:defRPr>
            </a:pPr>
            <a:r>
              <a:t>Compte Google (25$)</a:t>
            </a:r>
          </a:p>
        </p:txBody>
      </p:sp>
      <p:sp>
        <p:nvSpPr>
          <p:cNvPr id="43" name="TextBox 42"/>
          <p:cNvSpPr txBox="1"/>
          <p:nvPr/>
        </p:nvSpPr>
        <p:spPr>
          <a:xfrm>
            <a:off x="3749040" y="4233672"/>
            <a:ext cx="2194560" cy="320040"/>
          </a:xfrm>
          <a:prstGeom prst="rect">
            <a:avLst/>
          </a:prstGeom>
          <a:noFill/>
        </p:spPr>
        <p:txBody>
          <a:bodyPr wrap="square">
            <a:spAutoFit/>
          </a:bodyPr>
          <a:lstStyle/>
          <a:p>
            <a:pPr algn="ctr">
              <a:spcAft>
                <a:spcPts val="400"/>
              </a:spcAft>
              <a:defRPr sz="1000" b="0">
                <a:solidFill>
                  <a:srgbClr val="DC2626"/>
                </a:solidFill>
                <a:latin typeface="Calibri"/>
              </a:defRPr>
            </a:pPr>
            <a:r>
              <a:t>❌</a:t>
            </a:r>
          </a:p>
        </p:txBody>
      </p:sp>
      <p:sp>
        <p:nvSpPr>
          <p:cNvPr id="44" name="TextBox 43"/>
          <p:cNvSpPr txBox="1"/>
          <p:nvPr/>
        </p:nvSpPr>
        <p:spPr>
          <a:xfrm>
            <a:off x="6309360" y="4233672"/>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a:t>
            </a:r>
          </a:p>
        </p:txBody>
      </p:sp>
      <p:sp>
        <p:nvSpPr>
          <p:cNvPr id="45" name="TextBox 44"/>
          <p:cNvSpPr txBox="1"/>
          <p:nvPr/>
        </p:nvSpPr>
        <p:spPr>
          <a:xfrm>
            <a:off x="8869680" y="4233672"/>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a:t>
            </a:r>
          </a:p>
        </p:txBody>
      </p:sp>
      <p:sp>
        <p:nvSpPr>
          <p:cNvPr id="46" name="Rectangle 45"/>
          <p:cNvSpPr/>
          <p:nvPr/>
        </p:nvSpPr>
        <p:spPr>
          <a:xfrm>
            <a:off x="731520" y="4626864"/>
            <a:ext cx="10698480" cy="411480"/>
          </a:xfrm>
          <a:prstGeom prst="rect">
            <a:avLst/>
          </a:prstGeom>
          <a:solidFill>
            <a:srgbClr val="F0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 y="4672584"/>
            <a:ext cx="2743200" cy="320040"/>
          </a:xfrm>
          <a:prstGeom prst="rect">
            <a:avLst/>
          </a:prstGeom>
          <a:noFill/>
        </p:spPr>
        <p:txBody>
          <a:bodyPr wrap="square">
            <a:spAutoFit/>
          </a:bodyPr>
          <a:lstStyle/>
          <a:p>
            <a:pPr algn="l">
              <a:spcAft>
                <a:spcPts val="400"/>
              </a:spcAft>
              <a:defRPr sz="1000" b="1">
                <a:solidFill>
                  <a:srgbClr val="1A1A1A"/>
                </a:solidFill>
                <a:latin typeface="Calibri"/>
              </a:defRPr>
            </a:pPr>
            <a:r>
              <a:t>App Store / Play Store</a:t>
            </a:r>
          </a:p>
        </p:txBody>
      </p:sp>
      <p:sp>
        <p:nvSpPr>
          <p:cNvPr id="48" name="TextBox 47"/>
          <p:cNvSpPr txBox="1"/>
          <p:nvPr/>
        </p:nvSpPr>
        <p:spPr>
          <a:xfrm>
            <a:off x="3749040" y="4672584"/>
            <a:ext cx="2194560" cy="320040"/>
          </a:xfrm>
          <a:prstGeom prst="rect">
            <a:avLst/>
          </a:prstGeom>
          <a:noFill/>
        </p:spPr>
        <p:txBody>
          <a:bodyPr wrap="square">
            <a:spAutoFit/>
          </a:bodyPr>
          <a:lstStyle/>
          <a:p>
            <a:pPr algn="ctr">
              <a:spcAft>
                <a:spcPts val="400"/>
              </a:spcAft>
              <a:defRPr sz="1000" b="0">
                <a:solidFill>
                  <a:srgbClr val="DC2626"/>
                </a:solidFill>
                <a:latin typeface="Calibri"/>
              </a:defRPr>
            </a:pPr>
            <a:r>
              <a:t>❌ Pas besoin</a:t>
            </a:r>
          </a:p>
        </p:txBody>
      </p:sp>
      <p:sp>
        <p:nvSpPr>
          <p:cNvPr id="49" name="TextBox 48"/>
          <p:cNvSpPr txBox="1"/>
          <p:nvPr/>
        </p:nvSpPr>
        <p:spPr>
          <a:xfrm>
            <a:off x="6309360" y="4672584"/>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 Publiable</a:t>
            </a:r>
          </a:p>
        </p:txBody>
      </p:sp>
      <p:sp>
        <p:nvSpPr>
          <p:cNvPr id="50" name="TextBox 49"/>
          <p:cNvSpPr txBox="1"/>
          <p:nvPr/>
        </p:nvSpPr>
        <p:spPr>
          <a:xfrm>
            <a:off x="8869680" y="4672584"/>
            <a:ext cx="2194560" cy="320040"/>
          </a:xfrm>
          <a:prstGeom prst="rect">
            <a:avLst/>
          </a:prstGeom>
          <a:noFill/>
        </p:spPr>
        <p:txBody>
          <a:bodyPr wrap="square">
            <a:spAutoFit/>
          </a:bodyPr>
          <a:lstStyle/>
          <a:p>
            <a:pPr algn="ctr">
              <a:spcAft>
                <a:spcPts val="400"/>
              </a:spcAft>
              <a:defRPr sz="1000" b="0">
                <a:solidFill>
                  <a:srgbClr val="067854"/>
                </a:solidFill>
                <a:latin typeface="Calibri"/>
              </a:defRPr>
            </a:pPr>
            <a:r>
              <a:t>✅ Publiable</a:t>
            </a:r>
          </a:p>
        </p:txBody>
      </p:sp>
      <p:sp>
        <p:nvSpPr>
          <p:cNvPr id="51" name="Rectangle 50"/>
          <p:cNvSpPr/>
          <p:nvPr/>
        </p:nvSpPr>
        <p:spPr>
          <a:xfrm>
            <a:off x="731520" y="5065776"/>
            <a:ext cx="10698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5111496"/>
            <a:ext cx="2743200" cy="320040"/>
          </a:xfrm>
          <a:prstGeom prst="rect">
            <a:avLst/>
          </a:prstGeom>
          <a:noFill/>
        </p:spPr>
        <p:txBody>
          <a:bodyPr wrap="square">
            <a:spAutoFit/>
          </a:bodyPr>
          <a:lstStyle/>
          <a:p>
            <a:pPr algn="l">
              <a:spcAft>
                <a:spcPts val="400"/>
              </a:spcAft>
              <a:defRPr sz="1000" b="1">
                <a:solidFill>
                  <a:srgbClr val="1A1A1A"/>
                </a:solidFill>
                <a:latin typeface="Calibri"/>
              </a:defRPr>
            </a:pPr>
            <a:r>
              <a:t>Difficulté technique</a:t>
            </a:r>
          </a:p>
        </p:txBody>
      </p:sp>
      <p:sp>
        <p:nvSpPr>
          <p:cNvPr id="53" name="TextBox 52"/>
          <p:cNvSpPr txBox="1"/>
          <p:nvPr/>
        </p:nvSpPr>
        <p:spPr>
          <a:xfrm>
            <a:off x="3749040" y="5111496"/>
            <a:ext cx="2194560" cy="320040"/>
          </a:xfrm>
          <a:prstGeom prst="rect">
            <a:avLst/>
          </a:prstGeom>
          <a:noFill/>
        </p:spPr>
        <p:txBody>
          <a:bodyPr wrap="square">
            <a:spAutoFit/>
          </a:bodyPr>
          <a:lstStyle/>
          <a:p>
            <a:pPr algn="ctr">
              <a:spcAft>
                <a:spcPts val="400"/>
              </a:spcAft>
              <a:defRPr sz="1000" b="0">
                <a:solidFill>
                  <a:srgbClr val="6B6B6B"/>
                </a:solidFill>
                <a:latin typeface="Calibri"/>
              </a:defRPr>
            </a:pPr>
            <a:r>
              <a:t>Facile</a:t>
            </a:r>
          </a:p>
        </p:txBody>
      </p:sp>
      <p:sp>
        <p:nvSpPr>
          <p:cNvPr id="54" name="TextBox 53"/>
          <p:cNvSpPr txBox="1"/>
          <p:nvPr/>
        </p:nvSpPr>
        <p:spPr>
          <a:xfrm>
            <a:off x="6309360" y="5111496"/>
            <a:ext cx="2194560" cy="320040"/>
          </a:xfrm>
          <a:prstGeom prst="rect">
            <a:avLst/>
          </a:prstGeom>
          <a:noFill/>
        </p:spPr>
        <p:txBody>
          <a:bodyPr wrap="square">
            <a:spAutoFit/>
          </a:bodyPr>
          <a:lstStyle/>
          <a:p>
            <a:pPr algn="ctr">
              <a:spcAft>
                <a:spcPts val="400"/>
              </a:spcAft>
              <a:defRPr sz="1000" b="0">
                <a:solidFill>
                  <a:srgbClr val="6B6B6B"/>
                </a:solidFill>
                <a:latin typeface="Calibri"/>
              </a:defRPr>
            </a:pPr>
            <a:r>
              <a:t>Moyen</a:t>
            </a:r>
          </a:p>
        </p:txBody>
      </p:sp>
      <p:sp>
        <p:nvSpPr>
          <p:cNvPr id="55" name="TextBox 54"/>
          <p:cNvSpPr txBox="1"/>
          <p:nvPr/>
        </p:nvSpPr>
        <p:spPr>
          <a:xfrm>
            <a:off x="8869680" y="5111496"/>
            <a:ext cx="2194560" cy="320040"/>
          </a:xfrm>
          <a:prstGeom prst="rect">
            <a:avLst/>
          </a:prstGeom>
          <a:noFill/>
        </p:spPr>
        <p:txBody>
          <a:bodyPr wrap="square">
            <a:spAutoFit/>
          </a:bodyPr>
          <a:lstStyle/>
          <a:p>
            <a:pPr algn="ctr">
              <a:spcAft>
                <a:spcPts val="400"/>
              </a:spcAft>
              <a:defRPr sz="1000" b="0">
                <a:solidFill>
                  <a:srgbClr val="6B6B6B"/>
                </a:solidFill>
                <a:latin typeface="Calibri"/>
              </a:defRPr>
            </a:pPr>
            <a:r>
              <a:t>Avancé</a:t>
            </a:r>
          </a:p>
        </p:txBody>
      </p:sp>
      <p:sp>
        <p:nvSpPr>
          <p:cNvPr id="56" name="Rectangle 55"/>
          <p:cNvSpPr/>
          <p:nvPr/>
        </p:nvSpPr>
        <p:spPr>
          <a:xfrm>
            <a:off x="731520" y="5504688"/>
            <a:ext cx="10698480" cy="411480"/>
          </a:xfrm>
          <a:prstGeom prst="rect">
            <a:avLst/>
          </a:prstGeom>
          <a:solidFill>
            <a:srgbClr val="F0EDE8"/>
          </a:solidFill>
          <a:ln w="12700">
            <a:solidFill>
              <a:srgbClr val="2BB2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 y="5550408"/>
            <a:ext cx="2743200" cy="320040"/>
          </a:xfrm>
          <a:prstGeom prst="rect">
            <a:avLst/>
          </a:prstGeom>
          <a:noFill/>
        </p:spPr>
        <p:txBody>
          <a:bodyPr wrap="square">
            <a:spAutoFit/>
          </a:bodyPr>
          <a:lstStyle/>
          <a:p>
            <a:pPr algn="l">
              <a:spcAft>
                <a:spcPts val="400"/>
              </a:spcAft>
              <a:defRPr sz="1000" b="1">
                <a:solidFill>
                  <a:srgbClr val="1A1A1A"/>
                </a:solidFill>
                <a:latin typeface="Calibri"/>
              </a:defRPr>
            </a:pPr>
            <a:r>
              <a:t>Quand choisir ?</a:t>
            </a:r>
          </a:p>
        </p:txBody>
      </p:sp>
      <p:sp>
        <p:nvSpPr>
          <p:cNvPr id="58" name="TextBox 57"/>
          <p:cNvSpPr txBox="1"/>
          <p:nvPr/>
        </p:nvSpPr>
        <p:spPr>
          <a:xfrm>
            <a:off x="3749040" y="5550408"/>
            <a:ext cx="2194560" cy="320040"/>
          </a:xfrm>
          <a:prstGeom prst="rect">
            <a:avLst/>
          </a:prstGeom>
          <a:noFill/>
        </p:spPr>
        <p:txBody>
          <a:bodyPr wrap="square">
            <a:spAutoFit/>
          </a:bodyPr>
          <a:lstStyle/>
          <a:p>
            <a:pPr algn="ctr">
              <a:spcAft>
                <a:spcPts val="400"/>
              </a:spcAft>
              <a:defRPr sz="1000" b="0">
                <a:solidFill>
                  <a:srgbClr val="6B6B6B"/>
                </a:solidFill>
                <a:latin typeface="Calibri"/>
              </a:defRPr>
            </a:pPr>
            <a:r>
              <a:t>Démo rapide</a:t>
            </a:r>
          </a:p>
        </p:txBody>
      </p:sp>
      <p:sp>
        <p:nvSpPr>
          <p:cNvPr id="59" name="TextBox 58"/>
          <p:cNvSpPr txBox="1"/>
          <p:nvPr/>
        </p:nvSpPr>
        <p:spPr>
          <a:xfrm>
            <a:off x="6309360" y="5550408"/>
            <a:ext cx="2194560" cy="320040"/>
          </a:xfrm>
          <a:prstGeom prst="rect">
            <a:avLst/>
          </a:prstGeom>
          <a:noFill/>
        </p:spPr>
        <p:txBody>
          <a:bodyPr wrap="square">
            <a:spAutoFit/>
          </a:bodyPr>
          <a:lstStyle/>
          <a:p>
            <a:pPr algn="ctr">
              <a:spcAft>
                <a:spcPts val="400"/>
              </a:spcAft>
              <a:defRPr sz="1000" b="1">
                <a:solidFill>
                  <a:srgbClr val="008F78"/>
                </a:solidFill>
                <a:latin typeface="Calibri"/>
              </a:defRPr>
            </a:pPr>
            <a:r>
              <a:t>🚀 RECOMMANDÉ</a:t>
            </a:r>
          </a:p>
        </p:txBody>
      </p:sp>
      <p:sp>
        <p:nvSpPr>
          <p:cNvPr id="60" name="TextBox 59"/>
          <p:cNvSpPr txBox="1"/>
          <p:nvPr/>
        </p:nvSpPr>
        <p:spPr>
          <a:xfrm>
            <a:off x="8869680" y="5550408"/>
            <a:ext cx="2194560" cy="320040"/>
          </a:xfrm>
          <a:prstGeom prst="rect">
            <a:avLst/>
          </a:prstGeom>
          <a:noFill/>
        </p:spPr>
        <p:txBody>
          <a:bodyPr wrap="square">
            <a:spAutoFit/>
          </a:bodyPr>
          <a:lstStyle/>
          <a:p>
            <a:pPr algn="ctr">
              <a:spcAft>
                <a:spcPts val="400"/>
              </a:spcAft>
              <a:defRPr sz="1000" b="0">
                <a:solidFill>
                  <a:srgbClr val="6B6B6B"/>
                </a:solidFill>
                <a:latin typeface="Calibri"/>
              </a:defRPr>
            </a:pPr>
            <a:r>
              <a:t>Scale 10k+ users</a:t>
            </a:r>
          </a:p>
        </p:txBody>
      </p:sp>
      <p:sp>
        <p:nvSpPr>
          <p:cNvPr id="61" name="Rounded Rectangle 60"/>
          <p:cNvSpPr/>
          <p:nvPr/>
        </p:nvSpPr>
        <p:spPr>
          <a:xfrm>
            <a:off x="731520" y="5833872"/>
            <a:ext cx="10698480" cy="502920"/>
          </a:xfrm>
          <a:prstGeom prst="roundRect">
            <a:avLst>
              <a:gd name="adj" fmla="val 2000"/>
            </a:avLst>
          </a:prstGeom>
          <a:solidFill>
            <a:srgbClr val="ECFDF5"/>
          </a:solidFill>
          <a:ln w="12700">
            <a:solidFill>
              <a:srgbClr val="2BB2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2960" y="5852160"/>
            <a:ext cx="10515600" cy="457200"/>
          </a:xfrm>
          <a:prstGeom prst="rect">
            <a:avLst/>
          </a:prstGeom>
          <a:noFill/>
        </p:spPr>
        <p:txBody>
          <a:bodyPr wrap="square">
            <a:spAutoFit/>
          </a:bodyPr>
          <a:lstStyle/>
          <a:p>
            <a:pPr algn="ctr">
              <a:spcAft>
                <a:spcPts val="400"/>
              </a:spcAft>
              <a:defRPr sz="1300" b="1">
                <a:solidFill>
                  <a:srgbClr val="008F78"/>
                </a:solidFill>
                <a:latin typeface="Calibri"/>
              </a:defRPr>
            </a:pPr>
            <a:r>
              <a:t>🎯 Verdict : Capacitor est le meilleur rapport temps/bénéfice pour TimeHeroes. NFC natif + 3-4 jours de travail + 0€ de main-d'œuvre.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spcAft>
                <a:spcPts val="400"/>
              </a:spcAft>
              <a:defRPr sz="3000" b="1">
                <a:solidFill>
                  <a:srgbClr val="1A1A1A"/>
                </a:solidFill>
                <a:latin typeface="Calibri Light"/>
              </a:defRPr>
            </a:pPr>
            <a:r>
              <a:t>📡 Focus : NFC — c'est quoi ?</a:t>
            </a:r>
          </a:p>
        </p:txBody>
      </p:sp>
      <p:sp>
        <p:nvSpPr>
          <p:cNvPr id="3" name="TextBox 2"/>
          <p:cNvSpPr txBox="1"/>
          <p:nvPr/>
        </p:nvSpPr>
        <p:spPr>
          <a:xfrm>
            <a:off x="731520" y="1005840"/>
            <a:ext cx="10972800" cy="457200"/>
          </a:xfrm>
          <a:prstGeom prst="rect">
            <a:avLst/>
          </a:prstGeom>
          <a:noFill/>
        </p:spPr>
        <p:txBody>
          <a:bodyPr wrap="square">
            <a:spAutoFit/>
          </a:bodyPr>
          <a:lstStyle/>
          <a:p>
            <a:pPr algn="l">
              <a:spcAft>
                <a:spcPts val="400"/>
              </a:spcAft>
              <a:defRPr sz="1400" b="0">
                <a:solidFill>
                  <a:srgbClr val="6B6B6B"/>
                </a:solidFill>
                <a:latin typeface="Calibri"/>
              </a:defRPr>
            </a:pPr>
            <a:r>
              <a:t>Le NFC (Near Field Communication) est la technologie derrière le paiement sans contact. Même principe, mais pour valider les missions.</a:t>
            </a:r>
          </a:p>
        </p:txBody>
      </p:sp>
      <p:sp>
        <p:nvSpPr>
          <p:cNvPr id="4" name="Rounded Rectangle 3"/>
          <p:cNvSpPr/>
          <p:nvPr/>
        </p:nvSpPr>
        <p:spPr>
          <a:xfrm>
            <a:off x="731520" y="1645920"/>
            <a:ext cx="5029200" cy="457200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572000" cy="4389120"/>
          </a:xfrm>
          <a:prstGeom prst="rect">
            <a:avLst/>
          </a:prstGeom>
          <a:noFill/>
        </p:spPr>
        <p:txBody>
          <a:bodyPr wrap="square">
            <a:spAutoFit/>
          </a:bodyPr>
          <a:lstStyle/>
          <a:p>
            <a:pPr algn="l">
              <a:spcAft>
                <a:spcPts val="400"/>
              </a:spcAft>
              <a:defRPr sz="1600" b="1">
                <a:solidFill>
                  <a:srgbClr val="1A1A1A"/>
                </a:solidFill>
                <a:latin typeface="Calibri Light"/>
              </a:defRPr>
            </a:pPr>
            <a:r>
              <a:t>📱 Le scénario NFC pour TimeHeroes :</a:t>
            </a:r>
          </a:p>
          <a:p>
            <a:pPr algn="l">
              <a:spcAft>
                <a:spcPts val="400"/>
              </a:spcAft>
              <a:defRPr sz="600" b="0">
                <a:solidFill>
                  <a:srgbClr val="1A1A1A"/>
                </a:solidFill>
                <a:latin typeface="Calibri"/>
              </a:defRPr>
            </a:pPr>
          </a:p>
          <a:p>
            <a:pPr algn="l">
              <a:spcAft>
                <a:spcPts val="400"/>
              </a:spcAft>
              <a:defRPr sz="1100" b="0">
                <a:solidFill>
                  <a:srgbClr val="6B6B6B"/>
                </a:solidFill>
                <a:latin typeface="Calibri"/>
              </a:defRPr>
            </a:pPr>
            <a:r>
              <a:t>1️⃣ Karim (bénévole) vient chez Mme Martin pour l'aider avec son smartphone.</a:t>
            </a:r>
          </a:p>
          <a:p>
            <a:pPr algn="l">
              <a:spcAft>
                <a:spcPts val="400"/>
              </a:spcAft>
              <a:defRPr sz="1100" b="0">
                <a:solidFill>
                  <a:srgbClr val="6B6B6B"/>
                </a:solidFill>
                <a:latin typeface="Calibri"/>
              </a:defRPr>
            </a:pPr>
            <a:r>
              <a:t>2️⃣ La mission est terminée. Karim ouvre l'app TimeHeroes → clique sur "Valider"</a:t>
            </a:r>
          </a:p>
          <a:p>
            <a:pPr algn="l">
              <a:spcAft>
                <a:spcPts val="400"/>
              </a:spcAft>
              <a:defRPr sz="1100" b="0">
                <a:solidFill>
                  <a:srgbClr val="6B6B6B"/>
                </a:solidFill>
                <a:latin typeface="Calibri"/>
              </a:defRPr>
            </a:pPr>
            <a:r>
              <a:t>3️⃣ Mme Martin approche son téléphone du téléphone de Karim (comme pour payer en sans contact)</a:t>
            </a:r>
          </a:p>
          <a:p>
            <a:pPr algn="l">
              <a:spcAft>
                <a:spcPts val="400"/>
              </a:spcAft>
              <a:defRPr sz="1100" b="1">
                <a:solidFill>
                  <a:srgbClr val="2BB286"/>
                </a:solidFill>
                <a:latin typeface="Calibri"/>
              </a:defRPr>
            </a:pPr>
            <a:r>
              <a:t>4️⃣ *BIP* — La mission est validée ! Les TIME sont libérés.</a:t>
            </a:r>
          </a:p>
          <a:p>
            <a:pPr algn="l">
              <a:spcAft>
                <a:spcPts val="400"/>
              </a:spcAft>
              <a:defRPr sz="600" b="0">
                <a:solidFill>
                  <a:srgbClr val="1A1A1A"/>
                </a:solidFill>
                <a:latin typeface="Calibri"/>
              </a:defRPr>
            </a:pPr>
          </a:p>
          <a:p>
            <a:pPr algn="l">
              <a:spcAft>
                <a:spcPts val="400"/>
              </a:spcAft>
              <a:defRPr sz="1400" b="1">
                <a:solidFill>
                  <a:srgbClr val="1A1A1A"/>
                </a:solidFill>
                <a:latin typeface="Calibri Light"/>
              </a:defRPr>
            </a:pPr>
            <a:r>
              <a:t>Avantages du NFC par rapport au QR code :</a:t>
            </a:r>
          </a:p>
          <a:p>
            <a:pPr algn="l">
              <a:spcAft>
                <a:spcPts val="400"/>
              </a:spcAft>
              <a:defRPr sz="1100" b="0">
                <a:solidFill>
                  <a:srgbClr val="6B6B6B"/>
                </a:solidFill>
                <a:latin typeface="Calibri"/>
              </a:defRPr>
            </a:pPr>
            <a:r>
              <a:t>• Plus rapide : 0,5 seconde au lieu de 5 secondes</a:t>
            </a:r>
          </a:p>
          <a:p>
            <a:pPr algn="l">
              <a:spcAft>
                <a:spcPts val="400"/>
              </a:spcAft>
              <a:defRPr sz="1100" b="0">
                <a:solidFill>
                  <a:srgbClr val="6B6B6B"/>
                </a:solidFill>
                <a:latin typeface="Calibri"/>
              </a:defRPr>
            </a:pPr>
            <a:r>
              <a:t>• Plus facile : pas besoin d'ouvrir l'app, d'allumer l'écran</a:t>
            </a:r>
          </a:p>
          <a:p>
            <a:pPr algn="l">
              <a:spcAft>
                <a:spcPts val="400"/>
              </a:spcAft>
              <a:defRPr sz="1100" b="0">
                <a:solidFill>
                  <a:srgbClr val="6B6B6B"/>
                </a:solidFill>
                <a:latin typeface="Calibri"/>
              </a:defRPr>
            </a:pPr>
            <a:r>
              <a:t>• Plus fiable : marche même en plein soleil (pas de reflet)</a:t>
            </a:r>
          </a:p>
          <a:p>
            <a:pPr algn="l">
              <a:spcAft>
                <a:spcPts val="400"/>
              </a:spcAft>
              <a:defRPr sz="1100" b="0">
                <a:solidFill>
                  <a:srgbClr val="6B6B6B"/>
                </a:solidFill>
                <a:latin typeface="Calibri"/>
              </a:defRPr>
            </a:pPr>
            <a:r>
              <a:t>• Idéal pour les seniors (pas de manipulation complexe)</a:t>
            </a:r>
          </a:p>
        </p:txBody>
      </p:sp>
      <p:sp>
        <p:nvSpPr>
          <p:cNvPr id="6" name="Rounded Rectangle 5"/>
          <p:cNvSpPr/>
          <p:nvPr/>
        </p:nvSpPr>
        <p:spPr>
          <a:xfrm>
            <a:off x="6126480" y="1645920"/>
            <a:ext cx="5303520" cy="210312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37360"/>
            <a:ext cx="4754880" cy="1920240"/>
          </a:xfrm>
          <a:prstGeom prst="rect">
            <a:avLst/>
          </a:prstGeom>
          <a:noFill/>
        </p:spPr>
        <p:txBody>
          <a:bodyPr wrap="square">
            <a:spAutoFit/>
          </a:bodyPr>
          <a:lstStyle/>
          <a:p>
            <a:pPr algn="l">
              <a:spcAft>
                <a:spcPts val="400"/>
              </a:spcAft>
              <a:defRPr sz="1400" b="1">
                <a:solidFill>
                  <a:srgbClr val="2BB286"/>
                </a:solidFill>
                <a:latin typeface="Calibri Light"/>
              </a:defRPr>
            </a:pPr>
            <a:r>
              <a:t>📷 QR Code (situation actuelle)</a:t>
            </a:r>
          </a:p>
          <a:p>
            <a:pPr algn="l">
              <a:spcAft>
                <a:spcPts val="400"/>
              </a:spcAft>
              <a:defRPr sz="1000" b="0">
                <a:solidFill>
                  <a:srgbClr val="6B6B6B"/>
                </a:solidFill>
                <a:latin typeface="Calibri"/>
              </a:defRPr>
            </a:pPr>
            <a:r>
              <a:t>• Ouvrir l'app SMS / WhatsApp</a:t>
            </a:r>
          </a:p>
          <a:p>
            <a:pPr algn="l">
              <a:spcAft>
                <a:spcPts val="400"/>
              </a:spcAft>
              <a:defRPr sz="1000" b="0">
                <a:solidFill>
                  <a:srgbClr val="6B6B6B"/>
                </a:solidFill>
                <a:latin typeface="Calibri"/>
              </a:defRPr>
            </a:pPr>
            <a:r>
              <a:t>• Le prestataire génère un QR code sur son écran</a:t>
            </a:r>
          </a:p>
          <a:p>
            <a:pPr algn="l">
              <a:spcAft>
                <a:spcPts val="400"/>
              </a:spcAft>
              <a:defRPr sz="1000" b="0">
                <a:solidFill>
                  <a:srgbClr val="6B6B6B"/>
                </a:solidFill>
                <a:latin typeface="Calibri"/>
              </a:defRPr>
            </a:pPr>
            <a:r>
              <a:t>• Le bénéficiaire scanne avec son appareil photo</a:t>
            </a:r>
          </a:p>
          <a:p>
            <a:pPr algn="l">
              <a:spcAft>
                <a:spcPts val="400"/>
              </a:spcAft>
              <a:defRPr sz="1000" b="0">
                <a:solidFill>
                  <a:srgbClr val="6B6B6B"/>
                </a:solidFill>
                <a:latin typeface="Calibri"/>
              </a:defRPr>
            </a:pPr>
            <a:r>
              <a:t>• Cliquer sur le lien → validation</a:t>
            </a:r>
          </a:p>
          <a:p>
            <a:pPr algn="l">
              <a:spcAft>
                <a:spcPts val="400"/>
              </a:spcAft>
              <a:defRPr sz="1000" b="1">
                <a:solidFill>
                  <a:srgbClr val="F59E0B"/>
                </a:solidFill>
                <a:latin typeface="Calibri"/>
              </a:defRPr>
            </a:pPr>
            <a:r>
              <a:t>• ⏱️ ~5-10 secondes</a:t>
            </a:r>
          </a:p>
        </p:txBody>
      </p:sp>
      <p:sp>
        <p:nvSpPr>
          <p:cNvPr id="8" name="Rounded Rectangle 7"/>
          <p:cNvSpPr/>
          <p:nvPr/>
        </p:nvSpPr>
        <p:spPr>
          <a:xfrm>
            <a:off x="6126480" y="3931920"/>
            <a:ext cx="5303520" cy="228600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023360"/>
            <a:ext cx="4754880" cy="2103120"/>
          </a:xfrm>
          <a:prstGeom prst="rect">
            <a:avLst/>
          </a:prstGeom>
          <a:noFill/>
        </p:spPr>
        <p:txBody>
          <a:bodyPr wrap="square">
            <a:spAutoFit/>
          </a:bodyPr>
          <a:lstStyle/>
          <a:p>
            <a:pPr algn="l">
              <a:spcAft>
                <a:spcPts val="400"/>
              </a:spcAft>
              <a:defRPr sz="1400" b="1">
                <a:solidFill>
                  <a:srgbClr val="7C3AED"/>
                </a:solidFill>
                <a:latin typeface="Calibri Light"/>
              </a:defRPr>
            </a:pPr>
            <a:r>
              <a:t>📡 NFC (avec Capacitor)</a:t>
            </a:r>
          </a:p>
          <a:p>
            <a:pPr algn="l">
              <a:spcAft>
                <a:spcPts val="400"/>
              </a:spcAft>
              <a:defRPr sz="1000" b="0">
                <a:solidFill>
                  <a:srgbClr val="6B6B6B"/>
                </a:solidFill>
                <a:latin typeface="Calibri"/>
              </a:defRPr>
            </a:pPr>
            <a:r>
              <a:t>• Ouvrir l'app TimeHeroes</a:t>
            </a:r>
          </a:p>
          <a:p>
            <a:pPr algn="l">
              <a:spcAft>
                <a:spcPts val="400"/>
              </a:spcAft>
              <a:defRPr sz="1000" b="0">
                <a:solidFill>
                  <a:srgbClr val="6B6B6B"/>
                </a:solidFill>
                <a:latin typeface="Calibri"/>
              </a:defRPr>
            </a:pPr>
            <a:r>
              <a:t>• Cliquer sur "Valider par NFC"</a:t>
            </a:r>
          </a:p>
          <a:p>
            <a:pPr algn="l">
              <a:spcAft>
                <a:spcPts val="400"/>
              </a:spcAft>
              <a:defRPr sz="1000" b="0">
                <a:solidFill>
                  <a:srgbClr val="6B6B6B"/>
                </a:solidFill>
                <a:latin typeface="Calibri"/>
              </a:defRPr>
            </a:pPr>
            <a:r>
              <a:t>• Taper les deux téléphones l'un contre l'autre</a:t>
            </a:r>
          </a:p>
          <a:p>
            <a:pPr algn="l">
              <a:spcAft>
                <a:spcPts val="400"/>
              </a:spcAft>
              <a:defRPr sz="1000" b="1">
                <a:solidFill>
                  <a:srgbClr val="2BB286"/>
                </a:solidFill>
                <a:latin typeface="Calibri"/>
              </a:defRPr>
            </a:pPr>
            <a:r>
              <a:t>• *BIP*  Validé !</a:t>
            </a:r>
          </a:p>
          <a:p>
            <a:pPr algn="l">
              <a:spcAft>
                <a:spcPts val="400"/>
              </a:spcAft>
              <a:defRPr sz="1000" b="1">
                <a:solidFill>
                  <a:srgbClr val="2BB286"/>
                </a:solidFill>
                <a:latin typeface="Calibri"/>
              </a:defRPr>
            </a:pPr>
            <a:r>
              <a:t>• ⏱️ ~1 seconde</a:t>
            </a:r>
          </a:p>
          <a:p>
            <a:pPr algn="l">
              <a:spcAft>
                <a:spcPts val="400"/>
              </a:spcAft>
              <a:defRPr sz="400" b="0">
                <a:solidFill>
                  <a:srgbClr val="1A1A1A"/>
                </a:solidFill>
                <a:latin typeface="Calibri"/>
              </a:defRPr>
            </a:pPr>
          </a:p>
          <a:p>
            <a:pPr algn="l">
              <a:spcAft>
                <a:spcPts val="400"/>
              </a:spcAft>
              <a:defRPr sz="1100" b="0">
                <a:solidFill>
                  <a:srgbClr val="6B6B6B"/>
                </a:solidFill>
                <a:latin typeface="Calibri"/>
              </a:defRPr>
            </a:pPr>
            <a:r>
              <a:t>💰 Coût : ~0,30€ par tag NFC autocollant</a:t>
            </a:r>
          </a:p>
          <a:p>
            <a:pPr algn="l">
              <a:spcAft>
                <a:spcPts val="400"/>
              </a:spcAft>
              <a:defRPr sz="1000" b="0">
                <a:solidFill>
                  <a:srgbClr val="9A9A9A"/>
                </a:solidFill>
                <a:latin typeface="Calibri"/>
              </a:defRPr>
            </a:pPr>
            <a:r>
              <a:t>   (on peut coller le tag derrière le téléphone)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spcAft>
                <a:spcPts val="400"/>
              </a:spcAft>
              <a:defRPr sz="3000" b="1">
                <a:solidFill>
                  <a:srgbClr val="1A1A1A"/>
                </a:solidFill>
                <a:latin typeface="Calibri Light"/>
              </a:defRPr>
            </a:pPr>
            <a:r>
              <a:t>🗺️ Roadmap — si Ronald fait tout</a:t>
            </a:r>
          </a:p>
        </p:txBody>
      </p:sp>
      <p:sp>
        <p:nvSpPr>
          <p:cNvPr id="3" name="Rounded Rectangle 2"/>
          <p:cNvSpPr/>
          <p:nvPr/>
        </p:nvSpPr>
        <p:spPr>
          <a:xfrm>
            <a:off x="731520" y="1188720"/>
            <a:ext cx="3474720" cy="530352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3474720" cy="54864"/>
          </a:xfrm>
          <a:prstGeom prst="rect">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3108960" cy="274320"/>
          </a:xfrm>
          <a:prstGeom prst="rect">
            <a:avLst/>
          </a:prstGeom>
          <a:noFill/>
        </p:spPr>
        <p:txBody>
          <a:bodyPr wrap="square">
            <a:spAutoFit/>
          </a:bodyPr>
          <a:lstStyle/>
          <a:p>
            <a:pPr algn="l">
              <a:spcAft>
                <a:spcPts val="400"/>
              </a:spcAft>
              <a:defRPr sz="1000" b="1">
                <a:solidFill>
                  <a:srgbClr val="2BB286"/>
                </a:solidFill>
                <a:latin typeface="Calibri"/>
              </a:defRPr>
            </a:pPr>
            <a:r>
              <a:t>Phase 1</a:t>
            </a:r>
          </a:p>
        </p:txBody>
      </p:sp>
      <p:sp>
        <p:nvSpPr>
          <p:cNvPr id="6" name="TextBox 5"/>
          <p:cNvSpPr txBox="1"/>
          <p:nvPr/>
        </p:nvSpPr>
        <p:spPr>
          <a:xfrm>
            <a:off x="914400" y="1645920"/>
            <a:ext cx="3108960" cy="365760"/>
          </a:xfrm>
          <a:prstGeom prst="rect">
            <a:avLst/>
          </a:prstGeom>
          <a:noFill/>
        </p:spPr>
        <p:txBody>
          <a:bodyPr wrap="square">
            <a:spAutoFit/>
          </a:bodyPr>
          <a:lstStyle/>
          <a:p>
            <a:pPr algn="l">
              <a:spcAft>
                <a:spcPts val="400"/>
              </a:spcAft>
              <a:defRPr sz="1800" b="1">
                <a:solidFill>
                  <a:srgbClr val="1A1A1A"/>
                </a:solidFill>
                <a:latin typeface="Calibri Light"/>
              </a:defRPr>
            </a:pPr>
            <a:r>
              <a:t>PWA</a:t>
            </a:r>
          </a:p>
        </p:txBody>
      </p:sp>
      <p:sp>
        <p:nvSpPr>
          <p:cNvPr id="7" name="Rectangle 6"/>
          <p:cNvSpPr/>
          <p:nvPr/>
        </p:nvSpPr>
        <p:spPr>
          <a:xfrm>
            <a:off x="914400" y="2103120"/>
            <a:ext cx="1371600" cy="274320"/>
          </a:xfrm>
          <a:prstGeom prst="rect">
            <a:avLst/>
          </a:prstGeom>
          <a:solidFill>
            <a:srgbClr val="2BB2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1280160" cy="274320"/>
          </a:xfrm>
          <a:prstGeom prst="rect">
            <a:avLst/>
          </a:prstGeom>
          <a:noFill/>
        </p:spPr>
        <p:txBody>
          <a:bodyPr wrap="square">
            <a:spAutoFit/>
          </a:bodyPr>
          <a:lstStyle/>
          <a:p>
            <a:pPr algn="ctr">
              <a:spcAft>
                <a:spcPts val="400"/>
              </a:spcAft>
              <a:defRPr sz="800" b="1">
                <a:solidFill>
                  <a:srgbClr val="FFFFFF"/>
                </a:solidFill>
                <a:latin typeface="Calibri"/>
              </a:defRPr>
            </a:pPr>
            <a:r>
              <a:t>⏱️ Jour 1</a:t>
            </a:r>
          </a:p>
        </p:txBody>
      </p:sp>
      <p:sp>
        <p:nvSpPr>
          <p:cNvPr id="9" name="Rectangle 8"/>
          <p:cNvSpPr/>
          <p:nvPr/>
        </p:nvSpPr>
        <p:spPr>
          <a:xfrm>
            <a:off x="2377440" y="2103120"/>
            <a:ext cx="1097280" cy="274320"/>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23160" y="2103120"/>
            <a:ext cx="1005840" cy="274320"/>
          </a:xfrm>
          <a:prstGeom prst="rect">
            <a:avLst/>
          </a:prstGeom>
          <a:noFill/>
        </p:spPr>
        <p:txBody>
          <a:bodyPr wrap="square">
            <a:spAutoFit/>
          </a:bodyPr>
          <a:lstStyle/>
          <a:p>
            <a:pPr algn="ctr">
              <a:spcAft>
                <a:spcPts val="400"/>
              </a:spcAft>
              <a:defRPr sz="800" b="1">
                <a:solidFill>
                  <a:srgbClr val="008F78"/>
                </a:solidFill>
                <a:latin typeface="Calibri"/>
              </a:defRPr>
            </a:pPr>
            <a:r>
              <a:t>0€</a:t>
            </a:r>
          </a:p>
        </p:txBody>
      </p:sp>
      <p:sp>
        <p:nvSpPr>
          <p:cNvPr id="11" name="TextBox 10"/>
          <p:cNvSpPr txBox="1"/>
          <p:nvPr/>
        </p:nvSpPr>
        <p:spPr>
          <a:xfrm>
            <a:off x="914400" y="265176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Ajouter manifest.json et les icônes</a:t>
            </a:r>
          </a:p>
        </p:txBody>
      </p:sp>
      <p:sp>
        <p:nvSpPr>
          <p:cNvPr id="12" name="TextBox 11"/>
          <p:cNvSpPr txBox="1"/>
          <p:nvPr/>
        </p:nvSpPr>
        <p:spPr>
          <a:xfrm>
            <a:off x="914400" y="315468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Installer le service worker (@serwist/next)</a:t>
            </a:r>
          </a:p>
        </p:txBody>
      </p:sp>
      <p:sp>
        <p:nvSpPr>
          <p:cNvPr id="13" name="TextBox 12"/>
          <p:cNvSpPr txBox="1"/>
          <p:nvPr/>
        </p:nvSpPr>
        <p:spPr>
          <a:xfrm>
            <a:off x="914400" y="365760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TimeHeroes s'installe sur le téléphone</a:t>
            </a:r>
          </a:p>
        </p:txBody>
      </p:sp>
      <p:sp>
        <p:nvSpPr>
          <p:cNvPr id="14" name="TextBox 13"/>
          <p:cNvSpPr txBox="1"/>
          <p:nvPr/>
        </p:nvSpPr>
        <p:spPr>
          <a:xfrm>
            <a:off x="914400" y="416052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1 jour de travail, zéro euro</a:t>
            </a:r>
          </a:p>
        </p:txBody>
      </p:sp>
      <p:sp>
        <p:nvSpPr>
          <p:cNvPr id="15" name="Rounded Rectangle 14"/>
          <p:cNvSpPr/>
          <p:nvPr/>
        </p:nvSpPr>
        <p:spPr>
          <a:xfrm>
            <a:off x="4572000" y="1188720"/>
            <a:ext cx="3474720" cy="530352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0" y="1188720"/>
            <a:ext cx="347472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1371600"/>
            <a:ext cx="3108960" cy="274320"/>
          </a:xfrm>
          <a:prstGeom prst="rect">
            <a:avLst/>
          </a:prstGeom>
          <a:noFill/>
        </p:spPr>
        <p:txBody>
          <a:bodyPr wrap="square">
            <a:spAutoFit/>
          </a:bodyPr>
          <a:lstStyle/>
          <a:p>
            <a:pPr algn="l">
              <a:spcAft>
                <a:spcPts val="400"/>
              </a:spcAft>
              <a:defRPr sz="1000" b="1">
                <a:solidFill>
                  <a:srgbClr val="7C3AED"/>
                </a:solidFill>
                <a:latin typeface="Calibri"/>
              </a:defRPr>
            </a:pPr>
            <a:r>
              <a:t>Phase 2</a:t>
            </a:r>
          </a:p>
        </p:txBody>
      </p:sp>
      <p:sp>
        <p:nvSpPr>
          <p:cNvPr id="18" name="TextBox 17"/>
          <p:cNvSpPr txBox="1"/>
          <p:nvPr/>
        </p:nvSpPr>
        <p:spPr>
          <a:xfrm>
            <a:off x="4754880" y="1645920"/>
            <a:ext cx="3108960" cy="365760"/>
          </a:xfrm>
          <a:prstGeom prst="rect">
            <a:avLst/>
          </a:prstGeom>
          <a:noFill/>
        </p:spPr>
        <p:txBody>
          <a:bodyPr wrap="square">
            <a:spAutoFit/>
          </a:bodyPr>
          <a:lstStyle/>
          <a:p>
            <a:pPr algn="l">
              <a:spcAft>
                <a:spcPts val="400"/>
              </a:spcAft>
              <a:defRPr sz="1800" b="1">
                <a:solidFill>
                  <a:srgbClr val="1A1A1A"/>
                </a:solidFill>
                <a:latin typeface="Calibri Light"/>
              </a:defRPr>
            </a:pPr>
            <a:r>
              <a:t>Capacitor</a:t>
            </a:r>
          </a:p>
        </p:txBody>
      </p:sp>
      <p:sp>
        <p:nvSpPr>
          <p:cNvPr id="19" name="Rectangle 18"/>
          <p:cNvSpPr/>
          <p:nvPr/>
        </p:nvSpPr>
        <p:spPr>
          <a:xfrm>
            <a:off x="4754880" y="2103120"/>
            <a:ext cx="1371600" cy="274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2103120"/>
            <a:ext cx="1280160" cy="274320"/>
          </a:xfrm>
          <a:prstGeom prst="rect">
            <a:avLst/>
          </a:prstGeom>
          <a:noFill/>
        </p:spPr>
        <p:txBody>
          <a:bodyPr wrap="square">
            <a:spAutoFit/>
          </a:bodyPr>
          <a:lstStyle/>
          <a:p>
            <a:pPr algn="ctr">
              <a:spcAft>
                <a:spcPts val="400"/>
              </a:spcAft>
              <a:defRPr sz="800" b="1">
                <a:solidFill>
                  <a:srgbClr val="FFFFFF"/>
                </a:solidFill>
                <a:latin typeface="Calibri"/>
              </a:defRPr>
            </a:pPr>
            <a:r>
              <a:t>⏱️ Jours 2-5</a:t>
            </a:r>
          </a:p>
        </p:txBody>
      </p:sp>
      <p:sp>
        <p:nvSpPr>
          <p:cNvPr id="21" name="Rectangle 20"/>
          <p:cNvSpPr/>
          <p:nvPr/>
        </p:nvSpPr>
        <p:spPr>
          <a:xfrm>
            <a:off x="6217920" y="2103120"/>
            <a:ext cx="1097280" cy="274320"/>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2103120"/>
            <a:ext cx="1005840" cy="274320"/>
          </a:xfrm>
          <a:prstGeom prst="rect">
            <a:avLst/>
          </a:prstGeom>
          <a:noFill/>
        </p:spPr>
        <p:txBody>
          <a:bodyPr wrap="square">
            <a:spAutoFit/>
          </a:bodyPr>
          <a:lstStyle/>
          <a:p>
            <a:pPr algn="ctr">
              <a:spcAft>
                <a:spcPts val="400"/>
              </a:spcAft>
              <a:defRPr sz="800" b="1">
                <a:solidFill>
                  <a:srgbClr val="008F78"/>
                </a:solidFill>
                <a:latin typeface="Calibri"/>
              </a:defRPr>
            </a:pPr>
            <a:r>
              <a:t>~124€</a:t>
            </a:r>
          </a:p>
        </p:txBody>
      </p:sp>
      <p:sp>
        <p:nvSpPr>
          <p:cNvPr id="23" name="TextBox 22"/>
          <p:cNvSpPr txBox="1"/>
          <p:nvPr/>
        </p:nvSpPr>
        <p:spPr>
          <a:xfrm>
            <a:off x="4754880" y="265176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Installer Capacitor et les plugins NFC/Push</a:t>
            </a:r>
          </a:p>
        </p:txBody>
      </p:sp>
      <p:sp>
        <p:nvSpPr>
          <p:cNvPr id="24" name="TextBox 23"/>
          <p:cNvSpPr txBox="1"/>
          <p:nvPr/>
        </p:nvSpPr>
        <p:spPr>
          <a:xfrm>
            <a:off x="4754880" y="315468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Ajouter ~30 lignes de code pour le NFC</a:t>
            </a:r>
          </a:p>
        </p:txBody>
      </p:sp>
      <p:sp>
        <p:nvSpPr>
          <p:cNvPr id="25" name="TextBox 24"/>
          <p:cNvSpPr txBox="1"/>
          <p:nvPr/>
        </p:nvSpPr>
        <p:spPr>
          <a:xfrm>
            <a:off x="4754880" y="365760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Tester la validation par tap sur mon téléphone</a:t>
            </a:r>
          </a:p>
        </p:txBody>
      </p:sp>
      <p:sp>
        <p:nvSpPr>
          <p:cNvPr id="26" name="TextBox 25"/>
          <p:cNvSpPr txBox="1"/>
          <p:nvPr/>
        </p:nvSpPr>
        <p:spPr>
          <a:xfrm>
            <a:off x="4754880" y="416052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Générer l'APK Android (publiable)</a:t>
            </a:r>
          </a:p>
        </p:txBody>
      </p:sp>
      <p:sp>
        <p:nvSpPr>
          <p:cNvPr id="27" name="TextBox 26"/>
          <p:cNvSpPr txBox="1"/>
          <p:nvPr/>
        </p:nvSpPr>
        <p:spPr>
          <a:xfrm>
            <a:off x="4754880" y="466344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App complète avec NFC !</a:t>
            </a:r>
          </a:p>
        </p:txBody>
      </p:sp>
      <p:sp>
        <p:nvSpPr>
          <p:cNvPr id="28" name="Rounded Rectangle 27"/>
          <p:cNvSpPr/>
          <p:nvPr/>
        </p:nvSpPr>
        <p:spPr>
          <a:xfrm>
            <a:off x="8412480" y="1188720"/>
            <a:ext cx="3474720" cy="530352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412480" y="1188720"/>
            <a:ext cx="34747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0" y="1371600"/>
            <a:ext cx="3108960" cy="274320"/>
          </a:xfrm>
          <a:prstGeom prst="rect">
            <a:avLst/>
          </a:prstGeom>
          <a:noFill/>
        </p:spPr>
        <p:txBody>
          <a:bodyPr wrap="square">
            <a:spAutoFit/>
          </a:bodyPr>
          <a:lstStyle/>
          <a:p>
            <a:pPr algn="l">
              <a:spcAft>
                <a:spcPts val="400"/>
              </a:spcAft>
              <a:defRPr sz="1000" b="1">
                <a:solidFill>
                  <a:srgbClr val="F59E0B"/>
                </a:solidFill>
                <a:latin typeface="Calibri"/>
              </a:defRPr>
            </a:pPr>
            <a:r>
              <a:t>Phase 3</a:t>
            </a:r>
          </a:p>
        </p:txBody>
      </p:sp>
      <p:sp>
        <p:nvSpPr>
          <p:cNvPr id="31" name="TextBox 30"/>
          <p:cNvSpPr txBox="1"/>
          <p:nvPr/>
        </p:nvSpPr>
        <p:spPr>
          <a:xfrm>
            <a:off x="8595360" y="1645920"/>
            <a:ext cx="3108960" cy="365760"/>
          </a:xfrm>
          <a:prstGeom prst="rect">
            <a:avLst/>
          </a:prstGeom>
          <a:noFill/>
        </p:spPr>
        <p:txBody>
          <a:bodyPr wrap="square">
            <a:spAutoFit/>
          </a:bodyPr>
          <a:lstStyle/>
          <a:p>
            <a:pPr algn="l">
              <a:spcAft>
                <a:spcPts val="400"/>
              </a:spcAft>
              <a:defRPr sz="1800" b="1">
                <a:solidFill>
                  <a:srgbClr val="1A1A1A"/>
                </a:solidFill>
                <a:latin typeface="Calibri Light"/>
              </a:defRPr>
            </a:pPr>
            <a:r>
              <a:t>React Native</a:t>
            </a:r>
          </a:p>
        </p:txBody>
      </p:sp>
      <p:sp>
        <p:nvSpPr>
          <p:cNvPr id="32" name="Rectangle 31"/>
          <p:cNvSpPr/>
          <p:nvPr/>
        </p:nvSpPr>
        <p:spPr>
          <a:xfrm>
            <a:off x="8595360" y="2103120"/>
            <a:ext cx="1371600" cy="274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1080" y="2103120"/>
            <a:ext cx="1280160" cy="274320"/>
          </a:xfrm>
          <a:prstGeom prst="rect">
            <a:avLst/>
          </a:prstGeom>
          <a:noFill/>
        </p:spPr>
        <p:txBody>
          <a:bodyPr wrap="square">
            <a:spAutoFit/>
          </a:bodyPr>
          <a:lstStyle/>
          <a:p>
            <a:pPr algn="ctr">
              <a:spcAft>
                <a:spcPts val="400"/>
              </a:spcAft>
              <a:defRPr sz="800" b="1">
                <a:solidFill>
                  <a:srgbClr val="FFFFFF"/>
                </a:solidFill>
                <a:latin typeface="Calibri"/>
              </a:defRPr>
            </a:pPr>
            <a:r>
              <a:t>⏱️ Sem. 3-6</a:t>
            </a:r>
          </a:p>
        </p:txBody>
      </p:sp>
      <p:sp>
        <p:nvSpPr>
          <p:cNvPr id="34" name="Rectangle 33"/>
          <p:cNvSpPr/>
          <p:nvPr/>
        </p:nvSpPr>
        <p:spPr>
          <a:xfrm>
            <a:off x="10058400" y="2103120"/>
            <a:ext cx="1097280" cy="274320"/>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4120" y="2103120"/>
            <a:ext cx="1005840" cy="274320"/>
          </a:xfrm>
          <a:prstGeom prst="rect">
            <a:avLst/>
          </a:prstGeom>
          <a:noFill/>
        </p:spPr>
        <p:txBody>
          <a:bodyPr wrap="square">
            <a:spAutoFit/>
          </a:bodyPr>
          <a:lstStyle/>
          <a:p>
            <a:pPr algn="ctr">
              <a:spcAft>
                <a:spcPts val="400"/>
              </a:spcAft>
              <a:defRPr sz="800" b="1">
                <a:solidFill>
                  <a:srgbClr val="008F78"/>
                </a:solidFill>
                <a:latin typeface="Calibri"/>
              </a:defRPr>
            </a:pPr>
            <a:r>
              <a:t>~124€</a:t>
            </a:r>
          </a:p>
        </p:txBody>
      </p:sp>
      <p:sp>
        <p:nvSpPr>
          <p:cNvPr id="36" name="TextBox 35"/>
          <p:cNvSpPr txBox="1"/>
          <p:nvPr/>
        </p:nvSpPr>
        <p:spPr>
          <a:xfrm>
            <a:off x="8595360" y="265176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Apprendre React Native / Expo</a:t>
            </a:r>
          </a:p>
        </p:txBody>
      </p:sp>
      <p:sp>
        <p:nvSpPr>
          <p:cNvPr id="37" name="TextBox 36"/>
          <p:cNvSpPr txBox="1"/>
          <p:nvPr/>
        </p:nvSpPr>
        <p:spPr>
          <a:xfrm>
            <a:off x="8595360" y="315468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Réécrire les écrans un par un</a:t>
            </a:r>
          </a:p>
        </p:txBody>
      </p:sp>
      <p:sp>
        <p:nvSpPr>
          <p:cNvPr id="38" name="TextBox 37"/>
          <p:cNvSpPr txBox="1"/>
          <p:nvPr/>
        </p:nvSpPr>
        <p:spPr>
          <a:xfrm>
            <a:off x="8595360" y="365760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Tester sur iOS et Android</a:t>
            </a:r>
          </a:p>
        </p:txBody>
      </p:sp>
      <p:sp>
        <p:nvSpPr>
          <p:cNvPr id="39" name="TextBox 38"/>
          <p:cNvSpPr txBox="1"/>
          <p:nvPr/>
        </p:nvSpPr>
        <p:spPr>
          <a:xfrm>
            <a:off x="8595360" y="416052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Publier sur l'App Store et Google Play</a:t>
            </a:r>
          </a:p>
        </p:txBody>
      </p:sp>
      <p:sp>
        <p:nvSpPr>
          <p:cNvPr id="40" name="TextBox 39"/>
          <p:cNvSpPr txBox="1"/>
          <p:nvPr/>
        </p:nvSpPr>
        <p:spPr>
          <a:xfrm>
            <a:off x="8595360" y="4663440"/>
            <a:ext cx="3108960" cy="457200"/>
          </a:xfrm>
          <a:prstGeom prst="rect">
            <a:avLst/>
          </a:prstGeom>
          <a:noFill/>
        </p:spPr>
        <p:txBody>
          <a:bodyPr wrap="square">
            <a:spAutoFit/>
          </a:bodyPr>
          <a:lstStyle/>
          <a:p>
            <a:pPr algn="l">
              <a:spcAft>
                <a:spcPts val="400"/>
              </a:spcAft>
              <a:defRPr sz="1000" b="0">
                <a:solidFill>
                  <a:srgbClr val="6B6B6B"/>
                </a:solidFill>
                <a:latin typeface="Calibri"/>
              </a:defRPr>
            </a:pPr>
            <a:r>
              <a:t>    App 100% native, premium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spcAft>
                <a:spcPts val="400"/>
              </a:spcAft>
              <a:defRPr sz="3000" b="1">
                <a:solidFill>
                  <a:srgbClr val="1A1A1A"/>
                </a:solidFill>
                <a:latin typeface="Calibri Light"/>
              </a:defRPr>
            </a:pPr>
            <a:r>
              <a:t>📖 Glossaire — les mots techniques expliqués simplement</a:t>
            </a:r>
          </a:p>
        </p:txBody>
      </p:sp>
      <p:sp>
        <p:nvSpPr>
          <p:cNvPr id="3" name="Rounded Rectangle 2"/>
          <p:cNvSpPr/>
          <p:nvPr/>
        </p:nvSpPr>
        <p:spPr>
          <a:xfrm>
            <a:off x="731520" y="109728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14300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PWA</a:t>
            </a:r>
          </a:p>
          <a:p>
            <a:pPr algn="l">
              <a:spcAft>
                <a:spcPts val="400"/>
              </a:spcAft>
              <a:defRPr sz="1000" b="0">
                <a:solidFill>
                  <a:srgbClr val="9A9A9A"/>
                </a:solidFill>
                <a:latin typeface="Calibri"/>
              </a:defRPr>
            </a:pPr>
            <a:r>
              <a:t>= Progressive Web App</a:t>
            </a:r>
          </a:p>
        </p:txBody>
      </p:sp>
      <p:sp>
        <p:nvSpPr>
          <p:cNvPr id="5" name="TextBox 4"/>
          <p:cNvSpPr txBox="1"/>
          <p:nvPr/>
        </p:nvSpPr>
        <p:spPr>
          <a:xfrm>
            <a:off x="868680" y="146304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C'est un site web normal, mais le navigateur propose de l'"installer" sur l'écran d'accueil. Ça a une icône, ça peut envoyer des notifications et marcher un peu hors-ligne. Exemple : Twitter, Pinterest.</a:t>
            </a:r>
          </a:p>
        </p:txBody>
      </p:sp>
      <p:sp>
        <p:nvSpPr>
          <p:cNvPr id="6" name="Rounded Rectangle 5"/>
          <p:cNvSpPr/>
          <p:nvPr/>
        </p:nvSpPr>
        <p:spPr>
          <a:xfrm>
            <a:off x="6400800" y="109728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114300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Service Worker</a:t>
            </a:r>
          </a:p>
        </p:txBody>
      </p:sp>
      <p:sp>
        <p:nvSpPr>
          <p:cNvPr id="8" name="TextBox 7"/>
          <p:cNvSpPr txBox="1"/>
          <p:nvPr/>
        </p:nvSpPr>
        <p:spPr>
          <a:xfrm>
            <a:off x="6537960" y="146304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Un petit programme qui tourne en arrière-plan sur le téléphone, même quand le site est fermé. Il gère le cache (hors-ligne) et les notifications push.</a:t>
            </a:r>
          </a:p>
        </p:txBody>
      </p:sp>
      <p:sp>
        <p:nvSpPr>
          <p:cNvPr id="9" name="Rounded Rectangle 8"/>
          <p:cNvSpPr/>
          <p:nvPr/>
        </p:nvSpPr>
        <p:spPr>
          <a:xfrm>
            <a:off x="731520" y="205740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0312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WebView</a:t>
            </a:r>
          </a:p>
        </p:txBody>
      </p:sp>
      <p:sp>
        <p:nvSpPr>
          <p:cNvPr id="11" name="TextBox 10"/>
          <p:cNvSpPr txBox="1"/>
          <p:nvPr/>
        </p:nvSpPr>
        <p:spPr>
          <a:xfrm>
            <a:off x="868680" y="242316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C'est un navigateur Internet (Chrome/Safari) embarqué à l'intérieur d'une app. Quand tu ouvres un lien dans Instagram ou WhatsApp, c'est une WebView. Capacitor utilise une WebView pour afficher ton site.</a:t>
            </a:r>
          </a:p>
        </p:txBody>
      </p:sp>
      <p:sp>
        <p:nvSpPr>
          <p:cNvPr id="12" name="Rounded Rectangle 11"/>
          <p:cNvSpPr/>
          <p:nvPr/>
        </p:nvSpPr>
        <p:spPr>
          <a:xfrm>
            <a:off x="6400800" y="205740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10312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Capacitor</a:t>
            </a:r>
          </a:p>
        </p:txBody>
      </p:sp>
      <p:sp>
        <p:nvSpPr>
          <p:cNvPr id="14" name="TextBox 13"/>
          <p:cNvSpPr txBox="1"/>
          <p:nvPr/>
        </p:nvSpPr>
        <p:spPr>
          <a:xfrm>
            <a:off x="6537960" y="242316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Un outil qui prend ton site web et le transforme en vraie app iPhone/Android. Il ajoute une "coquille" autour et permet d'utiliser le NFC, la caméra, les notifications natives.</a:t>
            </a:r>
          </a:p>
        </p:txBody>
      </p:sp>
      <p:sp>
        <p:nvSpPr>
          <p:cNvPr id="15" name="Rounded Rectangle 14"/>
          <p:cNvSpPr/>
          <p:nvPr/>
        </p:nvSpPr>
        <p:spPr>
          <a:xfrm>
            <a:off x="731520" y="301752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06324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React Native</a:t>
            </a:r>
          </a:p>
        </p:txBody>
      </p:sp>
      <p:sp>
        <p:nvSpPr>
          <p:cNvPr id="17" name="TextBox 16"/>
          <p:cNvSpPr txBox="1"/>
          <p:nvPr/>
        </p:nvSpPr>
        <p:spPr>
          <a:xfrm>
            <a:off x="868680" y="338328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Un framework (créé par Meta/Facebook) pour construire des apps mobiles 100% natives. Contrairement à Capacitor, il ne met PAS ton site dans une WebView : il reconstruit toute l'interface en langage natif.</a:t>
            </a:r>
          </a:p>
        </p:txBody>
      </p:sp>
      <p:sp>
        <p:nvSpPr>
          <p:cNvPr id="18" name="Rounded Rectangle 17"/>
          <p:cNvSpPr/>
          <p:nvPr/>
        </p:nvSpPr>
        <p:spPr>
          <a:xfrm>
            <a:off x="6400800" y="301752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306324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Expo</a:t>
            </a:r>
          </a:p>
        </p:txBody>
      </p:sp>
      <p:sp>
        <p:nvSpPr>
          <p:cNvPr id="20" name="TextBox 19"/>
          <p:cNvSpPr txBox="1"/>
          <p:nvPr/>
        </p:nvSpPr>
        <p:spPr>
          <a:xfrm>
            <a:off x="6537960" y="338328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Une version simplifiée de React Native. Ça permet de tester l'app directement sur son téléphone sans installation compliquée, et de builder dans le cloud (pas besoin d'avoir un Mac pour iOS).</a:t>
            </a:r>
          </a:p>
        </p:txBody>
      </p:sp>
      <p:sp>
        <p:nvSpPr>
          <p:cNvPr id="21" name="Rounded Rectangle 20"/>
          <p:cNvSpPr/>
          <p:nvPr/>
        </p:nvSpPr>
        <p:spPr>
          <a:xfrm>
            <a:off x="731520" y="397764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02336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NFC</a:t>
            </a:r>
          </a:p>
        </p:txBody>
      </p:sp>
      <p:sp>
        <p:nvSpPr>
          <p:cNvPr id="23" name="TextBox 22"/>
          <p:cNvSpPr txBox="1"/>
          <p:nvPr/>
        </p:nvSpPr>
        <p:spPr>
          <a:xfrm>
            <a:off x="868680" y="434340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Near Field Communication. Technologie sans contact utilisée pour le paiement par carte bancaire ou Apple Pay/Google Pay. Distance max : 4 cm. Permet de valider une mission en tapant deux téléphones.</a:t>
            </a:r>
          </a:p>
        </p:txBody>
      </p:sp>
      <p:sp>
        <p:nvSpPr>
          <p:cNvPr id="24" name="Rounded Rectangle 23"/>
          <p:cNvSpPr/>
          <p:nvPr/>
        </p:nvSpPr>
        <p:spPr>
          <a:xfrm>
            <a:off x="6400800" y="397764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402336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Plugin</a:t>
            </a:r>
          </a:p>
        </p:txBody>
      </p:sp>
      <p:sp>
        <p:nvSpPr>
          <p:cNvPr id="26" name="TextBox 25"/>
          <p:cNvSpPr txBox="1"/>
          <p:nvPr/>
        </p:nvSpPr>
        <p:spPr>
          <a:xfrm>
            <a:off x="6537960" y="434340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Un "module" qu'on ajoute à Capacitor ou React Native pour accéder à une fonction du téléphone. Exemple : plugin NFC, plugin Caméra, plugin Notifications.</a:t>
            </a:r>
          </a:p>
        </p:txBody>
      </p:sp>
      <p:sp>
        <p:nvSpPr>
          <p:cNvPr id="27" name="Rounded Rectangle 26"/>
          <p:cNvSpPr/>
          <p:nvPr/>
        </p:nvSpPr>
        <p:spPr>
          <a:xfrm>
            <a:off x="731520" y="493776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498348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Tag NFC</a:t>
            </a:r>
          </a:p>
        </p:txBody>
      </p:sp>
      <p:sp>
        <p:nvSpPr>
          <p:cNvPr id="29" name="TextBox 28"/>
          <p:cNvSpPr txBox="1"/>
          <p:nvPr/>
        </p:nvSpPr>
        <p:spPr>
          <a:xfrm>
            <a:off x="868680" y="530352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Une petite étiquette (type autocollant, ~0,30€) qui contient une puce NFC. On peut la coller derrière un téléphone. Quand un autre téléphone la tape, il lit l'information stockée.</a:t>
            </a:r>
          </a:p>
        </p:txBody>
      </p:sp>
      <p:sp>
        <p:nvSpPr>
          <p:cNvPr id="30" name="Rounded Rectangle 29"/>
          <p:cNvSpPr/>
          <p:nvPr/>
        </p:nvSpPr>
        <p:spPr>
          <a:xfrm>
            <a:off x="6400800" y="493776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498348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App Store / Play Store</a:t>
            </a:r>
          </a:p>
        </p:txBody>
      </p:sp>
      <p:sp>
        <p:nvSpPr>
          <p:cNvPr id="32" name="TextBox 31"/>
          <p:cNvSpPr txBox="1"/>
          <p:nvPr/>
        </p:nvSpPr>
        <p:spPr>
          <a:xfrm>
            <a:off x="6537960" y="530352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Les magasins d'applications. App Store = iPhone (Apple, 99€/an pour publier). Google Play = Android (25$ unique). Sans ces stores, tu peux quand même installer l'app manuellement (fichier .apk).</a:t>
            </a:r>
          </a:p>
        </p:txBody>
      </p:sp>
      <p:sp>
        <p:nvSpPr>
          <p:cNvPr id="33" name="Rounded Rectangle 32"/>
          <p:cNvSpPr/>
          <p:nvPr/>
        </p:nvSpPr>
        <p:spPr>
          <a:xfrm>
            <a:off x="731520" y="589788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594360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Build</a:t>
            </a:r>
          </a:p>
        </p:txBody>
      </p:sp>
      <p:sp>
        <p:nvSpPr>
          <p:cNvPr id="35" name="TextBox 34"/>
          <p:cNvSpPr txBox="1"/>
          <p:nvPr/>
        </p:nvSpPr>
        <p:spPr>
          <a:xfrm>
            <a:off x="868680" y="626364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L'étape qui transforme ton code en une app installable. Pour Next.js : c'est "npm run build". Pour Android : ça génère un .apk. Pour iOS : une archive .ipa.</a:t>
            </a:r>
          </a:p>
        </p:txBody>
      </p:sp>
      <p:sp>
        <p:nvSpPr>
          <p:cNvPr id="36" name="Rounded Rectangle 35"/>
          <p:cNvSpPr/>
          <p:nvPr/>
        </p:nvSpPr>
        <p:spPr>
          <a:xfrm>
            <a:off x="6400800" y="5897880"/>
            <a:ext cx="5303520" cy="868680"/>
          </a:xfrm>
          <a:prstGeom prst="roundRect">
            <a:avLst>
              <a:gd name="adj" fmla="val 2000"/>
            </a:avLst>
          </a:prstGeom>
          <a:solidFill>
            <a:srgbClr val="FFFFFF"/>
          </a:solidFill>
          <a:ln w="12700">
            <a:solidFill>
              <a:srgbClr val="E5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37960" y="5943600"/>
            <a:ext cx="2286000" cy="274320"/>
          </a:xfrm>
          <a:prstGeom prst="rect">
            <a:avLst/>
          </a:prstGeom>
          <a:noFill/>
        </p:spPr>
        <p:txBody>
          <a:bodyPr wrap="square">
            <a:spAutoFit/>
          </a:bodyPr>
          <a:lstStyle/>
          <a:p>
            <a:pPr algn="l">
              <a:spcAft>
                <a:spcPts val="400"/>
              </a:spcAft>
              <a:defRPr sz="1400" b="1">
                <a:solidFill>
                  <a:srgbClr val="2BB286"/>
                </a:solidFill>
                <a:latin typeface="Calibri"/>
              </a:defRPr>
            </a:pPr>
            <a:r>
              <a:t>Escrow</a:t>
            </a:r>
          </a:p>
        </p:txBody>
      </p:sp>
      <p:sp>
        <p:nvSpPr>
          <p:cNvPr id="38" name="TextBox 37"/>
          <p:cNvSpPr txBox="1"/>
          <p:nvPr/>
        </p:nvSpPr>
        <p:spPr>
          <a:xfrm>
            <a:off x="6537960" y="6263640"/>
            <a:ext cx="5029200" cy="457200"/>
          </a:xfrm>
          <a:prstGeom prst="rect">
            <a:avLst/>
          </a:prstGeom>
          <a:noFill/>
        </p:spPr>
        <p:txBody>
          <a:bodyPr wrap="square">
            <a:spAutoFit/>
          </a:bodyPr>
          <a:lstStyle/>
          <a:p>
            <a:pPr algn="l">
              <a:spcAft>
                <a:spcPts val="400"/>
              </a:spcAft>
              <a:defRPr sz="900" b="0">
                <a:solidFill>
                  <a:srgbClr val="6B6B6B"/>
                </a:solidFill>
                <a:latin typeface="Calibri"/>
              </a:defRPr>
            </a:pPr>
            <a:r>
              <a:t>Un système de séquestre : les TIME sont bloqués quand tu réserves, et libérés seulement quand la mission est validée. Ça protège tout le monde.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8F78"/>
        </a:solidFill>
        <a:effectLst/>
      </p:bgPr>
    </p:bg>
    <p:spTree>
      <p:nvGrpSpPr>
        <p:cNvPr id="1" name=""/>
        <p:cNvGrpSpPr/>
        <p:nvPr/>
      </p:nvGrpSpPr>
      <p:grpSpPr/>
      <p:sp>
        <p:nvSpPr>
          <p:cNvPr id="2" name="Oval 1"/>
          <p:cNvSpPr/>
          <p:nvPr/>
        </p:nvSpPr>
        <p:spPr>
          <a:xfrm>
            <a:off x="-457200" y="-457200"/>
            <a:ext cx="2286000" cy="2286000"/>
          </a:xfrm>
          <a:prstGeom prst="ellipse">
            <a:avLst/>
          </a:prstGeom>
          <a:solidFill>
            <a:srgbClr val="00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4572000"/>
            <a:ext cx="3200400" cy="3200400"/>
          </a:xfrm>
          <a:prstGeom prst="ellipse">
            <a:avLst/>
          </a:prstGeom>
          <a:solidFill>
            <a:srgbClr val="009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914400"/>
            <a:ext cx="9144000" cy="914400"/>
          </a:xfrm>
          <a:prstGeom prst="rect">
            <a:avLst/>
          </a:prstGeom>
          <a:noFill/>
        </p:spPr>
        <p:txBody>
          <a:bodyPr wrap="square">
            <a:spAutoFit/>
          </a:bodyPr>
          <a:lstStyle/>
          <a:p>
            <a:pPr algn="l">
              <a:spcAft>
                <a:spcPts val="400"/>
              </a:spcAft>
              <a:defRPr sz="4000" b="1">
                <a:solidFill>
                  <a:srgbClr val="FFFFFF"/>
                </a:solidFill>
                <a:latin typeface="Calibri Light"/>
              </a:defRPr>
            </a:pPr>
            <a:r>
              <a:t>🎯 Conclusion : par quoi commencer ?</a:t>
            </a:r>
          </a:p>
        </p:txBody>
      </p:sp>
      <p:sp>
        <p:nvSpPr>
          <p:cNvPr id="5" name="TextBox 4"/>
          <p:cNvSpPr txBox="1"/>
          <p:nvPr/>
        </p:nvSpPr>
        <p:spPr>
          <a:xfrm>
            <a:off x="1371600" y="2011680"/>
            <a:ext cx="9144000" cy="4114800"/>
          </a:xfrm>
          <a:prstGeom prst="rect">
            <a:avLst/>
          </a:prstGeom>
          <a:noFill/>
        </p:spPr>
        <p:txBody>
          <a:bodyPr wrap="square">
            <a:spAutoFit/>
          </a:bodyPr>
          <a:lstStyle/>
          <a:p>
            <a:pPr algn="l">
              <a:spcAft>
                <a:spcPts val="400"/>
              </a:spcAft>
              <a:defRPr sz="2400" b="1">
                <a:solidFill>
                  <a:srgbClr val="2BB286"/>
                </a:solidFill>
                <a:latin typeface="Calibri Light"/>
              </a:defRPr>
            </a:pPr>
            <a:r>
              <a:t>Semaine 1 — PWA (1 jour)</a:t>
            </a:r>
          </a:p>
          <a:p>
            <a:pPr algn="l">
              <a:spcAft>
                <a:spcPts val="400"/>
              </a:spcAft>
              <a:defRPr sz="1300" b="0">
                <a:solidFill>
                  <a:srgbClr val="BBF7E0"/>
                </a:solidFill>
                <a:latin typeface="Calibri"/>
              </a:defRPr>
            </a:pPr>
            <a:r>
              <a:t>Tu ajoutes manifest.json + service worker à Next.js.</a:t>
            </a:r>
          </a:p>
          <a:p>
            <a:pPr algn="l">
              <a:spcAft>
                <a:spcPts val="400"/>
              </a:spcAft>
              <a:defRPr sz="1300" b="0">
                <a:solidFill>
                  <a:srgbClr val="BBF7E0"/>
                </a:solidFill>
                <a:latin typeface="Calibri"/>
              </a:defRPr>
            </a:pPr>
            <a:r>
              <a:t>TimeHeroes devient installable sur le téléphone.</a:t>
            </a:r>
          </a:p>
          <a:p>
            <a:pPr algn="l">
              <a:spcAft>
                <a:spcPts val="400"/>
              </a:spcAft>
              <a:defRPr sz="1300" b="0">
                <a:solidFill>
                  <a:srgbClr val="BBF7E0"/>
                </a:solidFill>
                <a:latin typeface="Calibri"/>
              </a:defRPr>
            </a:pPr>
            <a:r>
              <a:t>Idéal pour la démo fondation : "Installez l'app, testez-la"</a:t>
            </a:r>
          </a:p>
          <a:p>
            <a:pPr algn="l">
              <a:spcAft>
                <a:spcPts val="400"/>
              </a:spcAft>
              <a:defRPr sz="1300" b="1">
                <a:solidFill>
                  <a:srgbClr val="FFFFFF"/>
                </a:solidFill>
                <a:latin typeface="Calibri"/>
              </a:defRPr>
            </a:pPr>
            <a:r>
              <a:t>💰 0€, pas de compte Apple nécessaire.</a:t>
            </a:r>
          </a:p>
          <a:p>
            <a:pPr algn="l">
              <a:spcAft>
                <a:spcPts val="400"/>
              </a:spcAft>
              <a:defRPr sz="800" b="0">
                <a:solidFill>
                  <a:srgbClr val="1A1A1A"/>
                </a:solidFill>
                <a:latin typeface="Calibri"/>
              </a:defRPr>
            </a:pPr>
          </a:p>
          <a:p>
            <a:pPr algn="l">
              <a:spcAft>
                <a:spcPts val="400"/>
              </a:spcAft>
              <a:defRPr sz="2400" b="1">
                <a:solidFill>
                  <a:srgbClr val="F59E0B"/>
                </a:solidFill>
                <a:latin typeface="Calibri Light"/>
              </a:defRPr>
            </a:pPr>
            <a:r>
              <a:t>Semaine 1 aussi — Capacitor (3-4 jours)</a:t>
            </a:r>
          </a:p>
          <a:p>
            <a:pPr algn="l">
              <a:spcAft>
                <a:spcPts val="400"/>
              </a:spcAft>
              <a:defRPr sz="1300" b="0">
                <a:solidFill>
                  <a:srgbClr val="BBF7E0"/>
                </a:solidFill>
                <a:latin typeface="Calibri"/>
              </a:defRPr>
            </a:pPr>
            <a:r>
              <a:t>Tu ajoutes Capacitor et les plugins NFC.</a:t>
            </a:r>
          </a:p>
          <a:p>
            <a:pPr algn="l">
              <a:spcAft>
                <a:spcPts val="400"/>
              </a:spcAft>
              <a:defRPr sz="1300" b="0">
                <a:solidFill>
                  <a:srgbClr val="BBF7E0"/>
                </a:solidFill>
                <a:latin typeface="Calibri"/>
              </a:defRPr>
            </a:pPr>
            <a:r>
              <a:t>La validation par tap NFC devient possible — argument DIFFÉRENCIANT pour la fondation.</a:t>
            </a:r>
          </a:p>
          <a:p>
            <a:pPr algn="l">
              <a:spcAft>
                <a:spcPts val="400"/>
              </a:spcAft>
              <a:defRPr sz="1300" b="0">
                <a:solidFill>
                  <a:srgbClr val="BBF7E0"/>
                </a:solidFill>
                <a:latin typeface="Calibri"/>
              </a:defRPr>
            </a:pPr>
            <a:r>
              <a:t>Tu gardes 95% de ton code. Tu apprends Capacitor en 1 jour.</a:t>
            </a:r>
          </a:p>
          <a:p>
            <a:pPr algn="l">
              <a:spcAft>
                <a:spcPts val="400"/>
              </a:spcAft>
              <a:defRPr sz="1300" b="1">
                <a:solidFill>
                  <a:srgbClr val="FFFFFF"/>
                </a:solidFill>
                <a:latin typeface="Calibri"/>
              </a:defRPr>
            </a:pPr>
            <a:r>
              <a:t>💰 99€ pour le compte Apple + 0,30€/tag NFC.</a:t>
            </a:r>
          </a:p>
          <a:p>
            <a:pPr algn="l">
              <a:spcAft>
                <a:spcPts val="400"/>
              </a:spcAft>
              <a:defRPr sz="800" b="0">
                <a:solidFill>
                  <a:srgbClr val="1A1A1A"/>
                </a:solidFill>
                <a:latin typeface="Calibri"/>
              </a:defRPr>
            </a:pPr>
          </a:p>
          <a:p>
            <a:pPr algn="l">
              <a:spcAft>
                <a:spcPts val="400"/>
              </a:spcAft>
              <a:defRPr sz="2200" b="1">
                <a:solidFill>
                  <a:srgbClr val="AAAAAA"/>
                </a:solidFill>
                <a:latin typeface="Calibri Light"/>
              </a:defRPr>
            </a:pPr>
            <a:r>
              <a:t>Plus tard — React Native (si 10 000+ utilisateurs)</a:t>
            </a:r>
          </a:p>
          <a:p>
            <a:pPr algn="l">
              <a:spcAft>
                <a:spcPts val="400"/>
              </a:spcAft>
              <a:defRPr sz="1200" b="0">
                <a:solidFill>
                  <a:srgbClr val="AAAAAA"/>
                </a:solidFill>
                <a:latin typeface="Calibri"/>
              </a:defRPr>
            </a:pPr>
            <a:r>
              <a:t>Pour le moment, PAS nécessaire. Capacitor suffit largement.</a:t>
            </a:r>
          </a:p>
        </p:txBody>
      </p:sp>
      <p:sp>
        <p:nvSpPr>
          <p:cNvPr id="6" name="TextBox 5"/>
          <p:cNvSpPr txBox="1"/>
          <p:nvPr/>
        </p:nvSpPr>
        <p:spPr>
          <a:xfrm>
            <a:off x="1371600" y="5943600"/>
            <a:ext cx="9144000" cy="457200"/>
          </a:xfrm>
          <a:prstGeom prst="rect">
            <a:avLst/>
          </a:prstGeom>
          <a:noFill/>
        </p:spPr>
        <p:txBody>
          <a:bodyPr wrap="square">
            <a:spAutoFit/>
          </a:bodyPr>
          <a:lstStyle/>
          <a:p>
            <a:pPr algn="l">
              <a:spcAft>
                <a:spcPts val="400"/>
              </a:spcAft>
              <a:defRPr sz="1800" b="1">
                <a:solidFill>
                  <a:srgbClr val="FFFFFF"/>
                </a:solidFill>
                <a:latin typeface="Calibri"/>
              </a:defRPr>
            </a:pPr>
            <a:r>
              <a:t>Prêt pour la Phase 1 ?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