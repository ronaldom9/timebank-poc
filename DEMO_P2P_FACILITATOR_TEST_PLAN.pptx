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01010"/>
                </a:solidFill>
                <a:latin typeface="Calibri"/>
              </a:defRPr>
            </a:pPr>
            <a:r>
              <a:t>🧪 Plan de Test P2P &amp; Facilitateur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F6368"/>
                </a:solidFill>
                <a:latin typeface="Calibri"/>
              </a:defRPr>
            </a:pPr>
            <a:r>
              <a:t>TimeHeroes — Parcours pair-à-pair et outillage facilitateur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457200"/>
            <a:ext cx="1097280" cy="109728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3840480"/>
            <a:ext cx="100584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402336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00D4AA"/>
                </a:solidFill>
                <a:latin typeface="Calibri"/>
              </a:defRPr>
            </a:pPr>
            <a:r>
              <a:t>🔑 Comptes de test</a:t>
            </a:r>
          </a:p>
          <a:p>
            <a:pPr>
              <a:spcAft>
                <a:spcPts val="400"/>
              </a:spcAft>
              <a:defRPr sz="1200">
                <a:solidFill>
                  <a:srgbClr val="5F6368"/>
                </a:solidFill>
                <a:latin typeface="Calibri"/>
              </a:defRPr>
            </a:pPr>
            <a:r>
              <a:t>Alex Demo (ADMIN)  →  demo@timeheroes.fr  /  TimeHeroes2026!</a:t>
            </a:r>
          </a:p>
          <a:p>
            <a:pPr>
              <a:spcAft>
                <a:spcPts val="400"/>
              </a:spcAft>
              <a:defRPr sz="1200">
                <a:solidFill>
                  <a:srgbClr val="5F6368"/>
                </a:solidFill>
                <a:latin typeface="Calibri"/>
              </a:defRPr>
            </a:pPr>
            <a:r>
              <a:t>Sarah Martin (FACILITATOR)  →  sarah.demo@timeheroes.fr  /  TimeHeroes2026!</a:t>
            </a:r>
          </a:p>
          <a:p>
            <a:pPr>
              <a:spcAft>
                <a:spcPts val="400"/>
              </a:spcAft>
              <a:defRPr sz="1200">
                <a:solidFill>
                  <a:srgbClr val="5F6368"/>
                </a:solidFill>
                <a:latin typeface="Calibri"/>
              </a:defRPr>
            </a:pPr>
            <a:r>
              <a:t>Karim Benali (USER)  →  karim.demo@timeheroes.fr  /  TimeHeroes2026!</a:t>
            </a:r>
          </a:p>
          <a:p>
            <a:pPr>
              <a:spcAft>
                <a:spcPts val="400"/>
              </a:spcAft>
              <a:defRPr sz="1200">
                <a:solidFill>
                  <a:srgbClr val="5F6368"/>
                </a:solidFill>
                <a:latin typeface="Calibri"/>
              </a:defRPr>
            </a:pPr>
            <a:r>
              <a:t>Alice Seed (USER)  →  alice.seed@timeheroes.fr  /  TimeHeroes2026!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F59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822960" cy="82296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1010"/>
                </a:solidFill>
                <a:latin typeface="Calibri"/>
              </a:defRPr>
            </a:pPr>
            <a:r>
              <a:t>Sommaire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9202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Calibri"/>
              </a:defRPr>
            </a:pPr>
            <a:r>
              <a:t>30 scénarios répartis en 6 parties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816352"/>
            <a:ext cx="137160" cy="13716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2743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1010"/>
                </a:solidFill>
                <a:latin typeface="Calibri"/>
              </a:defRPr>
            </a:pPr>
            <a:r>
              <a:t>Partie 1 — Parcours P2P Complet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A9EA2"/>
                </a:solidFill>
                <a:latin typeface="Calibri"/>
              </a:defRPr>
            </a:pPr>
            <a:r>
              <a:t>S1 à S9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410712"/>
            <a:ext cx="137160" cy="137160"/>
          </a:xfrm>
          <a:prstGeom prst="roundRect">
            <a:avLst/>
          </a:prstGeom>
          <a:solidFill>
            <a:srgbClr val="F59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3337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1010"/>
                </a:solidFill>
                <a:latin typeface="Calibri"/>
              </a:defRPr>
            </a:pPr>
            <a:r>
              <a:t>Partie 2 — Urgences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337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A9EA2"/>
                </a:solidFill>
                <a:latin typeface="Calibri"/>
              </a:defRPr>
            </a:pPr>
            <a:r>
              <a:t>S10 à S11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005072"/>
            <a:ext cx="137160" cy="137160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3931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1010"/>
                </a:solidFill>
                <a:latin typeface="Calibri"/>
              </a:defRPr>
            </a:pPr>
            <a:r>
              <a:t>Partie 3 — Pot Commun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931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A9EA2"/>
                </a:solidFill>
                <a:latin typeface="Calibri"/>
              </a:defRPr>
            </a:pPr>
            <a:r>
              <a:t>S12 à S16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4599432"/>
            <a:ext cx="137160" cy="137160"/>
          </a:xfrm>
          <a:prstGeom prst="roundRect">
            <a:avLst/>
          </a:prstGeom>
          <a:solidFill>
            <a:srgbClr val="00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37360" y="4526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1010"/>
                </a:solidFill>
                <a:latin typeface="Calibri"/>
              </a:defRPr>
            </a:pPr>
            <a:r>
              <a:t>Partie 4 — Matching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526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A9EA2"/>
                </a:solidFill>
                <a:latin typeface="Calibri"/>
              </a:defRPr>
            </a:pPr>
            <a:r>
              <a:t>S17 à S21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5193792"/>
            <a:ext cx="137160" cy="137160"/>
          </a:xfrm>
          <a:prstGeom prst="roundRect">
            <a:avLst/>
          </a:prstGeom>
          <a:solidFill>
            <a:srgbClr val="38C1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37360" y="5120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1010"/>
                </a:solidFill>
                <a:latin typeface="Calibri"/>
              </a:defRPr>
            </a:pPr>
            <a:r>
              <a:t>Partie 5 — Intelligence Réseau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5120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A9EA2"/>
                </a:solidFill>
                <a:latin typeface="Calibri"/>
              </a:defRPr>
            </a:pPr>
            <a:r>
              <a:t>S22 à S28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5788152"/>
            <a:ext cx="137160" cy="13716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37360" y="5715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1010"/>
                </a:solidFill>
                <a:latin typeface="Calibri"/>
              </a:defRPr>
            </a:pPr>
            <a:r>
              <a:t>Partie 6 — Missions Collectives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5715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A9EA2"/>
                </a:solidFill>
                <a:latin typeface="Calibri"/>
              </a:defRPr>
            </a:pPr>
            <a:r>
              <a:t>S29 à S30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822960" cy="82296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1010"/>
                </a:solidFill>
                <a:latin typeface="Calibri"/>
              </a:defRPr>
            </a:pPr>
            <a:r>
              <a:t>Préparation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9202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Calibri"/>
              </a:defRPr>
            </a:pPr>
            <a:r>
              <a:t>Données de démo et réinitialisation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0175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00D4AA"/>
                </a:solidFill>
                <a:latin typeface="Calibri"/>
              </a:defRPr>
            </a:pPr>
            <a:r>
              <a:t>🔄 Réinitialisation des données</a:t>
            </a:r>
          </a:p>
          <a:p>
            <a:pPr>
              <a:spcAft>
                <a:spcPts val="400"/>
              </a:spcAft>
              <a:defRPr sz="1200">
                <a:solidFill>
                  <a:srgbClr val="5F6368"/>
                </a:solidFill>
                <a:latin typeface="Calibri"/>
              </a:defRPr>
            </a:pPr>
            <a:r>
              <a:t>npm run db:reset-demo</a:t>
            </a:r>
          </a:p>
          <a:p>
            <a:pPr>
              <a:spcAft>
                <a:spcPts val="400"/>
              </a:spcAft>
              <a:defRPr sz="1200">
                <a:solidFill>
                  <a:srgbClr val="5F6368"/>
                </a:solidFill>
                <a:latin typeface="Calibri"/>
              </a:defRPr>
            </a:pPr>
            <a:r>
              <a:t>ou lancer les seeds un par un :</a:t>
            </a:r>
          </a:p>
          <a:p>
            <a:pPr lvl="1">
              <a:spcAft>
                <a:spcPts val="400"/>
              </a:spcAft>
              <a:defRPr sz="1100">
                <a:solidFill>
                  <a:srgbClr val="9A9EA2"/>
                </a:solidFill>
                <a:latin typeface="Calibri"/>
              </a:defRPr>
            </a:pPr>
            <a:r>
              <a:t>npm run seed:demo</a:t>
            </a:r>
          </a:p>
          <a:p>
            <a:pPr lvl="1">
              <a:spcAft>
                <a:spcPts val="400"/>
              </a:spcAft>
              <a:defRPr sz="1100">
                <a:solidFill>
                  <a:srgbClr val="9A9EA2"/>
                </a:solidFill>
                <a:latin typeface="Calibri"/>
              </a:defRPr>
            </a:pPr>
            <a:r>
              <a:t>npm run seed:gamification</a:t>
            </a:r>
          </a:p>
          <a:p>
            <a:pPr lvl="1">
              <a:spcAft>
                <a:spcPts val="400"/>
              </a:spcAft>
              <a:defRPr sz="1100">
                <a:solidFill>
                  <a:srgbClr val="9A9EA2"/>
                </a:solidFill>
                <a:latin typeface="Calibri"/>
              </a:defRPr>
            </a:pPr>
            <a:r>
              <a:t>npm run seed:facilitator-test</a:t>
            </a:r>
          </a:p>
          <a:p>
            <a:pPr lvl="1">
              <a:spcAft>
                <a:spcPts val="400"/>
              </a:spcAft>
              <a:defRPr sz="1100">
                <a:solidFill>
                  <a:srgbClr val="9A9EA2"/>
                </a:solidFill>
                <a:latin typeface="Calibri"/>
              </a:defRPr>
            </a:pPr>
            <a:r>
              <a:t>npm run seed:collective-missions</a:t>
            </a:r>
          </a:p>
          <a:p>
            <a:pPr lvl="1">
              <a:spcAft>
                <a:spcPts val="400"/>
              </a:spcAft>
              <a:defRPr sz="1100">
                <a:solidFill>
                  <a:srgbClr val="9A9EA2"/>
                </a:solidFill>
                <a:latin typeface="Calibri"/>
              </a:defRPr>
            </a:pPr>
            <a:r>
              <a:t>npm run seed:facilitator-network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30175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00D4AA"/>
                </a:solidFill>
                <a:latin typeface="Calibri"/>
              </a:defRPr>
            </a:pPr>
            <a:r>
              <a:t>📊 État actuel de la base</a:t>
            </a:r>
          </a:p>
          <a:p>
            <a:pPr>
              <a:spcAft>
                <a:spcPts val="300"/>
              </a:spcAft>
              <a:defRPr sz="1100">
                <a:solidFill>
                  <a:srgbClr val="5F6368"/>
                </a:solidFill>
              </a:defRPr>
            </a:pPr>
            <a:r>
              <a:t>Utilisateurs  </a:t>
            </a:r>
            <a:r>
              <a:rPr b="1" sz="1100">
                <a:solidFill>
                  <a:srgbClr val="00D4AA"/>
                </a:solidFill>
              </a:rPr>
              <a:t>23</a:t>
            </a:r>
          </a:p>
          <a:p>
            <a:pPr>
              <a:spcAft>
                <a:spcPts val="300"/>
              </a:spcAft>
              <a:defRPr sz="1100">
                <a:solidFill>
                  <a:srgbClr val="5F6368"/>
                </a:solidFill>
              </a:defRPr>
            </a:pPr>
            <a:r>
              <a:t>Services  </a:t>
            </a:r>
            <a:r>
              <a:rPr b="1" sz="1100">
                <a:solidFill>
                  <a:srgbClr val="00D4AA"/>
                </a:solidFill>
              </a:rPr>
              <a:t>47</a:t>
            </a:r>
          </a:p>
          <a:p>
            <a:pPr>
              <a:spcAft>
                <a:spcPts val="300"/>
              </a:spcAft>
              <a:defRPr sz="1100">
                <a:solidFill>
                  <a:srgbClr val="5F6368"/>
                </a:solidFill>
              </a:defRPr>
            </a:pPr>
            <a:r>
              <a:t>Réservations  </a:t>
            </a:r>
            <a:r>
              <a:rPr b="1" sz="1100">
                <a:solidFill>
                  <a:srgbClr val="00D4AA"/>
                </a:solidFill>
              </a:rPr>
              <a:t>43</a:t>
            </a:r>
          </a:p>
          <a:p>
            <a:pPr>
              <a:spcAft>
                <a:spcPts val="300"/>
              </a:spcAft>
              <a:defRPr sz="1100">
                <a:solidFill>
                  <a:srgbClr val="5F6368"/>
                </a:solidFill>
              </a:defRPr>
            </a:pPr>
            <a:r>
              <a:t>Transactions  </a:t>
            </a:r>
            <a:r>
              <a:rPr b="1" sz="1100">
                <a:solidFill>
                  <a:srgbClr val="00D4AA"/>
                </a:solidFill>
              </a:rPr>
              <a:t>75</a:t>
            </a:r>
          </a:p>
          <a:p>
            <a:pPr>
              <a:spcAft>
                <a:spcPts val="300"/>
              </a:spcAft>
              <a:defRPr sz="1100">
                <a:solidFill>
                  <a:srgbClr val="5F6368"/>
                </a:solidFill>
              </a:defRPr>
            </a:pPr>
            <a:r>
              <a:t>Évaluations  </a:t>
            </a:r>
            <a:r>
              <a:rPr b="1" sz="1100">
                <a:solidFill>
                  <a:srgbClr val="00D4AA"/>
                </a:solidFill>
              </a:rPr>
              <a:t>20</a:t>
            </a:r>
          </a:p>
          <a:p>
            <a:pPr>
              <a:spcAft>
                <a:spcPts val="300"/>
              </a:spcAft>
              <a:defRPr sz="1100">
                <a:solidFill>
                  <a:srgbClr val="5F6368"/>
                </a:solidFill>
              </a:defRPr>
            </a:pPr>
            <a:r>
              <a:t>Demandes Pot  </a:t>
            </a:r>
            <a:r>
              <a:rPr b="1" sz="1100">
                <a:solidFill>
                  <a:srgbClr val="00D4AA"/>
                </a:solidFill>
              </a:rPr>
              <a:t>6</a:t>
            </a:r>
          </a:p>
          <a:p>
            <a:pPr>
              <a:spcAft>
                <a:spcPts val="300"/>
              </a:spcAft>
              <a:defRPr sz="1100">
                <a:solidFill>
                  <a:srgbClr val="5F6368"/>
                </a:solidFill>
              </a:defRPr>
            </a:pPr>
            <a:r>
              <a:t>Missions collectives  </a:t>
            </a:r>
            <a:r>
              <a:rPr b="1" sz="1100">
                <a:solidFill>
                  <a:srgbClr val="00D4AA"/>
                </a:solidFill>
              </a:rPr>
              <a:t>5</a:t>
            </a:r>
          </a:p>
          <a:p>
            <a:pPr>
              <a:spcAft>
                <a:spcPts val="300"/>
              </a:spcAft>
              <a:defRPr sz="1100">
                <a:solidFill>
                  <a:srgbClr val="5F6368"/>
                </a:solidFill>
              </a:defRPr>
            </a:pPr>
            <a:r>
              <a:t>Demandes urgentes  </a:t>
            </a:r>
            <a:r>
              <a:rPr b="1" sz="1100">
                <a:solidFill>
                  <a:srgbClr val="00D4AA"/>
                </a:solidFill>
              </a:rPr>
              <a:t>9</a:t>
            </a:r>
          </a:p>
          <a:p>
            <a:pPr>
              <a:spcAft>
                <a:spcPts val="300"/>
              </a:spcAft>
              <a:defRPr sz="1100">
                <a:solidFill>
                  <a:srgbClr val="5F6368"/>
                </a:solidFill>
              </a:defRPr>
            </a:pPr>
            <a:r>
              <a:t>Messages P2P  </a:t>
            </a:r>
            <a:r>
              <a:rPr b="1" sz="1100">
                <a:solidFill>
                  <a:srgbClr val="00D4AA"/>
                </a:solidFill>
              </a:rPr>
              <a:t>13</a:t>
            </a:r>
          </a:p>
          <a:p>
            <a:pPr>
              <a:spcAft>
                <a:spcPts val="300"/>
              </a:spcAft>
              <a:defRPr sz="1100">
                <a:solidFill>
                  <a:srgbClr val="5F6368"/>
                </a:solidFill>
              </a:defRPr>
            </a:pPr>
            <a:r>
              <a:t>Recommandations match  </a:t>
            </a:r>
            <a:r>
              <a:rPr b="1" sz="1100">
                <a:solidFill>
                  <a:srgbClr val="00D4AA"/>
                </a:solidFill>
              </a:rPr>
              <a:t>54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822960" cy="82296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1010"/>
                </a:solidFill>
                <a:latin typeface="Calibri"/>
              </a:defRPr>
            </a:pPr>
            <a:r>
              <a:t>Partie 1 — Parcours P2P Complet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9202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Calibri"/>
              </a:defRPr>
            </a:pPr>
            <a:r>
              <a:t>S1 à S9 : Marketplace, réservation, messagerie, complétion, wallet, transfert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926080"/>
            <a:ext cx="3474720" cy="21945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9900" y="3063240"/>
            <a:ext cx="38100" cy="19202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3063240"/>
            <a:ext cx="914400" cy="27432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1010"/>
                </a:solidFill>
                <a:latin typeface="Calibri"/>
              </a:defRPr>
            </a:pPr>
            <a:r>
              <a:t>Marketplace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Connecté en Karim → /services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Liste des services visible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Cartes : nom, note, TIME/h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Page détail service (description, profil, avis)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926080"/>
            <a:ext cx="3474720" cy="21945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18940" y="3063240"/>
            <a:ext cx="38100" cy="19202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3063240"/>
            <a:ext cx="914400" cy="27432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429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1010"/>
                </a:solidFill>
                <a:latin typeface="Calibri"/>
              </a:defRPr>
            </a:pPr>
            <a:r>
              <a:t>Réservation P2P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794760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Clique Réserver sur un service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Remplis heures + date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Récap coût (heures × TIME/h)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Statut : En attente (pending)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2926080"/>
            <a:ext cx="3749039" cy="21945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67979" y="3063240"/>
            <a:ext cx="38100" cy="19202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38159" y="3063240"/>
            <a:ext cx="914400" cy="27432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59" y="342900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1010"/>
                </a:solidFill>
                <a:latin typeface="Calibri"/>
              </a:defRPr>
            </a:pPr>
            <a:r>
              <a:t>Messagerie P2P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59" y="3794760"/>
            <a:ext cx="338327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Va sur Mes réservations → /bookings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Envoie message au provider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Le message s'affiche avec nom/date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Discussion visible dans le détail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303520"/>
            <a:ext cx="347472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9900" y="5440680"/>
            <a:ext cx="38100" cy="1097280"/>
          </a:xfrm>
          <a:prstGeom prst="rect">
            <a:avLst/>
          </a:prstGeom>
          <a:solidFill>
            <a:srgbClr val="F59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5440680"/>
            <a:ext cx="914400" cy="274320"/>
          </a:xfrm>
          <a:prstGeom prst="roundRect">
            <a:avLst/>
          </a:prstGeom>
          <a:solidFill>
            <a:srgbClr val="F59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8064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1010"/>
                </a:solidFill>
                <a:latin typeface="Calibri"/>
              </a:defRPr>
            </a:pPr>
            <a:r>
              <a:t>Réponse du Provider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172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Déconnecte-toi, connecte le provider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Répond dans la discussion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Marqueur de lecture (read)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40" y="5303520"/>
            <a:ext cx="347472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18940" y="5440680"/>
            <a:ext cx="38100" cy="1097280"/>
          </a:xfrm>
          <a:prstGeom prst="rect">
            <a:avLst/>
          </a:prstGeom>
          <a:solidFill>
            <a:srgbClr val="F59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89120" y="5440680"/>
            <a:ext cx="914400" cy="274320"/>
          </a:xfrm>
          <a:prstGeom prst="roundRect">
            <a:avLst/>
          </a:prstGeom>
          <a:solidFill>
            <a:srgbClr val="F59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8064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1010"/>
                </a:solidFill>
                <a:latin typeface="Calibri"/>
              </a:defRPr>
            </a:pPr>
            <a:r>
              <a:t>Changement de statut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6172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Provider clique Accepter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Statut → Confirmé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Message système dans la discussion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79" y="5303520"/>
            <a:ext cx="3749039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67979" y="5440680"/>
            <a:ext cx="38100" cy="1097280"/>
          </a:xfrm>
          <a:prstGeom prst="rect">
            <a:avLst/>
          </a:prstGeom>
          <a:solidFill>
            <a:srgbClr val="F59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38159" y="5440680"/>
            <a:ext cx="914400" cy="274320"/>
          </a:xfrm>
          <a:prstGeom prst="roundRect">
            <a:avLst/>
          </a:prstGeom>
          <a:solidFill>
            <a:srgbClr val="F59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59" y="580644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1010"/>
                </a:solidFill>
                <a:latin typeface="Calibri"/>
              </a:defRPr>
            </a:pPr>
            <a:r>
              <a:t>Complétion (QR)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59" y="617220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Générer QR de complétion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Scanner / copier lien autre session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Statut → Terminée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1010"/>
                </a:solidFill>
                <a:latin typeface="Calibri"/>
              </a:defRPr>
            </a:pPr>
            <a:r>
              <a:t>Partie 1 — P2P (suite)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474720" cy="2560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9900" y="1508760"/>
            <a:ext cx="38100" cy="2286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914400" cy="27432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1010"/>
                </a:solidFill>
                <a:latin typeface="Calibri"/>
              </a:defRPr>
            </a:pPr>
            <a:r>
              <a:t>Évaluation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3108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Noter l'expérience (1-5★)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Commentaire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Note visible sur profil provider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Réputation impactée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371600"/>
            <a:ext cx="3474720" cy="2560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18940" y="1508760"/>
            <a:ext cx="38100" cy="22860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1508760"/>
            <a:ext cx="914400" cy="274320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8745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1010"/>
                </a:solidFill>
                <a:latin typeface="Calibri"/>
              </a:defRPr>
            </a:pPr>
            <a:r>
              <a:t>Wallet &amp; Transactions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240280"/>
            <a:ext cx="3108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Solde débité du montant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escrow_hold dans historique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escrow_release au provider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Solde provider augmenté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371600"/>
            <a:ext cx="3749039" cy="2560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67979" y="1508760"/>
            <a:ext cx="38100" cy="22860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59" y="1508760"/>
            <a:ext cx="914400" cy="274320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9" y="187452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1010"/>
                </a:solidFill>
                <a:latin typeface="Calibri"/>
              </a:defRPr>
            </a:pPr>
            <a:r>
              <a:t>Transfert P2P direct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9" y="2240280"/>
            <a:ext cx="3383279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Va sur /wallet/transfer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Envoie 1 TIME à alice.seed@...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Message de confirmation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Transaction dans les 2 historiques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38C1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822960" cy="82296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1010"/>
                </a:solidFill>
                <a:latin typeface="Calibri"/>
              </a:defRPr>
            </a:pPr>
            <a:r>
              <a:t>Partie 2 — Urgences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9202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Calibri"/>
              </a:defRPr>
            </a:pPr>
            <a:r>
              <a:t>S10 à S11 : Création et réponse aux demandes urgentes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2926080"/>
            <a:ext cx="3474720" cy="3200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98700" y="3063240"/>
            <a:ext cx="38100" cy="2926080"/>
          </a:xfrm>
          <a:prstGeom prst="rect">
            <a:avLst/>
          </a:prstGeom>
          <a:solidFill>
            <a:srgbClr val="F59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68880" y="3063240"/>
            <a:ext cx="914400" cy="274320"/>
          </a:xfrm>
          <a:prstGeom prst="roundRect">
            <a:avLst/>
          </a:prstGeom>
          <a:solidFill>
            <a:srgbClr val="F59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3429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1010"/>
                </a:solidFill>
                <a:latin typeface="Calibri"/>
              </a:defRPr>
            </a:pPr>
            <a:r>
              <a:t>Créer une demande urgente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794760"/>
            <a:ext cx="31089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Connecté en Karim → /urgent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Liste des demandes existantes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Nouvelle demande : titre, desc, catégorie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Soumettre</a:t>
            </a:r>
          </a:p>
          <a:p>
            <a:pPr>
              <a:spcAft>
                <a:spcPts val="200"/>
              </a:spcAft>
              <a:defRPr sz="900">
                <a:solidFill>
                  <a:srgbClr val="9A9EA2"/>
                </a:solidFill>
                <a:latin typeface="Calibri"/>
              </a:defRPr>
            </a:pPr>
            <a:r>
              <a:t>+1 étapes...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926080"/>
            <a:ext cx="3474720" cy="3200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0620" y="3063240"/>
            <a:ext cx="38100" cy="2926080"/>
          </a:xfrm>
          <a:prstGeom prst="rect">
            <a:avLst/>
          </a:prstGeom>
          <a:solidFill>
            <a:srgbClr val="F59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3063240"/>
            <a:ext cx="914400" cy="274320"/>
          </a:xfrm>
          <a:prstGeom prst="roundRect">
            <a:avLst/>
          </a:prstGeom>
          <a:solidFill>
            <a:srgbClr val="F59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429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1010"/>
                </a:solidFill>
                <a:latin typeface="Calibri"/>
              </a:defRPr>
            </a:pPr>
            <a:r>
              <a:t>Répondre à une urgence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794760"/>
            <a:ext cx="31089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Connecte-toi en Alex → /urgent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Demande de Karim visible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Proposer son aide → envoyer offre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Reviens en Karim → offre visible</a:t>
            </a:r>
          </a:p>
          <a:p>
            <a:pPr>
              <a:spcAft>
                <a:spcPts val="200"/>
              </a:spcAft>
              <a:defRPr sz="900">
                <a:solidFill>
                  <a:srgbClr val="9A9EA2"/>
                </a:solidFill>
                <a:latin typeface="Calibri"/>
              </a:defRPr>
            </a:pPr>
            <a:r>
              <a:t>+1 étapes...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822960" cy="82296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1010"/>
                </a:solidFill>
                <a:latin typeface="Calibri"/>
              </a:defRPr>
            </a:pPr>
            <a:r>
              <a:t>Partie 3 — Pot Commun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9202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Calibri"/>
              </a:defRPr>
            </a:pPr>
            <a:r>
              <a:t>S12 à S16 : Dashboard, approbation/refus, transactions, missions solidaires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926080"/>
            <a:ext cx="3474720" cy="1645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9900" y="3063240"/>
            <a:ext cx="38100" cy="13716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3063240"/>
            <a:ext cx="914400" cy="274320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1010"/>
                </a:solidFill>
                <a:latin typeface="Calibri"/>
              </a:defRPr>
            </a:pPr>
            <a:r>
              <a:t>Dashboard Pot Commun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Connecté en Sarah → /facilitator/community-pot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Solde pot, donations, financements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Demandes en attente, KPIs interactifs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926080"/>
            <a:ext cx="3474720" cy="1645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18940" y="3063240"/>
            <a:ext cx="38100" cy="13716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3063240"/>
            <a:ext cx="914400" cy="274320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429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1010"/>
                </a:solidFill>
                <a:latin typeface="Calibri"/>
              </a:defRPr>
            </a:pPr>
            <a:r>
              <a:t>Approuver une demande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79476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Vérifier détails demande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Approuver avec note de décision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Solde pot diminue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2926080"/>
            <a:ext cx="3749039" cy="1645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67979" y="3063240"/>
            <a:ext cx="38100" cy="13716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38159" y="3063240"/>
            <a:ext cx="914400" cy="274320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59" y="342900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1010"/>
                </a:solidFill>
                <a:latin typeface="Calibri"/>
              </a:defRPr>
            </a:pPr>
            <a:r>
              <a:t>Refuser une demande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59" y="3794760"/>
            <a:ext cx="33832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Refuser avec note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Passe en Refusée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Solde pot inchangé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46320"/>
            <a:ext cx="3474720" cy="1645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9900" y="4983480"/>
            <a:ext cx="38100" cy="1371600"/>
          </a:xfrm>
          <a:prstGeom prst="rect">
            <a:avLst/>
          </a:prstGeom>
          <a:solidFill>
            <a:srgbClr val="00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4983480"/>
            <a:ext cx="914400" cy="274320"/>
          </a:xfrm>
          <a:prstGeom prst="roundRect">
            <a:avLst/>
          </a:prstGeom>
          <a:solidFill>
            <a:srgbClr val="00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349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1010"/>
                </a:solidFill>
                <a:latin typeface="Calibri"/>
              </a:defRPr>
            </a:pPr>
            <a:r>
              <a:t>Transactions du pot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71500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Dernières transactions visibles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Donations (entrées) + Fundings (sorties)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Montant, user, date, raison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40" y="4846320"/>
            <a:ext cx="3474720" cy="1645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18940" y="4983480"/>
            <a:ext cx="38100" cy="13716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89120" y="4983480"/>
            <a:ext cx="914400" cy="27432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349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1010"/>
                </a:solidFill>
                <a:latin typeface="Calibri"/>
              </a:defRPr>
            </a:pPr>
            <a:r>
              <a:t>Missions solidaires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571500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Vérifier missions SELF_DECLARED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Action Vérifier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Action Refuser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822960" cy="82296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1010"/>
                </a:solidFill>
                <a:latin typeface="Calibri"/>
              </a:defRPr>
            </a:pPr>
            <a:r>
              <a:t>Partie 4 — Matching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9202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Calibri"/>
              </a:defRPr>
            </a:pPr>
            <a:r>
              <a:t>S17 à S21 : Recommandations pour urgences, solidaires, collectives, historique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926080"/>
            <a:ext cx="3474720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9900" y="3063240"/>
            <a:ext cx="38100" cy="1554480"/>
          </a:xfrm>
          <a:prstGeom prst="rect">
            <a:avLst/>
          </a:prstGeom>
          <a:solidFill>
            <a:srgbClr val="38C1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3063240"/>
            <a:ext cx="914400" cy="274320"/>
          </a:xfrm>
          <a:prstGeom prst="roundRect">
            <a:avLst/>
          </a:prstGeom>
          <a:solidFill>
            <a:srgbClr val="38C1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1010"/>
                </a:solidFill>
                <a:latin typeface="Calibri"/>
              </a:defRPr>
            </a:pPr>
            <a:r>
              <a:t>Matching urgent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Va sur /facilitator/matching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Onglet Urgent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Générer recommandations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Heroes recommandés avec score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926080"/>
            <a:ext cx="3474720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18940" y="3063240"/>
            <a:ext cx="38100" cy="1554480"/>
          </a:xfrm>
          <a:prstGeom prst="rect">
            <a:avLst/>
          </a:prstGeom>
          <a:solidFill>
            <a:srgbClr val="38C1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3063240"/>
            <a:ext cx="914400" cy="274320"/>
          </a:xfrm>
          <a:prstGeom prst="roundRect">
            <a:avLst/>
          </a:prstGeom>
          <a:solidFill>
            <a:srgbClr val="38C1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429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1010"/>
                </a:solidFill>
                <a:latin typeface="Calibri"/>
              </a:defRPr>
            </a:pPr>
            <a:r>
              <a:t>Feedback matching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79476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Approuver / Rejeter recommandation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Laisser feedback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Feedback enregistré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2926080"/>
            <a:ext cx="3749039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67979" y="3063240"/>
            <a:ext cx="38100" cy="1554480"/>
          </a:xfrm>
          <a:prstGeom prst="rect">
            <a:avLst/>
          </a:prstGeom>
          <a:solidFill>
            <a:srgbClr val="00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38159" y="3063240"/>
            <a:ext cx="914400" cy="274320"/>
          </a:xfrm>
          <a:prstGeom prst="roundRect">
            <a:avLst/>
          </a:prstGeom>
          <a:solidFill>
            <a:srgbClr val="00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59" y="342900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1010"/>
                </a:solidFill>
                <a:latin typeface="Calibri"/>
              </a:defRPr>
            </a:pPr>
            <a:r>
              <a:t>Matching solidaire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59" y="3794760"/>
            <a:ext cx="3383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Onglet Solidaire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Générer recommandations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Résultats affichés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029200"/>
            <a:ext cx="3474720" cy="1645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9900" y="5166360"/>
            <a:ext cx="38100" cy="1371600"/>
          </a:xfrm>
          <a:prstGeom prst="rect">
            <a:avLst/>
          </a:prstGeom>
          <a:solidFill>
            <a:srgbClr val="00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5166360"/>
            <a:ext cx="914400" cy="274320"/>
          </a:xfrm>
          <a:prstGeom prst="roundRect">
            <a:avLst/>
          </a:prstGeom>
          <a:solidFill>
            <a:srgbClr val="00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532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1010"/>
                </a:solidFill>
                <a:latin typeface="Calibri"/>
              </a:defRPr>
            </a:pPr>
            <a:r>
              <a:t>Matching collectif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Onglet Collective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Générer recommandations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Résultats affichés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40" y="5029200"/>
            <a:ext cx="3474720" cy="1645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18940" y="5166360"/>
            <a:ext cx="38100" cy="13716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89120" y="5166360"/>
            <a:ext cx="914400" cy="27432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532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1010"/>
                </a:solidFill>
                <a:latin typeface="Calibri"/>
              </a:defRPr>
            </a:pPr>
            <a:r>
              <a:t>Historique matchs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589788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Onglet Historique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Recommandations passées visibles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Feedbacks associés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F59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822960" cy="82296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1010"/>
                </a:solidFill>
                <a:latin typeface="Calibri"/>
              </a:defRPr>
            </a:pPr>
            <a:r>
              <a:t>Partie 5 — Intelligence Réseau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9202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Calibri"/>
              </a:defRPr>
            </a:pPr>
            <a:r>
              <a:t>S22 à S28 : Dashboard réseau, demandes bloquées, héros, TIME dormants, alertes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926080"/>
            <a:ext cx="3474720" cy="2011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9900" y="3063240"/>
            <a:ext cx="38100" cy="1737360"/>
          </a:xfrm>
          <a:prstGeom prst="rect">
            <a:avLst/>
          </a:prstGeom>
          <a:solidFill>
            <a:srgbClr val="38C1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3063240"/>
            <a:ext cx="914400" cy="274320"/>
          </a:xfrm>
          <a:prstGeom prst="roundRect">
            <a:avLst/>
          </a:prstGeom>
          <a:solidFill>
            <a:srgbClr val="38C1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1010"/>
                </a:solidFill>
                <a:latin typeface="Calibri"/>
              </a:defRPr>
            </a:pPr>
            <a:r>
              <a:t>Dashboard Réseau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Va sur /facilitator/network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Network Health Score (0-100)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5 sous-scores : liquidité, réponse, etc.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Métriques clés affichées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926080"/>
            <a:ext cx="3474720" cy="2011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18940" y="3063240"/>
            <a:ext cx="38100" cy="1737360"/>
          </a:xfrm>
          <a:prstGeom prst="rect">
            <a:avLst/>
          </a:prstGeom>
          <a:solidFill>
            <a:srgbClr val="F59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3063240"/>
            <a:ext cx="914400" cy="274320"/>
          </a:xfrm>
          <a:prstGeom prst="roundRect">
            <a:avLst/>
          </a:prstGeom>
          <a:solidFill>
            <a:srgbClr val="F59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429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1010"/>
                </a:solidFill>
                <a:latin typeface="Calibri"/>
              </a:defRPr>
            </a:pPr>
            <a:r>
              <a:t>Demandes bloquées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794760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Urgences sans réponse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Pot en attente, solidaires non vérifiées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Bookings bloqués, collectives sous-rempl.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Code couleur par sévérité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2926080"/>
            <a:ext cx="3749039" cy="2011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67979" y="3063240"/>
            <a:ext cx="38100" cy="1737360"/>
          </a:xfrm>
          <a:prstGeom prst="rect">
            <a:avLst/>
          </a:prstGeom>
          <a:solidFill>
            <a:srgbClr val="E84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38159" y="3063240"/>
            <a:ext cx="914400" cy="274320"/>
          </a:xfrm>
          <a:prstGeom prst="roundRect">
            <a:avLst/>
          </a:prstGeom>
          <a:solidFill>
            <a:srgbClr val="E84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59" y="342900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1010"/>
                </a:solidFill>
                <a:latin typeface="Calibri"/>
              </a:defRPr>
            </a:pPr>
            <a:r>
              <a:t>Heroes sur-sollicités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59" y="3794760"/>
            <a:ext cx="338327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Missions 30j, heures données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Score + niveau de risque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Recommandations d'action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Lien vers profil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212080"/>
            <a:ext cx="347472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9900" y="5349240"/>
            <a:ext cx="38100" cy="10972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5349240"/>
            <a:ext cx="914400" cy="27432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715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1010"/>
                </a:solidFill>
                <a:latin typeface="Calibri"/>
              </a:defRPr>
            </a:pPr>
            <a:r>
              <a:t>Heroes sous-utilisés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080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Compétences, passport, inactivité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Recommandations d'action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40" y="5212080"/>
            <a:ext cx="347472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18940" y="5349240"/>
            <a:ext cx="38100" cy="109728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89120" y="5349240"/>
            <a:ext cx="914400" cy="274320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715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1010"/>
                </a:solidFill>
                <a:latin typeface="Calibri"/>
              </a:defRPr>
            </a:pPr>
            <a:r>
              <a:t>TIME dormants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6080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Statuts : Light, Strong, TimeRich, Poor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Suggestions recyclage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79" y="5212080"/>
            <a:ext cx="3749039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67979" y="5349240"/>
            <a:ext cx="38100" cy="1097280"/>
          </a:xfrm>
          <a:prstGeom prst="rect">
            <a:avLst/>
          </a:prstGeom>
          <a:solidFill>
            <a:srgbClr val="F59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38159" y="5349240"/>
            <a:ext cx="914400" cy="274320"/>
          </a:xfrm>
          <a:prstGeom prst="roundRect">
            <a:avLst/>
          </a:prstGeom>
          <a:solidFill>
            <a:srgbClr val="F59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S27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59" y="571500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1010"/>
                </a:solidFill>
                <a:latin typeface="Calibri"/>
              </a:defRPr>
            </a:pPr>
            <a:r>
              <a:t>Alertes &amp; Notes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59" y="608076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Résoudre / Ignorer une alerte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Ajouter note sur hero ou mission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Note visible dans historique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1010"/>
                </a:solidFill>
                <a:latin typeface="Calibri"/>
              </a:defRPr>
            </a:pPr>
            <a:r>
              <a:t>Partie 5 — Intelligence Réseau (suite)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3474720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84300" y="1508760"/>
            <a:ext cx="38100" cy="1554480"/>
          </a:xfrm>
          <a:prstGeom prst="rect">
            <a:avLst/>
          </a:prstGeom>
          <a:solidFill>
            <a:srgbClr val="38C1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54480" y="1508760"/>
            <a:ext cx="914400" cy="274320"/>
          </a:xfrm>
          <a:prstGeom prst="roundRect">
            <a:avLst/>
          </a:prstGeom>
          <a:solidFill>
            <a:srgbClr val="38C1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8745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1010"/>
                </a:solidFill>
                <a:latin typeface="Calibri"/>
              </a:defRPr>
            </a:pPr>
            <a:r>
              <a:t>Rafraîchissement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24028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Clique sur Rafraîchir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Scores recalculés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Données mises à jour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822960" cy="82296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1010"/>
                </a:solidFill>
                <a:latin typeface="Calibri"/>
              </a:defRPr>
            </a:pPr>
            <a:r>
              <a:t>Partie 6 — Missions Collectives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9202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Calibri"/>
              </a:defRPr>
            </a:pPr>
            <a:r>
              <a:t>S29 à S30 : Découverte et participation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926080"/>
            <a:ext cx="3474720" cy="228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84300" y="3063240"/>
            <a:ext cx="38100" cy="20116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54480" y="3063240"/>
            <a:ext cx="914400" cy="27432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429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1010"/>
                </a:solidFill>
                <a:latin typeface="Calibri"/>
              </a:defRPr>
            </a:pPr>
            <a:r>
              <a:t>Voir les missions collectives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794760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Va sur /collective-missions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Liste des missions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Infos : titre, organisateur, participants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926080"/>
            <a:ext cx="3474720" cy="228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0620" y="3063240"/>
            <a:ext cx="38100" cy="201168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3063240"/>
            <a:ext cx="914400" cy="274320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429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1010"/>
                </a:solidFill>
                <a:latin typeface="Calibri"/>
              </a:defRPr>
            </a:pPr>
            <a:r>
              <a:t>Participer à une mission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794760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Page détail : description, créneau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Type : ONE_TO_MANY, MANY_TO_ONE...</a:t>
            </a:r>
          </a:p>
          <a:p>
            <a:pPr>
              <a:spcAft>
                <a:spcPts val="2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✅ Clique Participer → compteur +1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01010"/>
                </a:solidFill>
                <a:latin typeface="Calibri"/>
              </a:defRPr>
            </a:pPr>
            <a:r>
              <a:t>🎯 Scénario Complet (Journey)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F6368"/>
                </a:solidFill>
                <a:latin typeface="Calibri"/>
              </a:defRPr>
            </a:pPr>
            <a:r>
              <a:t>Enchaînement réaliste pour un facilitateur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457200"/>
            <a:ext cx="1097280" cy="109728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097280" y="3337560"/>
            <a:ext cx="137160" cy="13716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2918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1010"/>
                </a:solidFill>
                <a:latin typeface="Calibri"/>
              </a:defRPr>
            </a:pPr>
            <a:r>
              <a:t>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291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Calibri"/>
              </a:defRPr>
            </a:pPr>
            <a:r>
              <a:t>Sarah se connecte, vérifie le Dashboard Réseau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886200"/>
            <a:ext cx="137160" cy="137160"/>
          </a:xfrm>
          <a:prstGeom prst="roundRect">
            <a:avLst/>
          </a:prstGeom>
          <a:solidFill>
            <a:srgbClr val="F59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8404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1010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840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Calibri"/>
              </a:defRPr>
            </a:pPr>
            <a:r>
              <a:t>Repère une urgence bloquée depuis 48h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4434840"/>
            <a:ext cx="137160" cy="137160"/>
          </a:xfrm>
          <a:prstGeom prst="roundRect">
            <a:avLst/>
          </a:prstGeom>
          <a:solidFill>
            <a:srgbClr val="38C1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3891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1010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3891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Calibri"/>
              </a:defRPr>
            </a:pPr>
            <a:r>
              <a:t>Matching → génère recommandations → approuve un Hero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4983480"/>
            <a:ext cx="137160" cy="137160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49377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1010"/>
                </a:solidFill>
                <a:latin typeface="Calibri"/>
              </a:defRPr>
            </a:pPr>
            <a:r>
              <a:t>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9377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Calibri"/>
              </a:defRPr>
            </a:pPr>
            <a:r>
              <a:t>Pot Commun → approuve une demande de financement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5532120"/>
            <a:ext cx="137160" cy="137160"/>
          </a:xfrm>
          <a:prstGeom prst="roundRect">
            <a:avLst/>
          </a:prstGeom>
          <a:solidFill>
            <a:srgbClr val="00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54864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1010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5486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Calibri"/>
              </a:defRPr>
            </a:pPr>
            <a:r>
              <a:t>Laisse une note sur un Hero pour suivi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6080760"/>
            <a:ext cx="137160" cy="137160"/>
          </a:xfrm>
          <a:prstGeom prst="roundRect">
            <a:avLst/>
          </a:prstGeom>
          <a:solidFill>
            <a:srgbClr val="F59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60350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1010"/>
                </a:solidFill>
                <a:latin typeface="Calibri"/>
              </a:defRPr>
            </a:pPr>
            <a:r>
              <a:t>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60350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Calibri"/>
              </a:defRPr>
            </a:pPr>
            <a:r>
              <a:t>Vérifie les TIME dormants et suggestions de recyclage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6629400"/>
            <a:ext cx="137160" cy="13716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6583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1010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6583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Calibri"/>
              </a:defRPr>
            </a:pPr>
            <a:r>
              <a:t>Clique Rafraîchir → nouveau score réseau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01010"/>
                </a:solidFill>
                <a:latin typeface="Calibri"/>
              </a:defRPr>
            </a:pPr>
            <a:r>
              <a:t>✅ Checklist finale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F6368"/>
                </a:solidFill>
                <a:latin typeface="Calibri"/>
              </a:defRPr>
            </a:pPr>
            <a:r>
              <a:t>30 tests à cocher au fur et à mesure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457200"/>
            <a:ext cx="1097280" cy="109728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0D4AA"/>
                </a:solidFill>
                <a:latin typeface="Calibri"/>
              </a:defRPr>
            </a:pPr>
            <a:r>
              <a:t>Partie 1 — P2P Complet</a:t>
            </a:r>
          </a:p>
          <a:p>
            <a:pPr algn="l">
              <a:spcAft>
                <a:spcPts val="1000"/>
              </a:spcAft>
              <a:defRPr sz="1100" b="0">
                <a:solidFill>
                  <a:srgbClr val="5F6368"/>
                </a:solidFill>
                <a:latin typeface="Calibri"/>
              </a:defRPr>
            </a:pPr>
            <a:r>
              <a:t>⬜ S1  ⬜ S2  ⬜ S3  ⬜ S4  ⬜ S5  ⬜ S6  ⬜ S7  ⬜ S8  ⬜ S9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00D4AA"/>
                </a:solidFill>
                <a:latin typeface="Calibri"/>
              </a:defRPr>
            </a:pPr>
            <a:r>
              <a:t>Partie 2 — Urgences</a:t>
            </a:r>
          </a:p>
          <a:p>
            <a:pPr algn="l">
              <a:spcAft>
                <a:spcPts val="1000"/>
              </a:spcAft>
              <a:defRPr sz="1100" b="0">
                <a:solidFill>
                  <a:srgbClr val="5F6368"/>
                </a:solidFill>
                <a:latin typeface="Calibri"/>
              </a:defRPr>
            </a:pPr>
            <a:r>
              <a:t>⬜ S10  ⬜ S11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00D4AA"/>
                </a:solidFill>
                <a:latin typeface="Calibri"/>
              </a:defRPr>
            </a:pPr>
            <a:r>
              <a:t>Partie 3 — Pot Commun</a:t>
            </a:r>
          </a:p>
          <a:p>
            <a:pPr algn="l">
              <a:spcAft>
                <a:spcPts val="1000"/>
              </a:spcAft>
              <a:defRPr sz="1100" b="0">
                <a:solidFill>
                  <a:srgbClr val="5F6368"/>
                </a:solidFill>
                <a:latin typeface="Calibri"/>
              </a:defRPr>
            </a:pPr>
            <a:r>
              <a:t>⬜ S12  ⬜ S13  ⬜ S14  ⬜ S15  ⬜ S16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00D4AA"/>
                </a:solidFill>
                <a:latin typeface="Calibri"/>
              </a:defRPr>
            </a:pPr>
            <a:r>
              <a:t>Partie 4 — Matching</a:t>
            </a:r>
          </a:p>
          <a:p>
            <a:pPr algn="l">
              <a:spcAft>
                <a:spcPts val="1000"/>
              </a:spcAft>
              <a:defRPr sz="1100" b="0">
                <a:solidFill>
                  <a:srgbClr val="5F6368"/>
                </a:solidFill>
                <a:latin typeface="Calibri"/>
              </a:defRPr>
            </a:pPr>
            <a:r>
              <a:t>⬜ S17  ⬜ S18  ⬜ S19  ⬜ S20  ⬜ S21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00D4AA"/>
                </a:solidFill>
                <a:latin typeface="Calibri"/>
              </a:defRPr>
            </a:pPr>
            <a:r>
              <a:t>Partie 5 — Intelligence Réseau</a:t>
            </a:r>
          </a:p>
          <a:p>
            <a:pPr algn="l">
              <a:spcAft>
                <a:spcPts val="1000"/>
              </a:spcAft>
              <a:defRPr sz="1100" b="0">
                <a:solidFill>
                  <a:srgbClr val="5F6368"/>
                </a:solidFill>
                <a:latin typeface="Calibri"/>
              </a:defRPr>
            </a:pPr>
            <a:r>
              <a:t>⬜ S22  ⬜ S23  ⬜ S24  ⬜ S25  ⬜ S26  ⬜ S27  ⬜ S28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00D4AA"/>
                </a:solidFill>
                <a:latin typeface="Calibri"/>
              </a:defRPr>
            </a:pPr>
            <a:r>
              <a:t>Partie 6 — Missions Collectives</a:t>
            </a:r>
          </a:p>
          <a:p>
            <a:pPr algn="l">
              <a:spcAft>
                <a:spcPts val="1000"/>
              </a:spcAft>
              <a:defRPr sz="1100" b="0">
                <a:solidFill>
                  <a:srgbClr val="5F6368"/>
                </a:solidFill>
                <a:latin typeface="Calibri"/>
              </a:defRPr>
            </a:pPr>
            <a:r>
              <a:t>⬜ S29  ⬜ S30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