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371600"/>
            <a:ext cx="10058400" cy="1097280"/>
          </a:xfrm>
          <a:prstGeom prst="rect">
            <a:avLst/>
          </a:prstGeom>
          <a:noFill/>
        </p:spPr>
        <p:txBody>
          <a:bodyPr wrap="square" anchor="t"/>
          <a:lstStyle/>
          <a:p>
            <a:pPr algn="l">
              <a:defRPr sz="7200" b="1">
                <a:solidFill>
                  <a:srgbClr val="FFFFFF"/>
                </a:solidFill>
                <a:latin typeface="Inter"/>
              </a:defRPr>
            </a:pPr>
            <a:r>
              <a:t>TimeHeroes</a:t>
            </a:r>
          </a:p>
        </p:txBody>
      </p:sp>
      <p:sp>
        <p:nvSpPr>
          <p:cNvPr id="4" name="TextBox 3"/>
          <p:cNvSpPr txBox="1"/>
          <p:nvPr/>
        </p:nvSpPr>
        <p:spPr>
          <a:xfrm>
            <a:off x="1097280" y="2377440"/>
            <a:ext cx="9144000" cy="548640"/>
          </a:xfrm>
          <a:prstGeom prst="rect">
            <a:avLst/>
          </a:prstGeom>
          <a:noFill/>
        </p:spPr>
        <p:txBody>
          <a:bodyPr wrap="square" anchor="t"/>
          <a:lstStyle/>
          <a:p>
            <a:pPr algn="l">
              <a:defRPr sz="2400" b="0">
                <a:solidFill>
                  <a:srgbClr val="A3A3A3"/>
                </a:solidFill>
                <a:latin typeface="Inter"/>
              </a:defRPr>
            </a:pPr>
            <a:r>
              <a:t>La première plateforme française de timebanking B2B</a:t>
            </a:r>
          </a:p>
        </p:txBody>
      </p:sp>
      <p:sp>
        <p:nvSpPr>
          <p:cNvPr id="5" name="Rectangle 4"/>
          <p:cNvSpPr/>
          <p:nvPr/>
        </p:nvSpPr>
        <p:spPr>
          <a:xfrm>
            <a:off x="1097280" y="3017520"/>
            <a:ext cx="18288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3383280"/>
            <a:ext cx="8229600" cy="1097280"/>
          </a:xfrm>
          <a:prstGeom prst="rect">
            <a:avLst/>
          </a:prstGeom>
          <a:noFill/>
        </p:spPr>
        <p:txBody>
          <a:bodyPr wrap="square"/>
          <a:lstStyle/>
          <a:p>
            <a:pPr algn="l">
              <a:spcBef>
                <a:spcPts val="0"/>
              </a:spcBef>
              <a:spcAft>
                <a:spcPts val="0"/>
              </a:spcAft>
              <a:defRPr sz="1800" b="0">
                <a:solidFill>
                  <a:srgbClr val="F5F5F5"/>
                </a:solidFill>
                <a:latin typeface="Inter"/>
              </a:defRPr>
            </a:pPr>
            <a:r>
              <a:t>Échangez du temps, pas de l'argent.</a:t>
            </a:r>
          </a:p>
          <a:p>
            <a:pPr algn="l">
              <a:spcBef>
                <a:spcPts val="600"/>
              </a:spcBef>
              <a:spcAft>
                <a:spcPts val="0"/>
              </a:spcAft>
              <a:defRPr sz="1600" b="0">
                <a:solidFill>
                  <a:srgbClr val="737373"/>
                </a:solidFill>
                <a:latin typeface="Inter"/>
              </a:defRPr>
            </a:pPr>
            <a:r>
              <a:t>1h de service = 1 TIME — Mesure d'impact humain intégrée.</a:t>
            </a:r>
          </a:p>
        </p:txBody>
      </p:sp>
      <p:sp>
        <p:nvSpPr>
          <p:cNvPr id="7" name="Rounded Rectangle 6"/>
          <p:cNvSpPr/>
          <p:nvPr/>
        </p:nvSpPr>
        <p:spPr>
          <a:xfrm>
            <a:off x="1097280" y="4846320"/>
            <a:ext cx="3200400" cy="502920"/>
          </a:xfrm>
          <a:prstGeom prst="roundRect">
            <a:avLst>
              <a:gd name="adj" fmla="val 10000"/>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20617"/>
                </a:solidFill>
                <a:latin typeface="Inter"/>
              </a:defRPr>
            </a:pPr>
            <a:r>
              <a:t>timeheroes.fr</a:t>
            </a:r>
          </a:p>
        </p:txBody>
      </p:sp>
      <p:sp>
        <p:nvSpPr>
          <p:cNvPr id="8" name="TextBox 7"/>
          <p:cNvSpPr txBox="1"/>
          <p:nvPr/>
        </p:nvSpPr>
        <p:spPr>
          <a:xfrm>
            <a:off x="1097280" y="5852160"/>
            <a:ext cx="7315200" cy="365760"/>
          </a:xfrm>
          <a:prstGeom prst="rect">
            <a:avLst/>
          </a:prstGeom>
          <a:noFill/>
        </p:spPr>
        <p:txBody>
          <a:bodyPr wrap="square" anchor="t"/>
          <a:lstStyle/>
          <a:p>
            <a:pPr algn="l">
              <a:defRPr sz="1400" b="0">
                <a:solidFill>
                  <a:srgbClr val="737373"/>
                </a:solidFill>
                <a:latin typeface="Inter"/>
              </a:defRPr>
            </a:pPr>
            <a:r>
              <a:t>Ronald Mounien — ESSEC EMBA WE27 • Juillet 2026</a:t>
            </a:r>
          </a:p>
        </p:txBody>
      </p:sp>
      <p:sp>
        <p:nvSpPr>
          <p:cNvPr id="9" name="Rectangle 8"/>
          <p:cNvSpPr/>
          <p:nvPr/>
        </p:nvSpPr>
        <p:spPr>
          <a:xfrm>
            <a:off x="9601200" y="1371600"/>
            <a:ext cx="201168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0" y="1645920"/>
            <a:ext cx="2286000" cy="457200"/>
          </a:xfrm>
          <a:prstGeom prst="rect">
            <a:avLst/>
          </a:prstGeom>
          <a:noFill/>
        </p:spPr>
        <p:txBody>
          <a:bodyPr wrap="square" anchor="t"/>
          <a:lstStyle/>
          <a:p>
            <a:pPr algn="r">
              <a:defRPr sz="1100" b="0">
                <a:solidFill>
                  <a:srgbClr val="737373"/>
                </a:solidFill>
                <a:latin typeface="Inter"/>
              </a:defRPr>
            </a:pPr>
            <a:r>
              <a:t>Pitch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822960" y="320040"/>
            <a:ext cx="3657600" cy="320040"/>
          </a:xfrm>
          <a:prstGeom prst="rect">
            <a:avLst/>
          </a:prstGeom>
          <a:noFill/>
        </p:spPr>
        <p:txBody>
          <a:bodyPr wrap="square" anchor="t"/>
          <a:lstStyle/>
          <a:p>
            <a:pPr algn="l">
              <a:defRPr sz="1000" b="1">
                <a:solidFill>
                  <a:srgbClr val="00D4AA"/>
                </a:solidFill>
                <a:latin typeface="Inter"/>
              </a:defRPr>
            </a:pPr>
            <a:r>
              <a:t>LE PROBLÈME</a:t>
            </a:r>
          </a:p>
        </p:txBody>
      </p:sp>
      <p:sp>
        <p:nvSpPr>
          <p:cNvPr id="3" name="TextBox 2"/>
          <p:cNvSpPr txBox="1"/>
          <p:nvPr/>
        </p:nvSpPr>
        <p:spPr>
          <a:xfrm>
            <a:off x="822960" y="640080"/>
            <a:ext cx="10058400" cy="640080"/>
          </a:xfrm>
          <a:prstGeom prst="rect">
            <a:avLst/>
          </a:prstGeom>
          <a:noFill/>
        </p:spPr>
        <p:txBody>
          <a:bodyPr wrap="square" anchor="t"/>
          <a:lstStyle/>
          <a:p>
            <a:pPr algn="l">
              <a:defRPr sz="3400" b="1">
                <a:solidFill>
                  <a:srgbClr val="F5F5F5"/>
                </a:solidFill>
                <a:latin typeface="Inter"/>
              </a:defRPr>
            </a:pPr>
            <a:r>
              <a:t>Pourquoi TimeHeroes maintenant ?</a:t>
            </a:r>
          </a:p>
        </p:txBody>
      </p:sp>
      <p:sp>
        <p:nvSpPr>
          <p:cNvPr id="4" name="Rounded Rectangle 3"/>
          <p:cNvSpPr/>
          <p:nvPr/>
        </p:nvSpPr>
        <p:spPr>
          <a:xfrm>
            <a:off x="822960" y="1645920"/>
            <a:ext cx="2468880" cy="201168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645920"/>
            <a:ext cx="246888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74520"/>
            <a:ext cx="2103120" cy="640080"/>
          </a:xfrm>
          <a:prstGeom prst="rect">
            <a:avLst/>
          </a:prstGeom>
          <a:noFill/>
        </p:spPr>
        <p:txBody>
          <a:bodyPr wrap="square" anchor="t"/>
          <a:lstStyle/>
          <a:p>
            <a:pPr algn="ctr">
              <a:defRPr sz="4200" b="1">
                <a:solidFill>
                  <a:srgbClr val="00D4AA"/>
                </a:solidFill>
                <a:latin typeface="Inter"/>
              </a:defRPr>
            </a:pPr>
            <a:r>
              <a:t>2M</a:t>
            </a:r>
          </a:p>
        </p:txBody>
      </p:sp>
      <p:sp>
        <p:nvSpPr>
          <p:cNvPr id="7" name="TextBox 6"/>
          <p:cNvSpPr txBox="1"/>
          <p:nvPr/>
        </p:nvSpPr>
        <p:spPr>
          <a:xfrm>
            <a:off x="1005840" y="2468880"/>
            <a:ext cx="2103120" cy="914400"/>
          </a:xfrm>
          <a:prstGeom prst="rect">
            <a:avLst/>
          </a:prstGeom>
          <a:noFill/>
        </p:spPr>
        <p:txBody>
          <a:bodyPr wrap="square" anchor="t"/>
          <a:lstStyle/>
          <a:p>
            <a:pPr algn="ctr">
              <a:defRPr sz="1200" b="0">
                <a:solidFill>
                  <a:srgbClr val="A3A3A3"/>
                </a:solidFill>
                <a:latin typeface="Inter"/>
              </a:defRPr>
            </a:pPr>
            <a:r>
              <a:t>seniors isolés</a:t>
            </a:r>
            <a:br/>
            <a:r>
              <a:t>sévèrement en France</a:t>
            </a:r>
          </a:p>
        </p:txBody>
      </p:sp>
      <p:sp>
        <p:nvSpPr>
          <p:cNvPr id="8" name="Rounded Rectangle 7"/>
          <p:cNvSpPr/>
          <p:nvPr/>
        </p:nvSpPr>
        <p:spPr>
          <a:xfrm>
            <a:off x="3520440" y="1645920"/>
            <a:ext cx="2468880" cy="201168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20440" y="1645920"/>
            <a:ext cx="246888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1874520"/>
            <a:ext cx="2103120" cy="640080"/>
          </a:xfrm>
          <a:prstGeom prst="rect">
            <a:avLst/>
          </a:prstGeom>
          <a:noFill/>
        </p:spPr>
        <p:txBody>
          <a:bodyPr wrap="square" anchor="t"/>
          <a:lstStyle/>
          <a:p>
            <a:pPr algn="ctr">
              <a:defRPr sz="4200" b="1">
                <a:solidFill>
                  <a:srgbClr val="00D4AA"/>
                </a:solidFill>
                <a:latin typeface="Inter"/>
              </a:defRPr>
            </a:pPr>
            <a:r>
              <a:t>60%</a:t>
            </a:r>
          </a:p>
        </p:txBody>
      </p:sp>
      <p:sp>
        <p:nvSpPr>
          <p:cNvPr id="11" name="TextBox 10"/>
          <p:cNvSpPr txBox="1"/>
          <p:nvPr/>
        </p:nvSpPr>
        <p:spPr>
          <a:xfrm>
            <a:off x="3703320" y="2468880"/>
            <a:ext cx="2103120" cy="914400"/>
          </a:xfrm>
          <a:prstGeom prst="rect">
            <a:avLst/>
          </a:prstGeom>
          <a:noFill/>
        </p:spPr>
        <p:txBody>
          <a:bodyPr wrap="square" anchor="t"/>
          <a:lstStyle/>
          <a:p>
            <a:pPr algn="ctr">
              <a:defRPr sz="1200" b="0">
                <a:solidFill>
                  <a:srgbClr val="A3A3A3"/>
                </a:solidFill>
                <a:latin typeface="Inter"/>
              </a:defRPr>
            </a:pPr>
            <a:r>
              <a:t>des CCAS sans outil</a:t>
            </a:r>
            <a:br/>
            <a:r>
              <a:t>numérique bénévole</a:t>
            </a:r>
          </a:p>
        </p:txBody>
      </p:sp>
      <p:sp>
        <p:nvSpPr>
          <p:cNvPr id="12" name="Rounded Rectangle 11"/>
          <p:cNvSpPr/>
          <p:nvPr/>
        </p:nvSpPr>
        <p:spPr>
          <a:xfrm>
            <a:off x="6217920" y="1645920"/>
            <a:ext cx="2468880" cy="201168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645920"/>
            <a:ext cx="246888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874520"/>
            <a:ext cx="2103120" cy="640080"/>
          </a:xfrm>
          <a:prstGeom prst="rect">
            <a:avLst/>
          </a:prstGeom>
          <a:noFill/>
        </p:spPr>
        <p:txBody>
          <a:bodyPr wrap="square" anchor="t"/>
          <a:lstStyle/>
          <a:p>
            <a:pPr algn="ctr">
              <a:defRPr sz="4200" b="1">
                <a:solidFill>
                  <a:srgbClr val="00D4AA"/>
                </a:solidFill>
                <a:latin typeface="Inter"/>
              </a:defRPr>
            </a:pPr>
            <a:r>
              <a:t>56%</a:t>
            </a:r>
          </a:p>
        </p:txBody>
      </p:sp>
      <p:sp>
        <p:nvSpPr>
          <p:cNvPr id="15" name="TextBox 14"/>
          <p:cNvSpPr txBox="1"/>
          <p:nvPr/>
        </p:nvSpPr>
        <p:spPr>
          <a:xfrm>
            <a:off x="6400800" y="2468880"/>
            <a:ext cx="2103120" cy="914400"/>
          </a:xfrm>
          <a:prstGeom prst="rect">
            <a:avLst/>
          </a:prstGeom>
          <a:noFill/>
        </p:spPr>
        <p:txBody>
          <a:bodyPr wrap="square" anchor="t"/>
          <a:lstStyle/>
          <a:p>
            <a:pPr algn="ctr">
              <a:defRPr sz="1200" b="0">
                <a:solidFill>
                  <a:srgbClr val="A3A3A3"/>
                </a:solidFill>
                <a:latin typeface="Inter"/>
              </a:defRPr>
            </a:pPr>
            <a:r>
              <a:t>de défiance envers les</a:t>
            </a:r>
            <a:br/>
            <a:r>
              <a:t>plateformes marchandes</a:t>
            </a:r>
          </a:p>
        </p:txBody>
      </p:sp>
      <p:sp>
        <p:nvSpPr>
          <p:cNvPr id="16" name="Rounded Rectangle 15"/>
          <p:cNvSpPr/>
          <p:nvPr/>
        </p:nvSpPr>
        <p:spPr>
          <a:xfrm>
            <a:off x="8915400" y="1645920"/>
            <a:ext cx="2468880" cy="201168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915400" y="1645920"/>
            <a:ext cx="246888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280" y="1874520"/>
            <a:ext cx="2103120" cy="640080"/>
          </a:xfrm>
          <a:prstGeom prst="rect">
            <a:avLst/>
          </a:prstGeom>
          <a:noFill/>
        </p:spPr>
        <p:txBody>
          <a:bodyPr wrap="square" anchor="t"/>
          <a:lstStyle/>
          <a:p>
            <a:pPr algn="ctr">
              <a:defRPr sz="4200" b="1">
                <a:solidFill>
                  <a:srgbClr val="00D4AA"/>
                </a:solidFill>
                <a:latin typeface="Inter"/>
              </a:defRPr>
            </a:pPr>
            <a:r>
              <a:t>35%</a:t>
            </a:r>
          </a:p>
        </p:txBody>
      </p:sp>
      <p:sp>
        <p:nvSpPr>
          <p:cNvPr id="19" name="TextBox 18"/>
          <p:cNvSpPr txBox="1"/>
          <p:nvPr/>
        </p:nvSpPr>
        <p:spPr>
          <a:xfrm>
            <a:off x="9098280" y="2468880"/>
            <a:ext cx="2103120" cy="914400"/>
          </a:xfrm>
          <a:prstGeom prst="rect">
            <a:avLst/>
          </a:prstGeom>
          <a:noFill/>
        </p:spPr>
        <p:txBody>
          <a:bodyPr wrap="square" anchor="t"/>
          <a:lstStyle/>
          <a:p>
            <a:pPr algn="ctr">
              <a:defRPr sz="1200" b="0">
                <a:solidFill>
                  <a:srgbClr val="A3A3A3"/>
                </a:solidFill>
                <a:latin typeface="Inter"/>
              </a:defRPr>
            </a:pPr>
            <a:r>
              <a:t>des Français veulent</a:t>
            </a:r>
            <a:br/>
            <a:r>
              <a:t>s'engager sans savoir comment</a:t>
            </a:r>
          </a:p>
        </p:txBody>
      </p:sp>
      <p:sp>
        <p:nvSpPr>
          <p:cNvPr id="20" name="Rounded Rectangle 19"/>
          <p:cNvSpPr/>
          <p:nvPr/>
        </p:nvSpPr>
        <p:spPr>
          <a:xfrm>
            <a:off x="822960" y="4114800"/>
            <a:ext cx="10515600" cy="822960"/>
          </a:xfrm>
          <a:prstGeom prst="roundRect">
            <a:avLst>
              <a:gd name="adj" fmla="val 6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300">
                <a:solidFill>
                  <a:srgbClr val="F5F5F5"/>
                </a:solidFill>
                <a:latin typeface="Inter"/>
              </a:defRPr>
            </a:pPr>
            <a:r>
              <a:t>💡  Les CCAS n'ont aucun outil pour coordonner leurs bénévoles. Les plateformes existantes sont marchandes (AlloVoisins, Wecasa) ou unidirectionnelles (bénévolat pur). Le timebanking B2B structuré avec mesure d'impact n'existe pas en France.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822960" y="320040"/>
            <a:ext cx="3657600" cy="320040"/>
          </a:xfrm>
          <a:prstGeom prst="rect">
            <a:avLst/>
          </a:prstGeom>
          <a:noFill/>
        </p:spPr>
        <p:txBody>
          <a:bodyPr wrap="square" anchor="t"/>
          <a:lstStyle/>
          <a:p>
            <a:pPr algn="l">
              <a:defRPr sz="1000" b="1">
                <a:solidFill>
                  <a:srgbClr val="00D4AA"/>
                </a:solidFill>
                <a:latin typeface="Inter"/>
              </a:defRPr>
            </a:pPr>
            <a:r>
              <a:t>NOTRE SOLUTION</a:t>
            </a:r>
          </a:p>
        </p:txBody>
      </p:sp>
      <p:sp>
        <p:nvSpPr>
          <p:cNvPr id="3" name="TextBox 2"/>
          <p:cNvSpPr txBox="1"/>
          <p:nvPr/>
        </p:nvSpPr>
        <p:spPr>
          <a:xfrm>
            <a:off x="822960" y="640080"/>
            <a:ext cx="10058400" cy="640080"/>
          </a:xfrm>
          <a:prstGeom prst="rect">
            <a:avLst/>
          </a:prstGeom>
          <a:noFill/>
        </p:spPr>
        <p:txBody>
          <a:bodyPr wrap="square" anchor="t"/>
          <a:lstStyle/>
          <a:p>
            <a:pPr algn="l">
              <a:defRPr sz="3400" b="1">
                <a:solidFill>
                  <a:srgbClr val="F5F5F5"/>
                </a:solidFill>
                <a:latin typeface="Inter"/>
              </a:defRPr>
            </a:pPr>
            <a:r>
              <a:t>TimeHeroes en bref</a:t>
            </a:r>
          </a:p>
        </p:txBody>
      </p:sp>
      <p:sp>
        <p:nvSpPr>
          <p:cNvPr id="4" name="TextBox 3"/>
          <p:cNvSpPr txBox="1"/>
          <p:nvPr/>
        </p:nvSpPr>
        <p:spPr>
          <a:xfrm>
            <a:off x="822960" y="1005840"/>
            <a:ext cx="9144000" cy="457200"/>
          </a:xfrm>
          <a:prstGeom prst="rect">
            <a:avLst/>
          </a:prstGeom>
          <a:noFill/>
        </p:spPr>
        <p:txBody>
          <a:bodyPr wrap="square" anchor="t"/>
          <a:lstStyle/>
          <a:p>
            <a:pPr algn="l">
              <a:defRPr sz="1400" b="0">
                <a:solidFill>
                  <a:srgbClr val="A3A3A3"/>
                </a:solidFill>
                <a:latin typeface="Inter"/>
              </a:defRPr>
            </a:pPr>
            <a:r>
              <a:t>« TimeHeroes est la première plateforme française de timebanking B2B : les organisations sociales y créent des programmes d'entraide, suivis et mesurés — sans argent, avec un wallet temps. »</a:t>
            </a:r>
          </a:p>
        </p:txBody>
      </p:sp>
      <p:sp>
        <p:nvSpPr>
          <p:cNvPr id="5" name="Rounded Rectangle 4"/>
          <p:cNvSpPr/>
          <p:nvPr/>
        </p:nvSpPr>
        <p:spPr>
          <a:xfrm>
            <a:off x="822960" y="1645920"/>
            <a:ext cx="3200400" cy="274320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1645920"/>
            <a:ext cx="54864" cy="2743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874520"/>
            <a:ext cx="2651760" cy="457200"/>
          </a:xfrm>
          <a:prstGeom prst="rect">
            <a:avLst/>
          </a:prstGeom>
          <a:noFill/>
        </p:spPr>
        <p:txBody>
          <a:bodyPr wrap="square" anchor="t"/>
          <a:lstStyle/>
          <a:p>
            <a:pPr algn="l">
              <a:defRPr sz="2800" b="0">
                <a:solidFill>
                  <a:srgbClr val="F5F5F5"/>
                </a:solidFill>
                <a:latin typeface="Inter"/>
              </a:defRPr>
            </a:pPr>
            <a:r>
              <a:t>🪙</a:t>
            </a:r>
          </a:p>
        </p:txBody>
      </p:sp>
      <p:sp>
        <p:nvSpPr>
          <p:cNvPr id="8" name="TextBox 7"/>
          <p:cNvSpPr txBox="1"/>
          <p:nvPr/>
        </p:nvSpPr>
        <p:spPr>
          <a:xfrm>
            <a:off x="1097280" y="2331720"/>
            <a:ext cx="2651760" cy="502920"/>
          </a:xfrm>
          <a:prstGeom prst="rect">
            <a:avLst/>
          </a:prstGeom>
          <a:noFill/>
        </p:spPr>
        <p:txBody>
          <a:bodyPr wrap="square" anchor="t"/>
          <a:lstStyle/>
          <a:p>
            <a:pPr algn="l">
              <a:defRPr sz="1600" b="1">
                <a:solidFill>
                  <a:srgbClr val="F5F5F5"/>
                </a:solidFill>
                <a:latin typeface="Inter"/>
              </a:defRPr>
            </a:pPr>
            <a:r>
              <a:t>Wallet TIME</a:t>
            </a:r>
          </a:p>
        </p:txBody>
      </p:sp>
      <p:sp>
        <p:nvSpPr>
          <p:cNvPr id="9" name="TextBox 8"/>
          <p:cNvSpPr txBox="1"/>
          <p:nvPr/>
        </p:nvSpPr>
        <p:spPr>
          <a:xfrm>
            <a:off x="1097280" y="3063240"/>
            <a:ext cx="2651760" cy="1188720"/>
          </a:xfrm>
          <a:prstGeom prst="rect">
            <a:avLst/>
          </a:prstGeom>
          <a:noFill/>
        </p:spPr>
        <p:txBody>
          <a:bodyPr wrap="square" anchor="t"/>
          <a:lstStyle/>
          <a:p>
            <a:pPr algn="l">
              <a:defRPr sz="1200" b="0">
                <a:solidFill>
                  <a:srgbClr val="A3A3A3"/>
                </a:solidFill>
                <a:latin typeface="Inter"/>
              </a:defRPr>
            </a:pPr>
            <a:r>
              <a:t>1h de service = 1 TIME. Escrow, ledger tracé, double validation. Pas d'argent, pas de commission.</a:t>
            </a:r>
          </a:p>
        </p:txBody>
      </p:sp>
      <p:sp>
        <p:nvSpPr>
          <p:cNvPr id="10" name="Rounded Rectangle 9"/>
          <p:cNvSpPr/>
          <p:nvPr/>
        </p:nvSpPr>
        <p:spPr>
          <a:xfrm>
            <a:off x="4343400" y="1645920"/>
            <a:ext cx="3200400" cy="274320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645920"/>
            <a:ext cx="54864" cy="2743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874520"/>
            <a:ext cx="2651760" cy="457200"/>
          </a:xfrm>
          <a:prstGeom prst="rect">
            <a:avLst/>
          </a:prstGeom>
          <a:noFill/>
        </p:spPr>
        <p:txBody>
          <a:bodyPr wrap="square" anchor="t"/>
          <a:lstStyle/>
          <a:p>
            <a:pPr algn="l">
              <a:defRPr sz="2800" b="0">
                <a:solidFill>
                  <a:srgbClr val="F5F5F5"/>
                </a:solidFill>
                <a:latin typeface="Inter"/>
              </a:defRPr>
            </a:pPr>
            <a:r>
              <a:t>🏛️</a:t>
            </a:r>
          </a:p>
        </p:txBody>
      </p:sp>
      <p:sp>
        <p:nvSpPr>
          <p:cNvPr id="13" name="TextBox 12"/>
          <p:cNvSpPr txBox="1"/>
          <p:nvPr/>
        </p:nvSpPr>
        <p:spPr>
          <a:xfrm>
            <a:off x="4617720" y="2331720"/>
            <a:ext cx="2651760" cy="502920"/>
          </a:xfrm>
          <a:prstGeom prst="rect">
            <a:avLst/>
          </a:prstGeom>
          <a:noFill/>
        </p:spPr>
        <p:txBody>
          <a:bodyPr wrap="square" anchor="t"/>
          <a:lstStyle/>
          <a:p>
            <a:pPr algn="l">
              <a:defRPr sz="1600" b="1">
                <a:solidFill>
                  <a:srgbClr val="F5F5F5"/>
                </a:solidFill>
                <a:latin typeface="Inter"/>
              </a:defRPr>
            </a:pPr>
            <a:r>
              <a:t>Programmes Organisations</a:t>
            </a:r>
          </a:p>
        </p:txBody>
      </p:sp>
      <p:sp>
        <p:nvSpPr>
          <p:cNvPr id="14" name="TextBox 13"/>
          <p:cNvSpPr txBox="1"/>
          <p:nvPr/>
        </p:nvSpPr>
        <p:spPr>
          <a:xfrm>
            <a:off x="4617720" y="3063240"/>
            <a:ext cx="2651760" cy="1188720"/>
          </a:xfrm>
          <a:prstGeom prst="rect">
            <a:avLst/>
          </a:prstGeom>
          <a:noFill/>
        </p:spPr>
        <p:txBody>
          <a:bodyPr wrap="square" anchor="t"/>
          <a:lstStyle/>
          <a:p>
            <a:pPr algn="l">
              <a:defRPr sz="1200" b="0">
                <a:solidFill>
                  <a:srgbClr val="A3A3A3"/>
                </a:solidFill>
                <a:latin typeface="Inter"/>
              </a:defRPr>
            </a:pPr>
            <a:r>
              <a:t>CCAS, associations, résidences, entreprises créent des programmes d'entraide structurés avec leurs membres.</a:t>
            </a:r>
          </a:p>
        </p:txBody>
      </p:sp>
      <p:sp>
        <p:nvSpPr>
          <p:cNvPr id="15" name="Rounded Rectangle 14"/>
          <p:cNvSpPr/>
          <p:nvPr/>
        </p:nvSpPr>
        <p:spPr>
          <a:xfrm>
            <a:off x="7863840" y="1645920"/>
            <a:ext cx="3200400" cy="274320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63840" y="1645920"/>
            <a:ext cx="54864" cy="2743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0" y="1874520"/>
            <a:ext cx="2651760" cy="457200"/>
          </a:xfrm>
          <a:prstGeom prst="rect">
            <a:avLst/>
          </a:prstGeom>
          <a:noFill/>
        </p:spPr>
        <p:txBody>
          <a:bodyPr wrap="square" anchor="t"/>
          <a:lstStyle/>
          <a:p>
            <a:pPr algn="l">
              <a:defRPr sz="2800" b="0">
                <a:solidFill>
                  <a:srgbClr val="F5F5F5"/>
                </a:solidFill>
                <a:latin typeface="Inter"/>
              </a:defRPr>
            </a:pPr>
            <a:r>
              <a:t>📊</a:t>
            </a:r>
          </a:p>
        </p:txBody>
      </p:sp>
      <p:sp>
        <p:nvSpPr>
          <p:cNvPr id="18" name="TextBox 17"/>
          <p:cNvSpPr txBox="1"/>
          <p:nvPr/>
        </p:nvSpPr>
        <p:spPr>
          <a:xfrm>
            <a:off x="8138160" y="2331720"/>
            <a:ext cx="2651760" cy="502920"/>
          </a:xfrm>
          <a:prstGeom prst="rect">
            <a:avLst/>
          </a:prstGeom>
          <a:noFill/>
        </p:spPr>
        <p:txBody>
          <a:bodyPr wrap="square" anchor="t"/>
          <a:lstStyle/>
          <a:p>
            <a:pPr algn="l">
              <a:defRPr sz="1600" b="1">
                <a:solidFill>
                  <a:srgbClr val="F5F5F5"/>
                </a:solidFill>
                <a:latin typeface="Inter"/>
              </a:defRPr>
            </a:pPr>
            <a:r>
              <a:t>Mesure d'Impact</a:t>
            </a:r>
          </a:p>
        </p:txBody>
      </p:sp>
      <p:sp>
        <p:nvSpPr>
          <p:cNvPr id="19" name="TextBox 18"/>
          <p:cNvSpPr txBox="1"/>
          <p:nvPr/>
        </p:nvSpPr>
        <p:spPr>
          <a:xfrm>
            <a:off x="8138160" y="3063240"/>
            <a:ext cx="2651760" cy="1188720"/>
          </a:xfrm>
          <a:prstGeom prst="rect">
            <a:avLst/>
          </a:prstGeom>
          <a:noFill/>
        </p:spPr>
        <p:txBody>
          <a:bodyPr wrap="square" anchor="t"/>
          <a:lstStyle/>
          <a:p>
            <a:pPr algn="l">
              <a:defRPr sz="1200" b="0">
                <a:solidFill>
                  <a:srgbClr val="A3A3A3"/>
                </a:solidFill>
                <a:latin typeface="Inter"/>
              </a:defRPr>
            </a:pPr>
            <a:r>
              <a:t>33 métriques Wellbeing avant/après. Rapports d'impact pour financeurs et collectivités.</a:t>
            </a:r>
          </a:p>
        </p:txBody>
      </p:sp>
      <p:sp>
        <p:nvSpPr>
          <p:cNvPr id="20" name="TextBox 19"/>
          <p:cNvSpPr txBox="1"/>
          <p:nvPr/>
        </p:nvSpPr>
        <p:spPr>
          <a:xfrm>
            <a:off x="822960" y="4206240"/>
            <a:ext cx="10058400" cy="548640"/>
          </a:xfrm>
          <a:prstGeom prst="rect">
            <a:avLst/>
          </a:prstGeom>
          <a:noFill/>
        </p:spPr>
        <p:txBody>
          <a:bodyPr wrap="square" anchor="t"/>
          <a:lstStyle/>
          <a:p>
            <a:pPr algn="l">
              <a:defRPr sz="1400" b="1">
                <a:solidFill>
                  <a:srgbClr val="00D4AA"/>
                </a:solidFill>
                <a:latin typeface="Inter"/>
              </a:defRPr>
            </a:pPr>
            <a:r>
              <a:t>🔗  timeheroes.fr — Déjà en ligne, déjà fonctionnel, déjà utilisé.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822960" y="320040"/>
            <a:ext cx="3657600" cy="320040"/>
          </a:xfrm>
          <a:prstGeom prst="rect">
            <a:avLst/>
          </a:prstGeom>
          <a:noFill/>
        </p:spPr>
        <p:txBody>
          <a:bodyPr wrap="square" anchor="t"/>
          <a:lstStyle/>
          <a:p>
            <a:pPr algn="l">
              <a:defRPr sz="1000" b="1">
                <a:solidFill>
                  <a:srgbClr val="00D4AA"/>
                </a:solidFill>
                <a:latin typeface="Inter"/>
              </a:defRPr>
            </a:pPr>
            <a:r>
              <a:t>OÙ ON EN EST</a:t>
            </a:r>
          </a:p>
        </p:txBody>
      </p:sp>
      <p:sp>
        <p:nvSpPr>
          <p:cNvPr id="3" name="TextBox 2"/>
          <p:cNvSpPr txBox="1"/>
          <p:nvPr/>
        </p:nvSpPr>
        <p:spPr>
          <a:xfrm>
            <a:off x="822960" y="640080"/>
            <a:ext cx="10058400" cy="640080"/>
          </a:xfrm>
          <a:prstGeom prst="rect">
            <a:avLst/>
          </a:prstGeom>
          <a:noFill/>
        </p:spPr>
        <p:txBody>
          <a:bodyPr wrap="square" anchor="t"/>
          <a:lstStyle/>
          <a:p>
            <a:pPr algn="l">
              <a:defRPr sz="3400" b="1">
                <a:solidFill>
                  <a:srgbClr val="F5F5F5"/>
                </a:solidFill>
                <a:latin typeface="Inter"/>
              </a:defRPr>
            </a:pPr>
            <a:r>
              <a:t>Phase 1 — POC déployé ✅</a:t>
            </a:r>
          </a:p>
        </p:txBody>
      </p:sp>
      <p:sp>
        <p:nvSpPr>
          <p:cNvPr id="4" name="Rounded Rectangle 3"/>
          <p:cNvSpPr/>
          <p:nvPr/>
        </p:nvSpPr>
        <p:spPr>
          <a:xfrm>
            <a:off x="822960" y="1554480"/>
            <a:ext cx="2011680" cy="155448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554480"/>
            <a:ext cx="201168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1828800" cy="640080"/>
          </a:xfrm>
          <a:prstGeom prst="rect">
            <a:avLst/>
          </a:prstGeom>
          <a:noFill/>
        </p:spPr>
        <p:txBody>
          <a:bodyPr wrap="square" anchor="t"/>
          <a:lstStyle/>
          <a:p>
            <a:pPr algn="ctr">
              <a:defRPr sz="3600" b="1">
                <a:solidFill>
                  <a:srgbClr val="00D4AA"/>
                </a:solidFill>
                <a:latin typeface="Inter"/>
              </a:defRPr>
            </a:pPr>
            <a:r>
              <a:t>36</a:t>
            </a:r>
          </a:p>
        </p:txBody>
      </p:sp>
      <p:sp>
        <p:nvSpPr>
          <p:cNvPr id="7" name="TextBox 6"/>
          <p:cNvSpPr txBox="1"/>
          <p:nvPr/>
        </p:nvSpPr>
        <p:spPr>
          <a:xfrm>
            <a:off x="914400" y="2377440"/>
            <a:ext cx="1828800" cy="640080"/>
          </a:xfrm>
          <a:prstGeom prst="rect">
            <a:avLst/>
          </a:prstGeom>
          <a:noFill/>
        </p:spPr>
        <p:txBody>
          <a:bodyPr wrap="square" anchor="t"/>
          <a:lstStyle/>
          <a:p>
            <a:pPr algn="ctr">
              <a:defRPr sz="1000" b="0">
                <a:solidFill>
                  <a:srgbClr val="A3A3A3"/>
                </a:solidFill>
                <a:latin typeface="Inter"/>
              </a:defRPr>
            </a:pPr>
            <a:r>
              <a:t>Utilisateurs</a:t>
            </a:r>
            <a:br/>
            <a:r>
              <a:t>seed</a:t>
            </a:r>
          </a:p>
        </p:txBody>
      </p:sp>
      <p:sp>
        <p:nvSpPr>
          <p:cNvPr id="8" name="Rounded Rectangle 7"/>
          <p:cNvSpPr/>
          <p:nvPr/>
        </p:nvSpPr>
        <p:spPr>
          <a:xfrm>
            <a:off x="2999232" y="1554480"/>
            <a:ext cx="2011680" cy="155448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99232" y="1554480"/>
            <a:ext cx="201168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90672" y="1737360"/>
            <a:ext cx="1828800" cy="640080"/>
          </a:xfrm>
          <a:prstGeom prst="rect">
            <a:avLst/>
          </a:prstGeom>
          <a:noFill/>
        </p:spPr>
        <p:txBody>
          <a:bodyPr wrap="square" anchor="t"/>
          <a:lstStyle/>
          <a:p>
            <a:pPr algn="ctr">
              <a:defRPr sz="3600" b="1">
                <a:solidFill>
                  <a:srgbClr val="00D4AA"/>
                </a:solidFill>
                <a:latin typeface="Inter"/>
              </a:defRPr>
            </a:pPr>
            <a:r>
              <a:t>326</a:t>
            </a:r>
          </a:p>
        </p:txBody>
      </p:sp>
      <p:sp>
        <p:nvSpPr>
          <p:cNvPr id="11" name="TextBox 10"/>
          <p:cNvSpPr txBox="1"/>
          <p:nvPr/>
        </p:nvSpPr>
        <p:spPr>
          <a:xfrm>
            <a:off x="3090672" y="2377440"/>
            <a:ext cx="1828800" cy="640080"/>
          </a:xfrm>
          <a:prstGeom prst="rect">
            <a:avLst/>
          </a:prstGeom>
          <a:noFill/>
        </p:spPr>
        <p:txBody>
          <a:bodyPr wrap="square" anchor="t"/>
          <a:lstStyle/>
          <a:p>
            <a:pPr algn="ctr">
              <a:defRPr sz="1000" b="0">
                <a:solidFill>
                  <a:srgbClr val="A3A3A3"/>
                </a:solidFill>
                <a:latin typeface="Inter"/>
              </a:defRPr>
            </a:pPr>
            <a:r>
              <a:t>TIME en</a:t>
            </a:r>
            <a:br/>
            <a:r>
              <a:t>circulation</a:t>
            </a:r>
          </a:p>
        </p:txBody>
      </p:sp>
      <p:sp>
        <p:nvSpPr>
          <p:cNvPr id="12" name="Rounded Rectangle 11"/>
          <p:cNvSpPr/>
          <p:nvPr/>
        </p:nvSpPr>
        <p:spPr>
          <a:xfrm>
            <a:off x="5175504" y="1554480"/>
            <a:ext cx="2011680" cy="155448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175504" y="1554480"/>
            <a:ext cx="201168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66944" y="1737360"/>
            <a:ext cx="1828800" cy="640080"/>
          </a:xfrm>
          <a:prstGeom prst="rect">
            <a:avLst/>
          </a:prstGeom>
          <a:noFill/>
        </p:spPr>
        <p:txBody>
          <a:bodyPr wrap="square" anchor="t"/>
          <a:lstStyle/>
          <a:p>
            <a:pPr algn="ctr">
              <a:defRPr sz="3600" b="1">
                <a:solidFill>
                  <a:srgbClr val="00D4AA"/>
                </a:solidFill>
                <a:latin typeface="Inter"/>
              </a:defRPr>
            </a:pPr>
            <a:r>
              <a:t>49</a:t>
            </a:r>
          </a:p>
        </p:txBody>
      </p:sp>
      <p:sp>
        <p:nvSpPr>
          <p:cNvPr id="15" name="TextBox 14"/>
          <p:cNvSpPr txBox="1"/>
          <p:nvPr/>
        </p:nvSpPr>
        <p:spPr>
          <a:xfrm>
            <a:off x="5266944" y="2377440"/>
            <a:ext cx="1828800" cy="640080"/>
          </a:xfrm>
          <a:prstGeom prst="rect">
            <a:avLst/>
          </a:prstGeom>
          <a:noFill/>
        </p:spPr>
        <p:txBody>
          <a:bodyPr wrap="square" anchor="t"/>
          <a:lstStyle/>
          <a:p>
            <a:pPr algn="ctr">
              <a:defRPr sz="1000" b="0">
                <a:solidFill>
                  <a:srgbClr val="A3A3A3"/>
                </a:solidFill>
                <a:latin typeface="Inter"/>
              </a:defRPr>
            </a:pPr>
            <a:r>
              <a:t>Services</a:t>
            </a:r>
            <a:br/>
            <a:r>
              <a:t>disponibles</a:t>
            </a:r>
          </a:p>
        </p:txBody>
      </p:sp>
      <p:sp>
        <p:nvSpPr>
          <p:cNvPr id="16" name="Rounded Rectangle 15"/>
          <p:cNvSpPr/>
          <p:nvPr/>
        </p:nvSpPr>
        <p:spPr>
          <a:xfrm>
            <a:off x="7351776" y="1554480"/>
            <a:ext cx="2011680" cy="155448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51776" y="1554480"/>
            <a:ext cx="201168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43216" y="1737360"/>
            <a:ext cx="1828800" cy="640080"/>
          </a:xfrm>
          <a:prstGeom prst="rect">
            <a:avLst/>
          </a:prstGeom>
          <a:noFill/>
        </p:spPr>
        <p:txBody>
          <a:bodyPr wrap="square" anchor="t"/>
          <a:lstStyle/>
          <a:p>
            <a:pPr algn="ctr">
              <a:defRPr sz="3600" b="1">
                <a:solidFill>
                  <a:srgbClr val="00D4AA"/>
                </a:solidFill>
                <a:latin typeface="Inter"/>
              </a:defRPr>
            </a:pPr>
            <a:r>
              <a:t>47</a:t>
            </a:r>
          </a:p>
        </p:txBody>
      </p:sp>
      <p:sp>
        <p:nvSpPr>
          <p:cNvPr id="19" name="TextBox 18"/>
          <p:cNvSpPr txBox="1"/>
          <p:nvPr/>
        </p:nvSpPr>
        <p:spPr>
          <a:xfrm>
            <a:off x="7443216" y="2377440"/>
            <a:ext cx="1828800" cy="640080"/>
          </a:xfrm>
          <a:prstGeom prst="rect">
            <a:avLst/>
          </a:prstGeom>
          <a:noFill/>
        </p:spPr>
        <p:txBody>
          <a:bodyPr wrap="square" anchor="t"/>
          <a:lstStyle/>
          <a:p>
            <a:pPr algn="ctr">
              <a:defRPr sz="1000" b="0">
                <a:solidFill>
                  <a:srgbClr val="A3A3A3"/>
                </a:solidFill>
                <a:latin typeface="Inter"/>
              </a:defRPr>
            </a:pPr>
            <a:r>
              <a:t>Bookings</a:t>
            </a:r>
            <a:br/>
            <a:r>
              <a:t>réalisés</a:t>
            </a:r>
          </a:p>
        </p:txBody>
      </p:sp>
      <p:sp>
        <p:nvSpPr>
          <p:cNvPr id="20" name="Rounded Rectangle 19"/>
          <p:cNvSpPr/>
          <p:nvPr/>
        </p:nvSpPr>
        <p:spPr>
          <a:xfrm>
            <a:off x="9528048" y="1554480"/>
            <a:ext cx="2011680" cy="155448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528048" y="1554480"/>
            <a:ext cx="201168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19488" y="1737360"/>
            <a:ext cx="1828800" cy="640080"/>
          </a:xfrm>
          <a:prstGeom prst="rect">
            <a:avLst/>
          </a:prstGeom>
          <a:noFill/>
        </p:spPr>
        <p:txBody>
          <a:bodyPr wrap="square" anchor="t"/>
          <a:lstStyle/>
          <a:p>
            <a:pPr algn="ctr">
              <a:defRPr sz="3600" b="1">
                <a:solidFill>
                  <a:srgbClr val="00D4AA"/>
                </a:solidFill>
                <a:latin typeface="Inter"/>
              </a:defRPr>
            </a:pPr>
            <a:r>
              <a:t>+29</a:t>
            </a:r>
          </a:p>
        </p:txBody>
      </p:sp>
      <p:sp>
        <p:nvSpPr>
          <p:cNvPr id="23" name="TextBox 22"/>
          <p:cNvSpPr txBox="1"/>
          <p:nvPr/>
        </p:nvSpPr>
        <p:spPr>
          <a:xfrm>
            <a:off x="9619488" y="2377440"/>
            <a:ext cx="1828800" cy="640080"/>
          </a:xfrm>
          <a:prstGeom prst="rect">
            <a:avLst/>
          </a:prstGeom>
          <a:noFill/>
        </p:spPr>
        <p:txBody>
          <a:bodyPr wrap="square" anchor="t"/>
          <a:lstStyle/>
          <a:p>
            <a:pPr algn="ctr">
              <a:defRPr sz="1000" b="0">
                <a:solidFill>
                  <a:srgbClr val="A3A3A3"/>
                </a:solidFill>
                <a:latin typeface="Inter"/>
              </a:defRPr>
            </a:pPr>
            <a:r>
              <a:t>pts Wellbeing</a:t>
            </a:r>
            <a:br/>
            <a:r>
              <a:t>avant→après</a:t>
            </a:r>
          </a:p>
        </p:txBody>
      </p:sp>
      <p:sp>
        <p:nvSpPr>
          <p:cNvPr id="24" name="TextBox 23"/>
          <p:cNvSpPr txBox="1"/>
          <p:nvPr/>
        </p:nvSpPr>
        <p:spPr>
          <a:xfrm>
            <a:off x="822960" y="3474720"/>
            <a:ext cx="5029200" cy="320040"/>
          </a:xfrm>
          <a:prstGeom prst="rect">
            <a:avLst/>
          </a:prstGeom>
          <a:noFill/>
        </p:spPr>
        <p:txBody>
          <a:bodyPr wrap="square" anchor="t"/>
          <a:lstStyle/>
          <a:p>
            <a:pPr algn="l">
              <a:defRPr sz="1400" b="1">
                <a:solidFill>
                  <a:srgbClr val="F5F5F5"/>
                </a:solidFill>
                <a:latin typeface="Inter"/>
              </a:defRPr>
            </a:pPr>
            <a:r>
              <a:t>Plateforme fonctionnelle</a:t>
            </a:r>
          </a:p>
        </p:txBody>
      </p:sp>
      <p:sp>
        <p:nvSpPr>
          <p:cNvPr id="25" name="TextBox 24"/>
          <p:cNvSpPr txBox="1"/>
          <p:nvPr/>
        </p:nvSpPr>
        <p:spPr>
          <a:xfrm>
            <a:off x="822960" y="3840480"/>
            <a:ext cx="5029200" cy="2286000"/>
          </a:xfrm>
          <a:prstGeom prst="rect">
            <a:avLst/>
          </a:prstGeom>
          <a:noFill/>
        </p:spPr>
        <p:txBody>
          <a:bodyPr wrap="square"/>
          <a:lstStyle/>
          <a:p>
            <a:pPr algn="l">
              <a:spcBef>
                <a:spcPts val="200"/>
              </a:spcBef>
              <a:spcAft>
                <a:spcPts val="200"/>
              </a:spcAft>
              <a:defRPr sz="1100" b="0">
                <a:solidFill>
                  <a:srgbClr val="A3A3A3"/>
                </a:solidFill>
                <a:latin typeface="Inter"/>
              </a:defRPr>
            </a:pPr>
            <a:r>
              <a:t>✓  Next.js 16.2 + Prisma 6 + SQLite — 25 lots déployés</a:t>
            </a:r>
          </a:p>
          <a:p>
            <a:pPr algn="l">
              <a:spcBef>
                <a:spcPts val="200"/>
              </a:spcBef>
              <a:spcAft>
                <a:spcPts val="200"/>
              </a:spcAft>
              <a:defRPr sz="1100" b="0">
                <a:solidFill>
                  <a:srgbClr val="A3A3A3"/>
                </a:solidFill>
                <a:latin typeface="Inter"/>
              </a:defRPr>
            </a:pPr>
            <a:r>
              <a:t>✓  Wallet TIME + Escrow + Marketplace + Booking</a:t>
            </a:r>
          </a:p>
          <a:p>
            <a:pPr algn="l">
              <a:spcBef>
                <a:spcPts val="200"/>
              </a:spcBef>
              <a:spcAft>
                <a:spcPts val="200"/>
              </a:spcAft>
              <a:defRPr sz="1100" b="0">
                <a:solidFill>
                  <a:srgbClr val="A3A3A3"/>
                </a:solidFill>
                <a:latin typeface="Inter"/>
              </a:defRPr>
            </a:pPr>
            <a:r>
              <a:t>✓  Gamification (XP, badges, quêtes, niveaux)</a:t>
            </a:r>
          </a:p>
          <a:p>
            <a:pPr algn="l">
              <a:spcBef>
                <a:spcPts val="200"/>
              </a:spcBef>
              <a:spcAft>
                <a:spcPts val="200"/>
              </a:spcAft>
              <a:defRPr sz="1100" b="0">
                <a:solidFill>
                  <a:srgbClr val="A3A3A3"/>
                </a:solidFill>
                <a:latin typeface="Inter"/>
              </a:defRPr>
            </a:pPr>
            <a:r>
              <a:t>✓  Organisations &amp; Partner Spaces (10 types d'orgs)</a:t>
            </a:r>
          </a:p>
          <a:p>
            <a:pPr algn="l">
              <a:spcBef>
                <a:spcPts val="200"/>
              </a:spcBef>
              <a:spcAft>
                <a:spcPts val="200"/>
              </a:spcAft>
              <a:defRPr sz="1100" b="0">
                <a:solidFill>
                  <a:srgbClr val="A3A3A3"/>
                </a:solidFill>
                <a:latin typeface="Inter"/>
              </a:defRPr>
            </a:pPr>
            <a:r>
              <a:t>✓  Programmes structurés (Lien Social Seniors, Inclusion Numérique)</a:t>
            </a:r>
          </a:p>
          <a:p>
            <a:pPr algn="l">
              <a:spcBef>
                <a:spcPts val="200"/>
              </a:spcBef>
              <a:spcAft>
                <a:spcPts val="200"/>
              </a:spcAft>
              <a:defRPr sz="1100" b="0">
                <a:solidFill>
                  <a:srgbClr val="A3A3A3"/>
                </a:solidFill>
                <a:latin typeface="Inter"/>
              </a:defRPr>
            </a:pPr>
            <a:r>
              <a:t>✓  IA Matchmaking — scoring 6 axes</a:t>
            </a:r>
          </a:p>
          <a:p>
            <a:pPr algn="l">
              <a:spcBef>
                <a:spcPts val="200"/>
              </a:spcBef>
              <a:spcAft>
                <a:spcPts val="200"/>
              </a:spcAft>
              <a:defRPr sz="1100" b="0">
                <a:solidFill>
                  <a:srgbClr val="A3A3A3"/>
                </a:solidFill>
                <a:latin typeface="Inter"/>
              </a:defRPr>
            </a:pPr>
            <a:r>
              <a:t>✓  Rapports d'Impact &amp; Wellbeing — 33 métriques</a:t>
            </a:r>
          </a:p>
        </p:txBody>
      </p:sp>
      <p:sp>
        <p:nvSpPr>
          <p:cNvPr id="26" name="TextBox 25"/>
          <p:cNvSpPr txBox="1"/>
          <p:nvPr/>
        </p:nvSpPr>
        <p:spPr>
          <a:xfrm>
            <a:off x="6583680" y="3474720"/>
            <a:ext cx="4572000" cy="320040"/>
          </a:xfrm>
          <a:prstGeom prst="rect">
            <a:avLst/>
          </a:prstGeom>
          <a:noFill/>
        </p:spPr>
        <p:txBody>
          <a:bodyPr wrap="square" anchor="t"/>
          <a:lstStyle/>
          <a:p>
            <a:pPr algn="l">
              <a:defRPr sz="1400" b="1">
                <a:solidFill>
                  <a:srgbClr val="F5F5F5"/>
                </a:solidFill>
                <a:latin typeface="Inter"/>
              </a:defRPr>
            </a:pPr>
            <a:r>
              <a:t>Partenaires &amp; Réseau</a:t>
            </a:r>
          </a:p>
        </p:txBody>
      </p:sp>
      <p:sp>
        <p:nvSpPr>
          <p:cNvPr id="27" name="TextBox 26"/>
          <p:cNvSpPr txBox="1"/>
          <p:nvPr/>
        </p:nvSpPr>
        <p:spPr>
          <a:xfrm>
            <a:off x="6583680" y="3840480"/>
            <a:ext cx="4572000" cy="1828800"/>
          </a:xfrm>
          <a:prstGeom prst="rect">
            <a:avLst/>
          </a:prstGeom>
          <a:noFill/>
        </p:spPr>
        <p:txBody>
          <a:bodyPr wrap="square"/>
          <a:lstStyle/>
          <a:p>
            <a:pPr algn="l">
              <a:spcBef>
                <a:spcPts val="200"/>
              </a:spcBef>
              <a:spcAft>
                <a:spcPts val="200"/>
              </a:spcAft>
              <a:defRPr sz="1100" b="0">
                <a:solidFill>
                  <a:srgbClr val="A3A3A3"/>
                </a:solidFill>
                <a:latin typeface="Inter"/>
              </a:defRPr>
            </a:pPr>
            <a:r>
              <a:t>✓  5 organisations partenaires seed</a:t>
            </a:r>
          </a:p>
          <a:p>
            <a:pPr algn="l">
              <a:spcBef>
                <a:spcPts val="200"/>
              </a:spcBef>
              <a:spcAft>
                <a:spcPts val="200"/>
              </a:spcAft>
              <a:defRPr sz="1100" b="0">
                <a:solidFill>
                  <a:srgbClr val="A3A3A3"/>
                </a:solidFill>
                <a:latin typeface="Inter"/>
              </a:defRPr>
            </a:pPr>
            <a:r>
              <a:t>✓  46 badges attribués (7 types)</a:t>
            </a:r>
          </a:p>
          <a:p>
            <a:pPr algn="l">
              <a:spcBef>
                <a:spcPts val="200"/>
              </a:spcBef>
              <a:spcAft>
                <a:spcPts val="200"/>
              </a:spcAft>
              <a:defRPr sz="1100" b="0">
                <a:solidFill>
                  <a:srgbClr val="A3A3A3"/>
                </a:solidFill>
                <a:latin typeface="Inter"/>
              </a:defRPr>
            </a:pPr>
            <a:r>
              <a:t>✓  20 missions complétées</a:t>
            </a:r>
          </a:p>
          <a:p>
            <a:pPr algn="l">
              <a:spcBef>
                <a:spcPts val="200"/>
              </a:spcBef>
              <a:spcAft>
                <a:spcPts val="200"/>
              </a:spcAft>
              <a:defRPr sz="1100" b="0">
                <a:solidFill>
                  <a:srgbClr val="A3A3A3"/>
                </a:solidFill>
                <a:latin typeface="Inter"/>
              </a:defRPr>
            </a:pPr>
            <a:r>
              <a:t>✓  Bêta-testeurs CCAS en recrutement</a:t>
            </a:r>
          </a:p>
          <a:p>
            <a:pPr algn="l">
              <a:spcBef>
                <a:spcPts val="200"/>
              </a:spcBef>
              <a:spcAft>
                <a:spcPts val="200"/>
              </a:spcAft>
              <a:defRPr sz="1100" b="0">
                <a:solidFill>
                  <a:srgbClr val="A3A3A3"/>
                </a:solidFill>
                <a:latin typeface="Inter"/>
              </a:defRPr>
            </a:pPr>
            <a:r>
              <a:t>✓  Discussion active avec La France s'engage</a:t>
            </a:r>
          </a:p>
        </p:txBody>
      </p:sp>
      <p:sp>
        <p:nvSpPr>
          <p:cNvPr id="28" name="Rounded Rectangle 27"/>
          <p:cNvSpPr/>
          <p:nvPr/>
        </p:nvSpPr>
        <p:spPr>
          <a:xfrm>
            <a:off x="6583680" y="5577840"/>
            <a:ext cx="4754880" cy="411480"/>
          </a:xfrm>
          <a:prstGeom prst="roundRect">
            <a:avLst>
              <a:gd name="adj" fmla="val 6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737373"/>
                </a:solidFill>
                <a:latin typeface="Inter"/>
              </a:defRPr>
            </a:pPr>
            <a:r>
              <a:t>Next.js 16.2 · TypeScript · Prisma 6 · SQLite · Tailwind CSS · Caddy · VPS Hetzner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822960" y="320040"/>
            <a:ext cx="3657600" cy="320040"/>
          </a:xfrm>
          <a:prstGeom prst="rect">
            <a:avLst/>
          </a:prstGeom>
          <a:noFill/>
        </p:spPr>
        <p:txBody>
          <a:bodyPr wrap="square" anchor="t"/>
          <a:lstStyle/>
          <a:p>
            <a:pPr algn="l">
              <a:defRPr sz="1000" b="1">
                <a:solidFill>
                  <a:srgbClr val="00D4AA"/>
                </a:solidFill>
                <a:latin typeface="Inter"/>
              </a:defRPr>
            </a:pPr>
            <a:r>
              <a:t>MARCHÉ &amp; CONCURRENCE</a:t>
            </a:r>
          </a:p>
        </p:txBody>
      </p:sp>
      <p:sp>
        <p:nvSpPr>
          <p:cNvPr id="3" name="TextBox 2"/>
          <p:cNvSpPr txBox="1"/>
          <p:nvPr/>
        </p:nvSpPr>
        <p:spPr>
          <a:xfrm>
            <a:off x="822960" y="640080"/>
            <a:ext cx="10058400" cy="640080"/>
          </a:xfrm>
          <a:prstGeom prst="rect">
            <a:avLst/>
          </a:prstGeom>
          <a:noFill/>
        </p:spPr>
        <p:txBody>
          <a:bodyPr wrap="square" anchor="t"/>
          <a:lstStyle/>
          <a:p>
            <a:pPr algn="l">
              <a:defRPr sz="3400" b="1">
                <a:solidFill>
                  <a:srgbClr val="F5F5F5"/>
                </a:solidFill>
                <a:latin typeface="Inter"/>
              </a:defRPr>
            </a:pPr>
            <a:r>
              <a:t>Un créneau vierge en France</a:t>
            </a:r>
          </a:p>
        </p:txBody>
      </p:sp>
      <p:sp>
        <p:nvSpPr>
          <p:cNvPr id="4" name="Rectangle 3"/>
          <p:cNvSpPr/>
          <p:nvPr/>
        </p:nvSpPr>
        <p:spPr>
          <a:xfrm>
            <a:off x="822960" y="1536192"/>
            <a:ext cx="2029968" cy="36576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20617"/>
                </a:solidFill>
                <a:latin typeface="Inter"/>
              </a:defRPr>
            </a:pPr>
            <a:r>
              <a:t>Segment</a:t>
            </a:r>
          </a:p>
        </p:txBody>
      </p:sp>
      <p:sp>
        <p:nvSpPr>
          <p:cNvPr id="5" name="Rectangle 4"/>
          <p:cNvSpPr/>
          <p:nvPr/>
        </p:nvSpPr>
        <p:spPr>
          <a:xfrm>
            <a:off x="2834640" y="1536192"/>
            <a:ext cx="3493008" cy="36576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20617"/>
                </a:solidFill>
                <a:latin typeface="Inter"/>
              </a:defRPr>
            </a:pPr>
            <a:r>
              <a:t>Acteurs</a:t>
            </a:r>
          </a:p>
        </p:txBody>
      </p:sp>
      <p:sp>
        <p:nvSpPr>
          <p:cNvPr id="6" name="Rectangle 5"/>
          <p:cNvSpPr/>
          <p:nvPr/>
        </p:nvSpPr>
        <p:spPr>
          <a:xfrm>
            <a:off x="6309360" y="1536192"/>
            <a:ext cx="5047488" cy="36576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20617"/>
                </a:solidFill>
                <a:latin typeface="Inter"/>
              </a:defRPr>
            </a:pPr>
            <a:r>
              <a:t>Notre avantage</a:t>
            </a:r>
          </a:p>
        </p:txBody>
      </p:sp>
      <p:sp>
        <p:nvSpPr>
          <p:cNvPr id="7" name="Rounded Rectangle 6"/>
          <p:cNvSpPr/>
          <p:nvPr/>
        </p:nvSpPr>
        <p:spPr>
          <a:xfrm>
            <a:off x="822960" y="1901952"/>
            <a:ext cx="2011680" cy="777240"/>
          </a:xfrm>
          <a:prstGeom prst="roundRect">
            <a:avLst>
              <a:gd name="adj" fmla="val 4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5F5F5"/>
                </a:solidFill>
                <a:latin typeface="Inter"/>
              </a:defRPr>
            </a:pPr>
            <a:r>
              <a:t>Jobbing</a:t>
            </a:r>
          </a:p>
        </p:txBody>
      </p:sp>
      <p:sp>
        <p:nvSpPr>
          <p:cNvPr id="8" name="Rounded Rectangle 7"/>
          <p:cNvSpPr/>
          <p:nvPr/>
        </p:nvSpPr>
        <p:spPr>
          <a:xfrm>
            <a:off x="2834640" y="1901952"/>
            <a:ext cx="3474720" cy="777240"/>
          </a:xfrm>
          <a:prstGeom prst="roundRect">
            <a:avLst>
              <a:gd name="adj" fmla="val 4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000" b="0">
                <a:solidFill>
                  <a:srgbClr val="A3A3A3"/>
                </a:solidFill>
                <a:latin typeface="Inter"/>
              </a:defRPr>
            </a:pPr>
            <a:r>
              <a:t>AlloVoisins, Yoojo, Wecasa</a:t>
            </a:r>
          </a:p>
        </p:txBody>
      </p:sp>
      <p:sp>
        <p:nvSpPr>
          <p:cNvPr id="9" name="Rounded Rectangle 8"/>
          <p:cNvSpPr/>
          <p:nvPr/>
        </p:nvSpPr>
        <p:spPr>
          <a:xfrm>
            <a:off x="6309360" y="1901952"/>
            <a:ext cx="5029200" cy="777240"/>
          </a:xfrm>
          <a:prstGeom prst="roundRect">
            <a:avLst>
              <a:gd name="adj" fmla="val 4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000" b="0">
                <a:solidFill>
                  <a:srgbClr val="A3A3A3"/>
                </a:solidFill>
                <a:latin typeface="Inter"/>
              </a:defRPr>
            </a:pPr>
            <a:r>
              <a:t>❌ Marchand, commission 10-25%</a:t>
            </a:r>
            <a:br/>
            <a:r>
              <a:t>✅ Wallet temps, impact social</a:t>
            </a:r>
          </a:p>
        </p:txBody>
      </p:sp>
      <p:sp>
        <p:nvSpPr>
          <p:cNvPr id="10" name="Rounded Rectangle 9"/>
          <p:cNvSpPr/>
          <p:nvPr/>
        </p:nvSpPr>
        <p:spPr>
          <a:xfrm>
            <a:off x="822960" y="2770632"/>
            <a:ext cx="2011680" cy="777240"/>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5F5F5"/>
                </a:solidFill>
                <a:latin typeface="Inter"/>
              </a:defRPr>
            </a:pPr>
            <a:r>
              <a:t>Bénévolat</a:t>
            </a:r>
          </a:p>
        </p:txBody>
      </p:sp>
      <p:sp>
        <p:nvSpPr>
          <p:cNvPr id="11" name="Rounded Rectangle 10"/>
          <p:cNvSpPr/>
          <p:nvPr/>
        </p:nvSpPr>
        <p:spPr>
          <a:xfrm>
            <a:off x="2834640" y="2770632"/>
            <a:ext cx="3474720" cy="777240"/>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000" b="0">
                <a:solidFill>
                  <a:srgbClr val="A3A3A3"/>
                </a:solidFill>
                <a:latin typeface="Inter"/>
              </a:defRPr>
            </a:pPr>
            <a:r>
              <a:t>JeVeuxAider, France Bénévolat</a:t>
            </a:r>
          </a:p>
        </p:txBody>
      </p:sp>
      <p:sp>
        <p:nvSpPr>
          <p:cNvPr id="12" name="Rounded Rectangle 11"/>
          <p:cNvSpPr/>
          <p:nvPr/>
        </p:nvSpPr>
        <p:spPr>
          <a:xfrm>
            <a:off x="6309360" y="2770632"/>
            <a:ext cx="5029200" cy="777240"/>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000" b="0">
                <a:solidFill>
                  <a:srgbClr val="A3A3A3"/>
                </a:solidFill>
                <a:latin typeface="Inter"/>
              </a:defRPr>
            </a:pPr>
            <a:r>
              <a:t>❌ Gratuit, pas de réciprocité</a:t>
            </a:r>
            <a:br/>
            <a:r>
              <a:t>✅ TIME crédit, programmes</a:t>
            </a:r>
          </a:p>
        </p:txBody>
      </p:sp>
      <p:sp>
        <p:nvSpPr>
          <p:cNvPr id="13" name="Rounded Rectangle 12"/>
          <p:cNvSpPr/>
          <p:nvPr/>
        </p:nvSpPr>
        <p:spPr>
          <a:xfrm>
            <a:off x="822960" y="3639312"/>
            <a:ext cx="2011680" cy="777240"/>
          </a:xfrm>
          <a:prstGeom prst="roundRect">
            <a:avLst>
              <a:gd name="adj" fmla="val 4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5F5F5"/>
                </a:solidFill>
                <a:latin typeface="Inter"/>
              </a:defRPr>
            </a:pPr>
            <a:r>
              <a:t>RSE</a:t>
            </a:r>
          </a:p>
        </p:txBody>
      </p:sp>
      <p:sp>
        <p:nvSpPr>
          <p:cNvPr id="14" name="Rounded Rectangle 13"/>
          <p:cNvSpPr/>
          <p:nvPr/>
        </p:nvSpPr>
        <p:spPr>
          <a:xfrm>
            <a:off x="2834640" y="3639312"/>
            <a:ext cx="3474720" cy="777240"/>
          </a:xfrm>
          <a:prstGeom prst="roundRect">
            <a:avLst>
              <a:gd name="adj" fmla="val 4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000" b="0">
                <a:solidFill>
                  <a:srgbClr val="A3A3A3"/>
                </a:solidFill>
                <a:latin typeface="Inter"/>
              </a:defRPr>
            </a:pPr>
            <a:r>
              <a:t>Komeet, Wenabi, Benevity</a:t>
            </a:r>
          </a:p>
        </p:txBody>
      </p:sp>
      <p:sp>
        <p:nvSpPr>
          <p:cNvPr id="15" name="Rounded Rectangle 14"/>
          <p:cNvSpPr/>
          <p:nvPr/>
        </p:nvSpPr>
        <p:spPr>
          <a:xfrm>
            <a:off x="6309360" y="3639312"/>
            <a:ext cx="5029200" cy="777240"/>
          </a:xfrm>
          <a:prstGeom prst="roundRect">
            <a:avLst>
              <a:gd name="adj" fmla="val 4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000" b="0">
                <a:solidFill>
                  <a:srgbClr val="A3A3A3"/>
                </a:solidFill>
                <a:latin typeface="Inter"/>
              </a:defRPr>
            </a:pPr>
            <a:r>
              <a:t>❌ Wallet €, 5k-50k€/an</a:t>
            </a:r>
            <a:br/>
            <a:r>
              <a:t>✅ Timebanking, 150-500€/mois</a:t>
            </a:r>
          </a:p>
        </p:txBody>
      </p:sp>
      <p:sp>
        <p:nvSpPr>
          <p:cNvPr id="16" name="Rounded Rectangle 15"/>
          <p:cNvSpPr/>
          <p:nvPr/>
        </p:nvSpPr>
        <p:spPr>
          <a:xfrm>
            <a:off x="822960" y="4507992"/>
            <a:ext cx="2011680" cy="777240"/>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5F5F5"/>
                </a:solidFill>
                <a:latin typeface="Inter"/>
              </a:defRPr>
            </a:pPr>
            <a:r>
              <a:t>Timebanking</a:t>
            </a:r>
          </a:p>
        </p:txBody>
      </p:sp>
      <p:sp>
        <p:nvSpPr>
          <p:cNvPr id="17" name="Rounded Rectangle 16"/>
          <p:cNvSpPr/>
          <p:nvPr/>
        </p:nvSpPr>
        <p:spPr>
          <a:xfrm>
            <a:off x="2834640" y="4507992"/>
            <a:ext cx="3474720" cy="777240"/>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000" b="0">
                <a:solidFill>
                  <a:srgbClr val="A3A3A3"/>
                </a:solidFill>
                <a:latin typeface="Inter"/>
              </a:defRPr>
            </a:pPr>
            <a:r>
              <a:t>TimeRepublik, TimeBanks UK</a:t>
            </a:r>
          </a:p>
        </p:txBody>
      </p:sp>
      <p:sp>
        <p:nvSpPr>
          <p:cNvPr id="18" name="Rounded Rectangle 17"/>
          <p:cNvSpPr/>
          <p:nvPr/>
        </p:nvSpPr>
        <p:spPr>
          <a:xfrm>
            <a:off x="6309360" y="4507992"/>
            <a:ext cx="5029200" cy="777240"/>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000" b="0">
                <a:solidFill>
                  <a:srgbClr val="A3A3A3"/>
                </a:solidFill>
                <a:latin typeface="Inter"/>
              </a:defRPr>
            </a:pPr>
            <a:r>
              <a:t>❌ P2P pur, pas d'orga</a:t>
            </a:r>
            <a:br/>
            <a:r>
              <a:t>✅ B2B organisations</a:t>
            </a:r>
          </a:p>
        </p:txBody>
      </p:sp>
      <p:sp>
        <p:nvSpPr>
          <p:cNvPr id="19" name="Rounded Rectangle 18"/>
          <p:cNvSpPr/>
          <p:nvPr/>
        </p:nvSpPr>
        <p:spPr>
          <a:xfrm>
            <a:off x="822960" y="5376672"/>
            <a:ext cx="2011680" cy="777240"/>
          </a:xfrm>
          <a:prstGeom prst="roundRect">
            <a:avLst>
              <a:gd name="adj" fmla="val 4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5F5F5"/>
                </a:solidFill>
                <a:latin typeface="Inter"/>
              </a:defRPr>
            </a:pPr>
            <a:r>
              <a:t>L'Heure Civique</a:t>
            </a:r>
          </a:p>
        </p:txBody>
      </p:sp>
      <p:sp>
        <p:nvSpPr>
          <p:cNvPr id="20" name="Rounded Rectangle 19"/>
          <p:cNvSpPr/>
          <p:nvPr/>
        </p:nvSpPr>
        <p:spPr>
          <a:xfrm>
            <a:off x="2834640" y="5376672"/>
            <a:ext cx="3474720" cy="777240"/>
          </a:xfrm>
          <a:prstGeom prst="roundRect">
            <a:avLst>
              <a:gd name="adj" fmla="val 4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000" b="0">
                <a:solidFill>
                  <a:srgbClr val="A3A3A3"/>
                </a:solidFill>
                <a:latin typeface="Inter"/>
              </a:defRPr>
            </a:pPr>
            <a:r>
              <a:t>Mairies</a:t>
            </a:r>
          </a:p>
        </p:txBody>
      </p:sp>
      <p:sp>
        <p:nvSpPr>
          <p:cNvPr id="21" name="Rounded Rectangle 20"/>
          <p:cNvSpPr/>
          <p:nvPr/>
        </p:nvSpPr>
        <p:spPr>
          <a:xfrm>
            <a:off x="6309360" y="5376672"/>
            <a:ext cx="5029200" cy="777240"/>
          </a:xfrm>
          <a:prstGeom prst="roundRect">
            <a:avLst>
              <a:gd name="adj" fmla="val 4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000" b="0">
                <a:solidFill>
                  <a:srgbClr val="A3A3A3"/>
                </a:solidFill>
                <a:latin typeface="Inter"/>
              </a:defRPr>
            </a:pPr>
            <a:r>
              <a:t>❌ Unidirectionnel</a:t>
            </a:r>
            <a:br/>
            <a:r>
              <a:t>✅ Réciprocité TIME</a:t>
            </a:r>
          </a:p>
        </p:txBody>
      </p:sp>
      <p:sp>
        <p:nvSpPr>
          <p:cNvPr id="22" name="Rounded Rectangle 21"/>
          <p:cNvSpPr/>
          <p:nvPr/>
        </p:nvSpPr>
        <p:spPr>
          <a:xfrm>
            <a:off x="822960" y="6035040"/>
            <a:ext cx="10515600" cy="548640"/>
          </a:xfrm>
          <a:prstGeom prst="roundRect">
            <a:avLst>
              <a:gd name="adj" fmla="val 6000"/>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20617"/>
                </a:solidFill>
                <a:latin typeface="Inter"/>
              </a:defRPr>
            </a:pPr>
            <a:r>
              <a:t>🎯  TimeHeroes est seul sur le créneau : timebanking B2B + organisations + mesure d'impact humain.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822960" y="320040"/>
            <a:ext cx="3657600" cy="320040"/>
          </a:xfrm>
          <a:prstGeom prst="rect">
            <a:avLst/>
          </a:prstGeom>
          <a:noFill/>
        </p:spPr>
        <p:txBody>
          <a:bodyPr wrap="square" anchor="t"/>
          <a:lstStyle/>
          <a:p>
            <a:pPr algn="l">
              <a:defRPr sz="1000" b="1">
                <a:solidFill>
                  <a:srgbClr val="00D4AA"/>
                </a:solidFill>
                <a:latin typeface="Inter"/>
              </a:defRPr>
            </a:pPr>
            <a:r>
              <a:t>NOTRE DIFFÉRENCIATEUR</a:t>
            </a:r>
          </a:p>
        </p:txBody>
      </p:sp>
      <p:sp>
        <p:nvSpPr>
          <p:cNvPr id="3" name="TextBox 2"/>
          <p:cNvSpPr txBox="1"/>
          <p:nvPr/>
        </p:nvSpPr>
        <p:spPr>
          <a:xfrm>
            <a:off x="822960" y="640080"/>
            <a:ext cx="10058400" cy="640080"/>
          </a:xfrm>
          <a:prstGeom prst="rect">
            <a:avLst/>
          </a:prstGeom>
          <a:noFill/>
        </p:spPr>
        <p:txBody>
          <a:bodyPr wrap="square" anchor="t"/>
          <a:lstStyle/>
          <a:p>
            <a:pPr algn="l">
              <a:defRPr sz="3400" b="1">
                <a:solidFill>
                  <a:srgbClr val="F5F5F5"/>
                </a:solidFill>
                <a:latin typeface="Inter"/>
              </a:defRPr>
            </a:pPr>
            <a:r>
              <a:t>La mesure d'impact humain</a:t>
            </a:r>
          </a:p>
        </p:txBody>
      </p:sp>
      <p:sp>
        <p:nvSpPr>
          <p:cNvPr id="4" name="TextBox 3"/>
          <p:cNvSpPr txBox="1"/>
          <p:nvPr/>
        </p:nvSpPr>
        <p:spPr>
          <a:xfrm>
            <a:off x="822960" y="1554480"/>
            <a:ext cx="5029200" cy="2743200"/>
          </a:xfrm>
          <a:prstGeom prst="rect">
            <a:avLst/>
          </a:prstGeom>
          <a:noFill/>
        </p:spPr>
        <p:txBody>
          <a:bodyPr wrap="square"/>
          <a:lstStyle/>
          <a:p>
            <a:pPr algn="l">
              <a:spcBef>
                <a:spcPts val="0"/>
              </a:spcBef>
              <a:spcAft>
                <a:spcPts val="1200"/>
              </a:spcAft>
              <a:defRPr sz="1600" b="0">
                <a:solidFill>
                  <a:srgbClr val="F5F5F5"/>
                </a:solidFill>
                <a:latin typeface="Inter"/>
              </a:defRPr>
            </a:pPr>
            <a:r>
              <a:t>Seul TimeHeroes mesure l'impact humain avant/après chaque programme.</a:t>
            </a:r>
          </a:p>
          <a:p>
            <a:pPr algn="l">
              <a:spcBef>
                <a:spcPts val="0"/>
              </a:spcBef>
              <a:spcAft>
                <a:spcPts val="400"/>
              </a:spcAft>
              <a:defRPr sz="1300" b="0">
                <a:solidFill>
                  <a:srgbClr val="A3A3A3"/>
                </a:solidFill>
                <a:latin typeface="Inter"/>
              </a:defRPr>
            </a:pPr>
            <a:r>
              <a:t>33 métriques quantitatives couvrant :</a:t>
            </a:r>
          </a:p>
          <a:p>
            <a:pPr algn="l">
              <a:spcBef>
                <a:spcPts val="200"/>
              </a:spcBef>
              <a:spcAft>
                <a:spcPts val="0"/>
              </a:spcAft>
              <a:defRPr sz="1200" b="0">
                <a:solidFill>
                  <a:srgbClr val="A3A3A3"/>
                </a:solidFill>
                <a:latin typeface="Inter"/>
              </a:defRPr>
            </a:pPr>
            <a:r>
              <a:t>▸  Sentiment d'isolement social</a:t>
            </a:r>
          </a:p>
          <a:p>
            <a:pPr algn="l">
              <a:spcBef>
                <a:spcPts val="200"/>
              </a:spcBef>
              <a:spcAft>
                <a:spcPts val="0"/>
              </a:spcAft>
              <a:defRPr sz="1200" b="0">
                <a:solidFill>
                  <a:srgbClr val="A3A3A3"/>
                </a:solidFill>
                <a:latin typeface="Inter"/>
              </a:defRPr>
            </a:pPr>
            <a:r>
              <a:t>▸  Capacité à demander de l'aide</a:t>
            </a:r>
          </a:p>
          <a:p>
            <a:pPr algn="l">
              <a:spcBef>
                <a:spcPts val="200"/>
              </a:spcBef>
              <a:spcAft>
                <a:spcPts val="0"/>
              </a:spcAft>
              <a:defRPr sz="1200" b="0">
                <a:solidFill>
                  <a:srgbClr val="A3A3A3"/>
                </a:solidFill>
                <a:latin typeface="Inter"/>
              </a:defRPr>
            </a:pPr>
            <a:r>
              <a:t>▸  Sentiment d'utilité</a:t>
            </a:r>
          </a:p>
          <a:p>
            <a:pPr algn="l">
              <a:spcBef>
                <a:spcPts val="200"/>
              </a:spcBef>
              <a:spcAft>
                <a:spcPts val="0"/>
              </a:spcAft>
              <a:defRPr sz="1200" b="0">
                <a:solidFill>
                  <a:srgbClr val="A3A3A3"/>
                </a:solidFill>
                <a:latin typeface="Inter"/>
              </a:defRPr>
            </a:pPr>
            <a:r>
              <a:t>▸  Confiance dans les autres</a:t>
            </a:r>
          </a:p>
          <a:p>
            <a:pPr algn="l">
              <a:spcBef>
                <a:spcPts val="200"/>
              </a:spcBef>
              <a:spcAft>
                <a:spcPts val="0"/>
              </a:spcAft>
              <a:defRPr sz="1200" b="0">
                <a:solidFill>
                  <a:srgbClr val="A3A3A3"/>
                </a:solidFill>
                <a:latin typeface="Inter"/>
              </a:defRPr>
            </a:pPr>
            <a:r>
              <a:t>▸  Valeur sociale estimée (15€/h)</a:t>
            </a:r>
          </a:p>
          <a:p>
            <a:pPr algn="l">
              <a:spcBef>
                <a:spcPts val="200"/>
              </a:spcBef>
              <a:spcAft>
                <a:spcPts val="0"/>
              </a:spcAft>
              <a:defRPr sz="1200" b="0">
                <a:solidFill>
                  <a:srgbClr val="A3A3A3"/>
                </a:solidFill>
                <a:latin typeface="Inter"/>
              </a:defRPr>
            </a:pPr>
            <a:r>
              <a:t>▸  5 types de rapports d'impact</a:t>
            </a:r>
          </a:p>
        </p:txBody>
      </p:sp>
      <p:sp>
        <p:nvSpPr>
          <p:cNvPr id="5" name="Rounded Rectangle 4"/>
          <p:cNvSpPr/>
          <p:nvPr/>
        </p:nvSpPr>
        <p:spPr>
          <a:xfrm>
            <a:off x="6583680" y="1554480"/>
            <a:ext cx="4754880" cy="292608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0" y="1554480"/>
            <a:ext cx="475488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0" y="1737360"/>
            <a:ext cx="4389120" cy="365760"/>
          </a:xfrm>
          <a:prstGeom prst="rect">
            <a:avLst/>
          </a:prstGeom>
          <a:noFill/>
        </p:spPr>
        <p:txBody>
          <a:bodyPr wrap="square" anchor="t"/>
          <a:lstStyle/>
          <a:p>
            <a:pPr algn="l">
              <a:defRPr sz="1500" b="1">
                <a:solidFill>
                  <a:srgbClr val="F5F5F5"/>
                </a:solidFill>
                <a:latin typeface="Inter"/>
              </a:defRPr>
            </a:pPr>
            <a:r>
              <a:t>Programme Lien Social Seniors</a:t>
            </a:r>
          </a:p>
        </p:txBody>
      </p:sp>
      <p:sp>
        <p:nvSpPr>
          <p:cNvPr id="8" name="Rounded Rectangle 7"/>
          <p:cNvSpPr/>
          <p:nvPr/>
        </p:nvSpPr>
        <p:spPr>
          <a:xfrm>
            <a:off x="6858000" y="2194560"/>
            <a:ext cx="2011680" cy="1645920"/>
          </a:xfrm>
          <a:prstGeom prst="roundRect">
            <a:avLst>
              <a:gd name="adj" fmla="val 6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737373"/>
                </a:solidFill>
                <a:latin typeface="Inter"/>
              </a:defRPr>
            </a:pPr>
            <a:r>
              <a:t>AVANT</a:t>
            </a:r>
          </a:p>
          <a:p>
            <a:pPr algn="ctr">
              <a:spcBef>
                <a:spcPts val="800"/>
              </a:spcBef>
              <a:spcAft>
                <a:spcPts val="0"/>
              </a:spcAft>
              <a:defRPr sz="3600" b="1">
                <a:solidFill>
                  <a:srgbClr val="737373"/>
                </a:solidFill>
                <a:latin typeface="Inter"/>
              </a:defRPr>
            </a:pPr>
            <a:r>
              <a:t>47/100</a:t>
            </a:r>
          </a:p>
          <a:p>
            <a:pPr algn="ctr">
              <a:spcBef>
                <a:spcPts val="400"/>
              </a:spcBef>
              <a:spcAft>
                <a:spcPts val="0"/>
              </a:spcAft>
              <a:defRPr sz="1100" b="0">
                <a:solidFill>
                  <a:srgbClr val="737373"/>
                </a:solidFill>
                <a:latin typeface="Inter"/>
              </a:defRPr>
            </a:pPr>
            <a:r>
              <a:t>Isolement</a:t>
            </a:r>
          </a:p>
        </p:txBody>
      </p:sp>
      <p:sp>
        <p:nvSpPr>
          <p:cNvPr id="9" name="Rounded Rectangle 8"/>
          <p:cNvSpPr/>
          <p:nvPr/>
        </p:nvSpPr>
        <p:spPr>
          <a:xfrm>
            <a:off x="9052560" y="2194560"/>
            <a:ext cx="2011680" cy="1645920"/>
          </a:xfrm>
          <a:prstGeom prst="roundRect">
            <a:avLst>
              <a:gd name="adj" fmla="val 6000"/>
            </a:avLst>
          </a:prstGeom>
          <a:solidFill>
            <a:srgbClr val="151515"/>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200" b="1">
                <a:solidFill>
                  <a:srgbClr val="00D4AA"/>
                </a:solidFill>
                <a:latin typeface="Inter"/>
              </a:defRPr>
            </a:pPr>
            <a:r>
              <a:t>APRÈS</a:t>
            </a:r>
          </a:p>
          <a:p>
            <a:pPr algn="ctr">
              <a:spcBef>
                <a:spcPts val="800"/>
              </a:spcBef>
              <a:spcAft>
                <a:spcPts val="0"/>
              </a:spcAft>
              <a:defRPr sz="3600" b="1">
                <a:solidFill>
                  <a:srgbClr val="00D4AA"/>
                </a:solidFill>
                <a:latin typeface="Inter"/>
              </a:defRPr>
            </a:pPr>
            <a:r>
              <a:t>76/100</a:t>
            </a:r>
          </a:p>
          <a:p>
            <a:pPr algn="ctr">
              <a:spcBef>
                <a:spcPts val="400"/>
              </a:spcBef>
              <a:spcAft>
                <a:spcPts val="0"/>
              </a:spcAft>
              <a:defRPr sz="1100" b="1">
                <a:solidFill>
                  <a:srgbClr val="22C55E"/>
                </a:solidFill>
                <a:latin typeface="Inter"/>
              </a:defRPr>
            </a:pPr>
            <a:r>
              <a:t>+29 pts 📈</a:t>
            </a:r>
          </a:p>
        </p:txBody>
      </p:sp>
      <p:sp>
        <p:nvSpPr>
          <p:cNvPr id="10" name="TextBox 9"/>
          <p:cNvSpPr txBox="1"/>
          <p:nvPr/>
        </p:nvSpPr>
        <p:spPr>
          <a:xfrm>
            <a:off x="8503920" y="2651760"/>
            <a:ext cx="548640" cy="457200"/>
          </a:xfrm>
          <a:prstGeom prst="rect">
            <a:avLst/>
          </a:prstGeom>
          <a:noFill/>
        </p:spPr>
        <p:txBody>
          <a:bodyPr wrap="square" anchor="t"/>
          <a:lstStyle/>
          <a:p>
            <a:pPr algn="ctr">
              <a:defRPr sz="2800" b="1">
                <a:solidFill>
                  <a:srgbClr val="00D4AA"/>
                </a:solidFill>
                <a:latin typeface="Inter"/>
              </a:defRPr>
            </a:pPr>
            <a:r>
              <a:t>→</a:t>
            </a:r>
          </a:p>
        </p:txBody>
      </p:sp>
      <p:sp>
        <p:nvSpPr>
          <p:cNvPr id="11" name="TextBox 10"/>
          <p:cNvSpPr txBox="1"/>
          <p:nvPr/>
        </p:nvSpPr>
        <p:spPr>
          <a:xfrm>
            <a:off x="822960" y="4754880"/>
            <a:ext cx="10515600" cy="548640"/>
          </a:xfrm>
          <a:prstGeom prst="rect">
            <a:avLst/>
          </a:prstGeom>
          <a:noFill/>
        </p:spPr>
        <p:txBody>
          <a:bodyPr wrap="square" anchor="t"/>
          <a:lstStyle/>
          <a:p>
            <a:pPr algn="l">
              <a:defRPr sz="1400" b="1">
                <a:solidFill>
                  <a:srgbClr val="F5F5F5"/>
                </a:solidFill>
                <a:latin typeface="Inter"/>
              </a:defRPr>
            </a:pPr>
            <a:r>
              <a:t>💪  C'est ce qui fait qu'un CCAS ou une collectivité CHOISIT TimeHeroes plutôt qu'Excel.</a:t>
            </a:r>
          </a:p>
        </p:txBody>
      </p:sp>
      <p:sp>
        <p:nvSpPr>
          <p:cNvPr id="12" name="TextBox 11"/>
          <p:cNvSpPr txBox="1"/>
          <p:nvPr/>
        </p:nvSpPr>
        <p:spPr>
          <a:xfrm>
            <a:off x="822960" y="5394960"/>
            <a:ext cx="2286000" cy="274320"/>
          </a:xfrm>
          <a:prstGeom prst="rect">
            <a:avLst/>
          </a:prstGeom>
          <a:noFill/>
        </p:spPr>
        <p:txBody>
          <a:bodyPr wrap="square" anchor="t"/>
          <a:lstStyle/>
          <a:p>
            <a:pPr algn="ctr">
              <a:defRPr sz="2800" b="1">
                <a:solidFill>
                  <a:srgbClr val="00D4AA"/>
                </a:solidFill>
                <a:latin typeface="Inter"/>
              </a:defRPr>
            </a:pPr>
            <a:r>
              <a:t>33 métriques</a:t>
            </a:r>
          </a:p>
        </p:txBody>
      </p:sp>
      <p:sp>
        <p:nvSpPr>
          <p:cNvPr id="13" name="TextBox 12"/>
          <p:cNvSpPr txBox="1"/>
          <p:nvPr/>
        </p:nvSpPr>
        <p:spPr>
          <a:xfrm>
            <a:off x="914400" y="5760720"/>
            <a:ext cx="2103120" cy="274320"/>
          </a:xfrm>
          <a:prstGeom prst="rect">
            <a:avLst/>
          </a:prstGeom>
          <a:noFill/>
        </p:spPr>
        <p:txBody>
          <a:bodyPr wrap="square" anchor="t"/>
          <a:lstStyle/>
          <a:p>
            <a:pPr algn="ctr">
              <a:defRPr sz="1100" b="0">
                <a:solidFill>
                  <a:srgbClr val="A3A3A3"/>
                </a:solidFill>
                <a:latin typeface="Inter"/>
              </a:defRPr>
            </a:pPr>
            <a:r>
              <a:t>quantitatives validées</a:t>
            </a:r>
          </a:p>
        </p:txBody>
      </p:sp>
      <p:sp>
        <p:nvSpPr>
          <p:cNvPr id="14" name="TextBox 13"/>
          <p:cNvSpPr txBox="1"/>
          <p:nvPr/>
        </p:nvSpPr>
        <p:spPr>
          <a:xfrm>
            <a:off x="3931920" y="5394960"/>
            <a:ext cx="2286000" cy="274320"/>
          </a:xfrm>
          <a:prstGeom prst="rect">
            <a:avLst/>
          </a:prstGeom>
          <a:noFill/>
        </p:spPr>
        <p:txBody>
          <a:bodyPr wrap="square" anchor="t"/>
          <a:lstStyle/>
          <a:p>
            <a:pPr algn="ctr">
              <a:defRPr sz="2800" b="1">
                <a:solidFill>
                  <a:srgbClr val="00D4AA"/>
                </a:solidFill>
                <a:latin typeface="Inter"/>
              </a:defRPr>
            </a:pPr>
            <a:r>
              <a:t>15€/h</a:t>
            </a:r>
          </a:p>
        </p:txBody>
      </p:sp>
      <p:sp>
        <p:nvSpPr>
          <p:cNvPr id="15" name="TextBox 14"/>
          <p:cNvSpPr txBox="1"/>
          <p:nvPr/>
        </p:nvSpPr>
        <p:spPr>
          <a:xfrm>
            <a:off x="4023360" y="5760720"/>
            <a:ext cx="2103120" cy="274320"/>
          </a:xfrm>
          <a:prstGeom prst="rect">
            <a:avLst/>
          </a:prstGeom>
          <a:noFill/>
        </p:spPr>
        <p:txBody>
          <a:bodyPr wrap="square" anchor="t"/>
          <a:lstStyle/>
          <a:p>
            <a:pPr algn="ctr">
              <a:defRPr sz="1100" b="0">
                <a:solidFill>
                  <a:srgbClr val="A3A3A3"/>
                </a:solidFill>
                <a:latin typeface="Inter"/>
              </a:defRPr>
            </a:pPr>
            <a:r>
              <a:t>valeur sociale estimée</a:t>
            </a:r>
          </a:p>
        </p:txBody>
      </p:sp>
      <p:sp>
        <p:nvSpPr>
          <p:cNvPr id="16" name="TextBox 15"/>
          <p:cNvSpPr txBox="1"/>
          <p:nvPr/>
        </p:nvSpPr>
        <p:spPr>
          <a:xfrm>
            <a:off x="7040880" y="5394960"/>
            <a:ext cx="2286000" cy="274320"/>
          </a:xfrm>
          <a:prstGeom prst="rect">
            <a:avLst/>
          </a:prstGeom>
          <a:noFill/>
        </p:spPr>
        <p:txBody>
          <a:bodyPr wrap="square" anchor="t"/>
          <a:lstStyle/>
          <a:p>
            <a:pPr algn="ctr">
              <a:defRPr sz="2800" b="1">
                <a:solidFill>
                  <a:srgbClr val="00D4AA"/>
                </a:solidFill>
                <a:latin typeface="Inter"/>
              </a:defRPr>
            </a:pPr>
            <a:r>
              <a:t>5 rapports</a:t>
            </a:r>
          </a:p>
        </p:txBody>
      </p:sp>
      <p:sp>
        <p:nvSpPr>
          <p:cNvPr id="17" name="TextBox 16"/>
          <p:cNvSpPr txBox="1"/>
          <p:nvPr/>
        </p:nvSpPr>
        <p:spPr>
          <a:xfrm>
            <a:off x="7040880" y="5760720"/>
            <a:ext cx="2286000" cy="274320"/>
          </a:xfrm>
          <a:prstGeom prst="rect">
            <a:avLst/>
          </a:prstGeom>
          <a:noFill/>
        </p:spPr>
        <p:txBody>
          <a:bodyPr wrap="square" anchor="t"/>
          <a:lstStyle/>
          <a:p>
            <a:pPr algn="ctr">
              <a:defRPr sz="1100" b="0">
                <a:solidFill>
                  <a:srgbClr val="A3A3A3"/>
                </a:solidFill>
                <a:latin typeface="Inter"/>
              </a:defRPr>
            </a:pPr>
            <a:r>
              <a:t>d'impact personnalisables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822960" y="320040"/>
            <a:ext cx="3657600" cy="320040"/>
          </a:xfrm>
          <a:prstGeom prst="rect">
            <a:avLst/>
          </a:prstGeom>
          <a:noFill/>
        </p:spPr>
        <p:txBody>
          <a:bodyPr wrap="square" anchor="t"/>
          <a:lstStyle/>
          <a:p>
            <a:pPr algn="l">
              <a:defRPr sz="1000" b="1">
                <a:solidFill>
                  <a:srgbClr val="00D4AA"/>
                </a:solidFill>
                <a:latin typeface="Inter"/>
              </a:defRPr>
            </a:pPr>
            <a:r>
              <a:t>MODÈLE ÉCONOMIQUE</a:t>
            </a:r>
          </a:p>
        </p:txBody>
      </p:sp>
      <p:sp>
        <p:nvSpPr>
          <p:cNvPr id="3" name="TextBox 2"/>
          <p:cNvSpPr txBox="1"/>
          <p:nvPr/>
        </p:nvSpPr>
        <p:spPr>
          <a:xfrm>
            <a:off x="822960" y="640080"/>
            <a:ext cx="10058400" cy="640080"/>
          </a:xfrm>
          <a:prstGeom prst="rect">
            <a:avLst/>
          </a:prstGeom>
          <a:noFill/>
        </p:spPr>
        <p:txBody>
          <a:bodyPr wrap="square" anchor="t"/>
          <a:lstStyle/>
          <a:p>
            <a:pPr algn="l">
              <a:defRPr sz="3400" b="1">
                <a:solidFill>
                  <a:srgbClr val="F5F5F5"/>
                </a:solidFill>
                <a:latin typeface="Inter"/>
              </a:defRPr>
            </a:pPr>
            <a:r>
              <a:t>Licence organisation &amp; freemium P2P</a:t>
            </a:r>
          </a:p>
        </p:txBody>
      </p:sp>
      <p:sp>
        <p:nvSpPr>
          <p:cNvPr id="4" name="Rounded Rectangle 3"/>
          <p:cNvSpPr/>
          <p:nvPr/>
        </p:nvSpPr>
        <p:spPr>
          <a:xfrm>
            <a:off x="822960" y="1554480"/>
            <a:ext cx="2514600" cy="292608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554480"/>
            <a:ext cx="2514600" cy="50800"/>
          </a:xfrm>
          <a:prstGeom prst="rect">
            <a:avLst/>
          </a:prstGeom>
          <a:solidFill>
            <a:srgbClr val="737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2148840" cy="320040"/>
          </a:xfrm>
          <a:prstGeom prst="rect">
            <a:avLst/>
          </a:prstGeom>
          <a:noFill/>
        </p:spPr>
        <p:txBody>
          <a:bodyPr wrap="square" anchor="t"/>
          <a:lstStyle/>
          <a:p>
            <a:pPr algn="l">
              <a:defRPr sz="1400" b="1">
                <a:solidFill>
                  <a:srgbClr val="737373"/>
                </a:solidFill>
                <a:latin typeface="Inter"/>
              </a:defRPr>
            </a:pPr>
            <a:r>
              <a:t>Gratuit</a:t>
            </a:r>
          </a:p>
        </p:txBody>
      </p:sp>
      <p:sp>
        <p:nvSpPr>
          <p:cNvPr id="7" name="TextBox 6"/>
          <p:cNvSpPr txBox="1"/>
          <p:nvPr/>
        </p:nvSpPr>
        <p:spPr>
          <a:xfrm>
            <a:off x="1005840" y="2011680"/>
            <a:ext cx="2148840" cy="502920"/>
          </a:xfrm>
          <a:prstGeom prst="rect">
            <a:avLst/>
          </a:prstGeom>
          <a:noFill/>
        </p:spPr>
        <p:txBody>
          <a:bodyPr wrap="square" anchor="t"/>
          <a:lstStyle/>
          <a:p>
            <a:pPr algn="l">
              <a:defRPr sz="2200" b="1">
                <a:solidFill>
                  <a:srgbClr val="F5F5F5"/>
                </a:solidFill>
                <a:latin typeface="Inter"/>
              </a:defRPr>
            </a:pPr>
            <a:r>
              <a:t>0 €/mois</a:t>
            </a:r>
          </a:p>
        </p:txBody>
      </p:sp>
      <p:sp>
        <p:nvSpPr>
          <p:cNvPr id="8" name="TextBox 7"/>
          <p:cNvSpPr txBox="1"/>
          <p:nvPr/>
        </p:nvSpPr>
        <p:spPr>
          <a:xfrm>
            <a:off x="1005840" y="2560320"/>
            <a:ext cx="2148840" cy="274320"/>
          </a:xfrm>
          <a:prstGeom prst="rect">
            <a:avLst/>
          </a:prstGeom>
          <a:noFill/>
        </p:spPr>
        <p:txBody>
          <a:bodyPr wrap="square" anchor="t"/>
          <a:lstStyle/>
          <a:p>
            <a:pPr algn="l">
              <a:defRPr sz="1000" b="0">
                <a:solidFill>
                  <a:srgbClr val="A3A3A3"/>
                </a:solidFill>
                <a:latin typeface="Inter"/>
              </a:defRPr>
            </a:pPr>
            <a:r>
              <a:t>Particuliers</a:t>
            </a:r>
          </a:p>
        </p:txBody>
      </p:sp>
      <p:sp>
        <p:nvSpPr>
          <p:cNvPr id="9" name="Rectangle 8"/>
          <p:cNvSpPr/>
          <p:nvPr/>
        </p:nvSpPr>
        <p:spPr>
          <a:xfrm>
            <a:off x="1005840" y="2880360"/>
            <a:ext cx="2148840" cy="127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971800"/>
            <a:ext cx="2148840" cy="1371600"/>
          </a:xfrm>
          <a:prstGeom prst="rect">
            <a:avLst/>
          </a:prstGeom>
          <a:noFill/>
        </p:spPr>
        <p:txBody>
          <a:bodyPr wrap="square"/>
          <a:lstStyle/>
          <a:p>
            <a:pPr algn="l">
              <a:spcBef>
                <a:spcPts val="200"/>
              </a:spcBef>
              <a:spcAft>
                <a:spcPts val="200"/>
              </a:spcAft>
              <a:defRPr sz="1000" b="0">
                <a:solidFill>
                  <a:srgbClr val="A3A3A3"/>
                </a:solidFill>
                <a:latin typeface="Inter"/>
              </a:defRPr>
            </a:pPr>
            <a:r>
              <a:t>✓  Accès P2P essentiel</a:t>
            </a:r>
          </a:p>
          <a:p>
            <a:pPr algn="l">
              <a:spcBef>
                <a:spcPts val="200"/>
              </a:spcBef>
              <a:spcAft>
                <a:spcPts val="200"/>
              </a:spcAft>
              <a:defRPr sz="1000" b="0">
                <a:solidFill>
                  <a:srgbClr val="A3A3A3"/>
                </a:solidFill>
                <a:latin typeface="Inter"/>
              </a:defRPr>
            </a:pPr>
            <a:r>
              <a:t>✓  Wallet TIME</a:t>
            </a:r>
          </a:p>
          <a:p>
            <a:pPr algn="l">
              <a:spcBef>
                <a:spcPts val="200"/>
              </a:spcBef>
              <a:spcAft>
                <a:spcPts val="200"/>
              </a:spcAft>
              <a:defRPr sz="1000" b="0">
                <a:solidFill>
                  <a:srgbClr val="A3A3A3"/>
                </a:solidFill>
                <a:latin typeface="Inter"/>
              </a:defRPr>
            </a:pPr>
            <a:r>
              <a:t>✓  Marketplace</a:t>
            </a:r>
          </a:p>
        </p:txBody>
      </p:sp>
      <p:sp>
        <p:nvSpPr>
          <p:cNvPr id="11" name="Rounded Rectangle 10"/>
          <p:cNvSpPr/>
          <p:nvPr/>
        </p:nvSpPr>
        <p:spPr>
          <a:xfrm>
            <a:off x="3566160" y="1554480"/>
            <a:ext cx="2514600" cy="292608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66160" y="1554480"/>
            <a:ext cx="2514600" cy="50800"/>
          </a:xfrm>
          <a:prstGeom prst="rect">
            <a:avLst/>
          </a:prstGeom>
          <a:solidFill>
            <a:srgbClr val="A3A3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9040" y="1737360"/>
            <a:ext cx="2148840" cy="320040"/>
          </a:xfrm>
          <a:prstGeom prst="rect">
            <a:avLst/>
          </a:prstGeom>
          <a:noFill/>
        </p:spPr>
        <p:txBody>
          <a:bodyPr wrap="square" anchor="t"/>
          <a:lstStyle/>
          <a:p>
            <a:pPr algn="l">
              <a:defRPr sz="1400" b="1">
                <a:solidFill>
                  <a:srgbClr val="A3A3A3"/>
                </a:solidFill>
                <a:latin typeface="Inter"/>
              </a:defRPr>
            </a:pPr>
            <a:r>
              <a:t>Découverte</a:t>
            </a:r>
          </a:p>
        </p:txBody>
      </p:sp>
      <p:sp>
        <p:nvSpPr>
          <p:cNvPr id="14" name="TextBox 13"/>
          <p:cNvSpPr txBox="1"/>
          <p:nvPr/>
        </p:nvSpPr>
        <p:spPr>
          <a:xfrm>
            <a:off x="3749040" y="2011680"/>
            <a:ext cx="2148840" cy="502920"/>
          </a:xfrm>
          <a:prstGeom prst="rect">
            <a:avLst/>
          </a:prstGeom>
          <a:noFill/>
        </p:spPr>
        <p:txBody>
          <a:bodyPr wrap="square" anchor="t"/>
          <a:lstStyle/>
          <a:p>
            <a:pPr algn="l">
              <a:defRPr sz="2200" b="1">
                <a:solidFill>
                  <a:srgbClr val="F5F5F5"/>
                </a:solidFill>
                <a:latin typeface="Inter"/>
              </a:defRPr>
            </a:pPr>
            <a:r>
              <a:t>150 €/mois</a:t>
            </a:r>
          </a:p>
        </p:txBody>
      </p:sp>
      <p:sp>
        <p:nvSpPr>
          <p:cNvPr id="15" name="TextBox 14"/>
          <p:cNvSpPr txBox="1"/>
          <p:nvPr/>
        </p:nvSpPr>
        <p:spPr>
          <a:xfrm>
            <a:off x="3749040" y="2560320"/>
            <a:ext cx="2148840" cy="274320"/>
          </a:xfrm>
          <a:prstGeom prst="rect">
            <a:avLst/>
          </a:prstGeom>
          <a:noFill/>
        </p:spPr>
        <p:txBody>
          <a:bodyPr wrap="square" anchor="t"/>
          <a:lstStyle/>
          <a:p>
            <a:pPr algn="l">
              <a:defRPr sz="1000" b="0">
                <a:solidFill>
                  <a:srgbClr val="A3A3A3"/>
                </a:solidFill>
                <a:latin typeface="Inter"/>
              </a:defRPr>
            </a:pPr>
            <a:r>
              <a:t>Associations</a:t>
            </a:r>
          </a:p>
        </p:txBody>
      </p:sp>
      <p:sp>
        <p:nvSpPr>
          <p:cNvPr id="16" name="Rectangle 15"/>
          <p:cNvSpPr/>
          <p:nvPr/>
        </p:nvSpPr>
        <p:spPr>
          <a:xfrm>
            <a:off x="3749040" y="2880360"/>
            <a:ext cx="2148840" cy="127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0" y="2971800"/>
            <a:ext cx="2148840" cy="1371600"/>
          </a:xfrm>
          <a:prstGeom prst="rect">
            <a:avLst/>
          </a:prstGeom>
          <a:noFill/>
        </p:spPr>
        <p:txBody>
          <a:bodyPr wrap="square"/>
          <a:lstStyle/>
          <a:p>
            <a:pPr algn="l">
              <a:spcBef>
                <a:spcPts val="200"/>
              </a:spcBef>
              <a:spcAft>
                <a:spcPts val="200"/>
              </a:spcAft>
              <a:defRPr sz="1000" b="0">
                <a:solidFill>
                  <a:srgbClr val="A3A3A3"/>
                </a:solidFill>
                <a:latin typeface="Inter"/>
              </a:defRPr>
            </a:pPr>
            <a:r>
              <a:t>✓  Programmes structurés</a:t>
            </a:r>
          </a:p>
          <a:p>
            <a:pPr algn="l">
              <a:spcBef>
                <a:spcPts val="200"/>
              </a:spcBef>
              <a:spcAft>
                <a:spcPts val="200"/>
              </a:spcAft>
              <a:defRPr sz="1000" b="0">
                <a:solidFill>
                  <a:srgbClr val="A3A3A3"/>
                </a:solidFill>
                <a:latin typeface="Inter"/>
              </a:defRPr>
            </a:pPr>
            <a:r>
              <a:t>✓  Rapports d'impact</a:t>
            </a:r>
          </a:p>
          <a:p>
            <a:pPr algn="l">
              <a:spcBef>
                <a:spcPts val="200"/>
              </a:spcBef>
              <a:spcAft>
                <a:spcPts val="200"/>
              </a:spcAft>
              <a:defRPr sz="1000" b="0">
                <a:solidFill>
                  <a:srgbClr val="A3A3A3"/>
                </a:solidFill>
                <a:latin typeface="Inter"/>
              </a:defRPr>
            </a:pPr>
            <a:r>
              <a:t>✓  Dashboard</a:t>
            </a:r>
          </a:p>
        </p:txBody>
      </p:sp>
      <p:sp>
        <p:nvSpPr>
          <p:cNvPr id="18" name="Rounded Rectangle 17"/>
          <p:cNvSpPr/>
          <p:nvPr/>
        </p:nvSpPr>
        <p:spPr>
          <a:xfrm>
            <a:off x="6309360" y="1554480"/>
            <a:ext cx="2514600" cy="292608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9360" y="1554480"/>
            <a:ext cx="2514600" cy="508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1737360"/>
            <a:ext cx="2148840" cy="320040"/>
          </a:xfrm>
          <a:prstGeom prst="rect">
            <a:avLst/>
          </a:prstGeom>
          <a:noFill/>
        </p:spPr>
        <p:txBody>
          <a:bodyPr wrap="square" anchor="t"/>
          <a:lstStyle/>
          <a:p>
            <a:pPr algn="l">
              <a:defRPr sz="1400" b="1">
                <a:solidFill>
                  <a:srgbClr val="00D4AA"/>
                </a:solidFill>
                <a:latin typeface="Inter"/>
              </a:defRPr>
            </a:pPr>
            <a:r>
              <a:t>Standard</a:t>
            </a:r>
          </a:p>
        </p:txBody>
      </p:sp>
      <p:sp>
        <p:nvSpPr>
          <p:cNvPr id="21" name="TextBox 20"/>
          <p:cNvSpPr txBox="1"/>
          <p:nvPr/>
        </p:nvSpPr>
        <p:spPr>
          <a:xfrm>
            <a:off x="6492240" y="2011680"/>
            <a:ext cx="2148840" cy="502920"/>
          </a:xfrm>
          <a:prstGeom prst="rect">
            <a:avLst/>
          </a:prstGeom>
          <a:noFill/>
        </p:spPr>
        <p:txBody>
          <a:bodyPr wrap="square" anchor="t"/>
          <a:lstStyle/>
          <a:p>
            <a:pPr algn="l">
              <a:defRPr sz="2200" b="1">
                <a:solidFill>
                  <a:srgbClr val="F5F5F5"/>
                </a:solidFill>
                <a:latin typeface="Inter"/>
              </a:defRPr>
            </a:pPr>
            <a:r>
              <a:t>300 €/mois</a:t>
            </a:r>
          </a:p>
        </p:txBody>
      </p:sp>
      <p:sp>
        <p:nvSpPr>
          <p:cNvPr id="22" name="TextBox 21"/>
          <p:cNvSpPr txBox="1"/>
          <p:nvPr/>
        </p:nvSpPr>
        <p:spPr>
          <a:xfrm>
            <a:off x="6492240" y="2560320"/>
            <a:ext cx="2148840" cy="274320"/>
          </a:xfrm>
          <a:prstGeom prst="rect">
            <a:avLst/>
          </a:prstGeom>
          <a:noFill/>
        </p:spPr>
        <p:txBody>
          <a:bodyPr wrap="square" anchor="t"/>
          <a:lstStyle/>
          <a:p>
            <a:pPr algn="l">
              <a:defRPr sz="1000" b="0">
                <a:solidFill>
                  <a:srgbClr val="A3A3A3"/>
                </a:solidFill>
                <a:latin typeface="Inter"/>
              </a:defRPr>
            </a:pPr>
            <a:r>
              <a:t>CCAS, Résidences</a:t>
            </a:r>
          </a:p>
        </p:txBody>
      </p:sp>
      <p:sp>
        <p:nvSpPr>
          <p:cNvPr id="23" name="Rectangle 22"/>
          <p:cNvSpPr/>
          <p:nvPr/>
        </p:nvSpPr>
        <p:spPr>
          <a:xfrm>
            <a:off x="6492240" y="2880360"/>
            <a:ext cx="2148840" cy="127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2971800"/>
            <a:ext cx="2148840" cy="1371600"/>
          </a:xfrm>
          <a:prstGeom prst="rect">
            <a:avLst/>
          </a:prstGeom>
          <a:noFill/>
        </p:spPr>
        <p:txBody>
          <a:bodyPr wrap="square"/>
          <a:lstStyle/>
          <a:p>
            <a:pPr algn="l">
              <a:spcBef>
                <a:spcPts val="200"/>
              </a:spcBef>
              <a:spcAft>
                <a:spcPts val="200"/>
              </a:spcAft>
              <a:defRPr sz="1000" b="0">
                <a:solidFill>
                  <a:srgbClr val="A3A3A3"/>
                </a:solidFill>
                <a:latin typeface="Inter"/>
              </a:defRPr>
            </a:pPr>
            <a:r>
              <a:t>✓  Multi-programmes</a:t>
            </a:r>
          </a:p>
          <a:p>
            <a:pPr algn="l">
              <a:spcBef>
                <a:spcPts val="200"/>
              </a:spcBef>
              <a:spcAft>
                <a:spcPts val="200"/>
              </a:spcAft>
              <a:defRPr sz="1000" b="0">
                <a:solidFill>
                  <a:srgbClr val="A3A3A3"/>
                </a:solidFill>
                <a:latin typeface="Inter"/>
              </a:defRPr>
            </a:pPr>
            <a:r>
              <a:t>✓  IA Matchmaking</a:t>
            </a:r>
          </a:p>
          <a:p>
            <a:pPr algn="l">
              <a:spcBef>
                <a:spcPts val="200"/>
              </a:spcBef>
              <a:spcAft>
                <a:spcPts val="200"/>
              </a:spcAft>
              <a:defRPr sz="1000" b="0">
                <a:solidFill>
                  <a:srgbClr val="A3A3A3"/>
                </a:solidFill>
                <a:latin typeface="Inter"/>
              </a:defRPr>
            </a:pPr>
            <a:r>
              <a:t>✓  Gamification</a:t>
            </a:r>
          </a:p>
        </p:txBody>
      </p:sp>
      <p:sp>
        <p:nvSpPr>
          <p:cNvPr id="25" name="Rounded Rectangle 24"/>
          <p:cNvSpPr/>
          <p:nvPr/>
        </p:nvSpPr>
        <p:spPr>
          <a:xfrm>
            <a:off x="9052560" y="1554480"/>
            <a:ext cx="2514600" cy="292608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52560" y="1554480"/>
            <a:ext cx="2514600" cy="508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35440" y="1737360"/>
            <a:ext cx="2148840" cy="320040"/>
          </a:xfrm>
          <a:prstGeom prst="rect">
            <a:avLst/>
          </a:prstGeom>
          <a:noFill/>
        </p:spPr>
        <p:txBody>
          <a:bodyPr wrap="square" anchor="t"/>
          <a:lstStyle/>
          <a:p>
            <a:pPr algn="l">
              <a:defRPr sz="1400" b="1">
                <a:solidFill>
                  <a:srgbClr val="8B5CF6"/>
                </a:solidFill>
                <a:latin typeface="Inter"/>
              </a:defRPr>
            </a:pPr>
            <a:r>
              <a:t>Premium</a:t>
            </a:r>
          </a:p>
        </p:txBody>
      </p:sp>
      <p:sp>
        <p:nvSpPr>
          <p:cNvPr id="28" name="TextBox 27"/>
          <p:cNvSpPr txBox="1"/>
          <p:nvPr/>
        </p:nvSpPr>
        <p:spPr>
          <a:xfrm>
            <a:off x="9235440" y="2011680"/>
            <a:ext cx="2148840" cy="502920"/>
          </a:xfrm>
          <a:prstGeom prst="rect">
            <a:avLst/>
          </a:prstGeom>
          <a:noFill/>
        </p:spPr>
        <p:txBody>
          <a:bodyPr wrap="square" anchor="t"/>
          <a:lstStyle/>
          <a:p>
            <a:pPr algn="l">
              <a:defRPr sz="2200" b="1">
                <a:solidFill>
                  <a:srgbClr val="F5F5F5"/>
                </a:solidFill>
                <a:latin typeface="Inter"/>
              </a:defRPr>
            </a:pPr>
            <a:r>
              <a:t>500 €/mois</a:t>
            </a:r>
          </a:p>
        </p:txBody>
      </p:sp>
      <p:sp>
        <p:nvSpPr>
          <p:cNvPr id="29" name="TextBox 28"/>
          <p:cNvSpPr txBox="1"/>
          <p:nvPr/>
        </p:nvSpPr>
        <p:spPr>
          <a:xfrm>
            <a:off x="9235440" y="2560320"/>
            <a:ext cx="2148840" cy="274320"/>
          </a:xfrm>
          <a:prstGeom prst="rect">
            <a:avLst/>
          </a:prstGeom>
          <a:noFill/>
        </p:spPr>
        <p:txBody>
          <a:bodyPr wrap="square" anchor="t"/>
          <a:lstStyle/>
          <a:p>
            <a:pPr algn="l">
              <a:defRPr sz="1000" b="0">
                <a:solidFill>
                  <a:srgbClr val="A3A3A3"/>
                </a:solidFill>
                <a:latin typeface="Inter"/>
              </a:defRPr>
            </a:pPr>
            <a:r>
              <a:t>Collectivités, Entreprises</a:t>
            </a:r>
          </a:p>
        </p:txBody>
      </p:sp>
      <p:sp>
        <p:nvSpPr>
          <p:cNvPr id="30" name="Rectangle 29"/>
          <p:cNvSpPr/>
          <p:nvPr/>
        </p:nvSpPr>
        <p:spPr>
          <a:xfrm>
            <a:off x="9235440" y="2880360"/>
            <a:ext cx="2148840" cy="127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35440" y="2971800"/>
            <a:ext cx="2148840" cy="1371600"/>
          </a:xfrm>
          <a:prstGeom prst="rect">
            <a:avLst/>
          </a:prstGeom>
          <a:noFill/>
        </p:spPr>
        <p:txBody>
          <a:bodyPr wrap="square"/>
          <a:lstStyle/>
          <a:p>
            <a:pPr algn="l">
              <a:spcBef>
                <a:spcPts val="200"/>
              </a:spcBef>
              <a:spcAft>
                <a:spcPts val="200"/>
              </a:spcAft>
              <a:defRPr sz="1000" b="0">
                <a:solidFill>
                  <a:srgbClr val="A3A3A3"/>
                </a:solidFill>
                <a:latin typeface="Inter"/>
              </a:defRPr>
            </a:pPr>
            <a:r>
              <a:t>✓  API publique</a:t>
            </a:r>
          </a:p>
          <a:p>
            <a:pPr algn="l">
              <a:spcBef>
                <a:spcPts val="200"/>
              </a:spcBef>
              <a:spcAft>
                <a:spcPts val="200"/>
              </a:spcAft>
              <a:defRPr sz="1000" b="0">
                <a:solidFill>
                  <a:srgbClr val="A3A3A3"/>
                </a:solidFill>
                <a:latin typeface="Inter"/>
              </a:defRPr>
            </a:pPr>
            <a:r>
              <a:t>✓  Multi-organisations</a:t>
            </a:r>
          </a:p>
          <a:p>
            <a:pPr algn="l">
              <a:spcBef>
                <a:spcPts val="200"/>
              </a:spcBef>
              <a:spcAft>
                <a:spcPts val="200"/>
              </a:spcAft>
              <a:defRPr sz="1000" b="0">
                <a:solidFill>
                  <a:srgbClr val="A3A3A3"/>
                </a:solidFill>
                <a:latin typeface="Inter"/>
              </a:defRPr>
            </a:pPr>
            <a:r>
              <a:t>✓  Support prioritaire</a:t>
            </a:r>
          </a:p>
        </p:txBody>
      </p:sp>
      <p:sp>
        <p:nvSpPr>
          <p:cNvPr id="32" name="TextBox 31"/>
          <p:cNvSpPr txBox="1"/>
          <p:nvPr/>
        </p:nvSpPr>
        <p:spPr>
          <a:xfrm>
            <a:off x="8275320" y="1280160"/>
            <a:ext cx="1371600" cy="274320"/>
          </a:xfrm>
          <a:prstGeom prst="rect">
            <a:avLst/>
          </a:prstGeom>
          <a:noFill/>
        </p:spPr>
        <p:txBody>
          <a:bodyPr wrap="square" anchor="t"/>
          <a:lstStyle/>
          <a:p>
            <a:pPr algn="ctr">
              <a:defRPr sz="800" b="1">
                <a:solidFill>
                  <a:srgbClr val="00D4AA"/>
                </a:solidFill>
                <a:latin typeface="Inter"/>
              </a:defRPr>
            </a:pPr>
            <a:r>
              <a:t>RECOMMANDÉ</a:t>
            </a:r>
          </a:p>
        </p:txBody>
      </p:sp>
      <p:sp>
        <p:nvSpPr>
          <p:cNvPr id="33" name="Rounded Rectangle 32"/>
          <p:cNvSpPr/>
          <p:nvPr/>
        </p:nvSpPr>
        <p:spPr>
          <a:xfrm>
            <a:off x="822960" y="4846320"/>
            <a:ext cx="10515600" cy="914400"/>
          </a:xfrm>
          <a:prstGeom prst="roundRect">
            <a:avLst>
              <a:gd name="adj" fmla="val 8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500" b="1">
                <a:solidFill>
                  <a:srgbClr val="F5F5F5"/>
                </a:solidFill>
                <a:latin typeface="Inter"/>
              </a:defRPr>
            </a:pPr>
            <a:r>
              <a:t>Projection Année 1 : 13-15 organisations → ~34 000 €/an de CA récurrent</a:t>
            </a:r>
          </a:p>
          <a:p>
            <a:pPr algn="ctr">
              <a:spcBef>
                <a:spcPts val="400"/>
              </a:spcBef>
              <a:spcAft>
                <a:spcPts val="0"/>
              </a:spcAft>
              <a:defRPr sz="1100" b="0">
                <a:solidFill>
                  <a:srgbClr val="A3A3A3"/>
                </a:solidFill>
                <a:latin typeface="Inter"/>
              </a:defRPr>
            </a:pPr>
            <a:r>
              <a:t>Pack Pilote : 300 € / 3 mois — Conversion rapide vers licence standard.  •  P2P gratuit pour l'effet de réseau.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822960" y="320040"/>
            <a:ext cx="3657600" cy="320040"/>
          </a:xfrm>
          <a:prstGeom prst="rect">
            <a:avLst/>
          </a:prstGeom>
          <a:noFill/>
        </p:spPr>
        <p:txBody>
          <a:bodyPr wrap="square" anchor="t"/>
          <a:lstStyle/>
          <a:p>
            <a:pPr algn="l">
              <a:defRPr sz="1000" b="1">
                <a:solidFill>
                  <a:srgbClr val="00D4AA"/>
                </a:solidFill>
                <a:latin typeface="Inter"/>
              </a:defRPr>
            </a:pPr>
            <a:r>
              <a:t>ROADMAP</a:t>
            </a:r>
          </a:p>
        </p:txBody>
      </p:sp>
      <p:sp>
        <p:nvSpPr>
          <p:cNvPr id="3" name="TextBox 2"/>
          <p:cNvSpPr txBox="1"/>
          <p:nvPr/>
        </p:nvSpPr>
        <p:spPr>
          <a:xfrm>
            <a:off x="822960" y="640080"/>
            <a:ext cx="10058400" cy="640080"/>
          </a:xfrm>
          <a:prstGeom prst="rect">
            <a:avLst/>
          </a:prstGeom>
          <a:noFill/>
        </p:spPr>
        <p:txBody>
          <a:bodyPr wrap="square" anchor="t"/>
          <a:lstStyle/>
          <a:p>
            <a:pPr algn="l">
              <a:defRPr sz="3400" b="1">
                <a:solidFill>
                  <a:srgbClr val="F5F5F5"/>
                </a:solidFill>
                <a:latin typeface="Inter"/>
              </a:defRPr>
            </a:pPr>
            <a:r>
              <a:t>Les 12 prochains mois</a:t>
            </a:r>
          </a:p>
        </p:txBody>
      </p:sp>
      <p:sp>
        <p:nvSpPr>
          <p:cNvPr id="4" name="Rounded Rectangle 3"/>
          <p:cNvSpPr/>
          <p:nvPr/>
        </p:nvSpPr>
        <p:spPr>
          <a:xfrm>
            <a:off x="822960" y="1554480"/>
            <a:ext cx="3291840" cy="438912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554480"/>
            <a:ext cx="3291840" cy="635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737360"/>
            <a:ext cx="2834640" cy="228600"/>
          </a:xfrm>
          <a:prstGeom prst="rect">
            <a:avLst/>
          </a:prstGeom>
          <a:noFill/>
        </p:spPr>
        <p:txBody>
          <a:bodyPr wrap="square" anchor="t"/>
          <a:lstStyle/>
          <a:p>
            <a:pPr algn="l">
              <a:defRPr sz="1000" b="1">
                <a:solidFill>
                  <a:srgbClr val="737373"/>
                </a:solidFill>
                <a:latin typeface="Inter"/>
              </a:defRPr>
            </a:pPr>
            <a:r>
              <a:t>Été → Nov. 2026</a:t>
            </a:r>
          </a:p>
        </p:txBody>
      </p:sp>
      <p:sp>
        <p:nvSpPr>
          <p:cNvPr id="7" name="TextBox 6"/>
          <p:cNvSpPr txBox="1"/>
          <p:nvPr/>
        </p:nvSpPr>
        <p:spPr>
          <a:xfrm>
            <a:off x="1051560" y="1965960"/>
            <a:ext cx="2834640" cy="274320"/>
          </a:xfrm>
          <a:prstGeom prst="rect">
            <a:avLst/>
          </a:prstGeom>
          <a:noFill/>
        </p:spPr>
        <p:txBody>
          <a:bodyPr wrap="square" anchor="t"/>
          <a:lstStyle/>
          <a:p>
            <a:pPr algn="l">
              <a:defRPr sz="1100" b="1">
                <a:solidFill>
                  <a:srgbClr val="00D4AA"/>
                </a:solidFill>
                <a:latin typeface="Inter"/>
              </a:defRPr>
            </a:pPr>
            <a:r>
              <a:t>PHASE 1b</a:t>
            </a:r>
          </a:p>
        </p:txBody>
      </p:sp>
      <p:sp>
        <p:nvSpPr>
          <p:cNvPr id="8" name="TextBox 7"/>
          <p:cNvSpPr txBox="1"/>
          <p:nvPr/>
        </p:nvSpPr>
        <p:spPr>
          <a:xfrm>
            <a:off x="1051560" y="2240280"/>
            <a:ext cx="2834640" cy="365760"/>
          </a:xfrm>
          <a:prstGeom prst="rect">
            <a:avLst/>
          </a:prstGeom>
          <a:noFill/>
        </p:spPr>
        <p:txBody>
          <a:bodyPr wrap="square" anchor="t"/>
          <a:lstStyle/>
          <a:p>
            <a:pPr algn="l">
              <a:defRPr sz="1800" b="1">
                <a:solidFill>
                  <a:srgbClr val="F5F5F5"/>
                </a:solidFill>
                <a:latin typeface="Inter"/>
              </a:defRPr>
            </a:pPr>
            <a:r>
              <a:t>Stabilisation &amp; Pilotes</a:t>
            </a:r>
          </a:p>
        </p:txBody>
      </p:sp>
      <p:sp>
        <p:nvSpPr>
          <p:cNvPr id="9" name="Rectangle 8"/>
          <p:cNvSpPr/>
          <p:nvPr/>
        </p:nvSpPr>
        <p:spPr>
          <a:xfrm>
            <a:off x="1051560" y="2606040"/>
            <a:ext cx="2834640" cy="127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743200"/>
            <a:ext cx="2834640" cy="2926080"/>
          </a:xfrm>
          <a:prstGeom prst="rect">
            <a:avLst/>
          </a:prstGeom>
          <a:noFill/>
        </p:spPr>
        <p:txBody>
          <a:bodyPr wrap="square"/>
          <a:lstStyle/>
          <a:p>
            <a:pPr algn="l">
              <a:spcBef>
                <a:spcPts val="300"/>
              </a:spcBef>
              <a:spcAft>
                <a:spcPts val="300"/>
              </a:spcAft>
              <a:defRPr sz="1100" b="0">
                <a:solidFill>
                  <a:srgbClr val="A3A3A3"/>
                </a:solidFill>
                <a:latin typeface="Inter"/>
              </a:defRPr>
            </a:pPr>
            <a:r>
              <a:t>▸  Recrutement bêta-testeurs CCAS</a:t>
            </a:r>
          </a:p>
          <a:p>
            <a:pPr algn="l">
              <a:spcBef>
                <a:spcPts val="300"/>
              </a:spcBef>
              <a:spcAft>
                <a:spcPts val="300"/>
              </a:spcAft>
              <a:defRPr sz="1100" b="0">
                <a:solidFill>
                  <a:srgbClr val="A3A3A3"/>
                </a:solidFill>
                <a:latin typeface="Inter"/>
              </a:defRPr>
            </a:pPr>
            <a:r>
              <a:t>▸  PWA (mobile, notifications push)</a:t>
            </a:r>
          </a:p>
          <a:p>
            <a:pPr algn="l">
              <a:spcBef>
                <a:spcPts val="300"/>
              </a:spcBef>
              <a:spcAft>
                <a:spcPts val="300"/>
              </a:spcAft>
              <a:defRPr sz="1100" b="0">
                <a:solidFill>
                  <a:srgbClr val="A3A3A3"/>
                </a:solidFill>
                <a:latin typeface="Inter"/>
              </a:defRPr>
            </a:pPr>
            <a:r>
              <a:t>▸  Design polish (6 lots)</a:t>
            </a:r>
          </a:p>
          <a:p>
            <a:pPr algn="l">
              <a:spcBef>
                <a:spcPts val="300"/>
              </a:spcBef>
              <a:spcAft>
                <a:spcPts val="300"/>
              </a:spcAft>
              <a:defRPr sz="1100" b="0">
                <a:solidFill>
                  <a:srgbClr val="A3A3A3"/>
                </a:solidFill>
                <a:latin typeface="Inter"/>
              </a:defRPr>
            </a:pPr>
            <a:r>
              <a:t>▸  Rapports d'impact démo</a:t>
            </a:r>
          </a:p>
          <a:p>
            <a:pPr algn="l">
              <a:spcBef>
                <a:spcPts val="300"/>
              </a:spcBef>
              <a:spcAft>
                <a:spcPts val="300"/>
              </a:spcAft>
              <a:defRPr sz="1100" b="0">
                <a:solidFill>
                  <a:srgbClr val="A3A3A3"/>
                </a:solidFill>
                <a:latin typeface="Inter"/>
              </a:defRPr>
            </a:pPr>
            <a:r>
              <a:t>▸  Statut juridique (ESS/asso/SAS)</a:t>
            </a:r>
          </a:p>
          <a:p>
            <a:pPr algn="l">
              <a:spcBef>
                <a:spcPts val="300"/>
              </a:spcBef>
              <a:spcAft>
                <a:spcPts val="300"/>
              </a:spcAft>
              <a:defRPr sz="1100" b="1">
                <a:solidFill>
                  <a:srgbClr val="00D4AA"/>
                </a:solidFill>
                <a:latin typeface="Inter"/>
              </a:defRPr>
            </a:pPr>
            <a:r>
              <a:t>▸  Priorité : 2-3 pilotes CCAS concrets</a:t>
            </a:r>
          </a:p>
        </p:txBody>
      </p:sp>
      <p:sp>
        <p:nvSpPr>
          <p:cNvPr id="11" name="Rounded Rectangle 10"/>
          <p:cNvSpPr/>
          <p:nvPr/>
        </p:nvSpPr>
        <p:spPr>
          <a:xfrm>
            <a:off x="4389120" y="1554480"/>
            <a:ext cx="3291840" cy="438912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554480"/>
            <a:ext cx="3291840" cy="6350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1737360"/>
            <a:ext cx="2834640" cy="228600"/>
          </a:xfrm>
          <a:prstGeom prst="rect">
            <a:avLst/>
          </a:prstGeom>
          <a:noFill/>
        </p:spPr>
        <p:txBody>
          <a:bodyPr wrap="square" anchor="t"/>
          <a:lstStyle/>
          <a:p>
            <a:pPr algn="l">
              <a:defRPr sz="1000" b="1">
                <a:solidFill>
                  <a:srgbClr val="737373"/>
                </a:solidFill>
                <a:latin typeface="Inter"/>
              </a:defRPr>
            </a:pPr>
            <a:r>
              <a:t>Déc. 2026 → Mi-2027</a:t>
            </a:r>
          </a:p>
        </p:txBody>
      </p:sp>
      <p:sp>
        <p:nvSpPr>
          <p:cNvPr id="14" name="TextBox 13"/>
          <p:cNvSpPr txBox="1"/>
          <p:nvPr/>
        </p:nvSpPr>
        <p:spPr>
          <a:xfrm>
            <a:off x="4617720" y="1965960"/>
            <a:ext cx="2834640" cy="274320"/>
          </a:xfrm>
          <a:prstGeom prst="rect">
            <a:avLst/>
          </a:prstGeom>
          <a:noFill/>
        </p:spPr>
        <p:txBody>
          <a:bodyPr wrap="square" anchor="t"/>
          <a:lstStyle/>
          <a:p>
            <a:pPr algn="l">
              <a:defRPr sz="1100" b="1">
                <a:solidFill>
                  <a:srgbClr val="F0A500"/>
                </a:solidFill>
                <a:latin typeface="Inter"/>
              </a:defRPr>
            </a:pPr>
            <a:r>
              <a:t>PHASE 2</a:t>
            </a:r>
          </a:p>
        </p:txBody>
      </p:sp>
      <p:sp>
        <p:nvSpPr>
          <p:cNvPr id="15" name="TextBox 14"/>
          <p:cNvSpPr txBox="1"/>
          <p:nvPr/>
        </p:nvSpPr>
        <p:spPr>
          <a:xfrm>
            <a:off x="4617720" y="2240280"/>
            <a:ext cx="2834640" cy="365760"/>
          </a:xfrm>
          <a:prstGeom prst="rect">
            <a:avLst/>
          </a:prstGeom>
          <a:noFill/>
        </p:spPr>
        <p:txBody>
          <a:bodyPr wrap="square" anchor="t"/>
          <a:lstStyle/>
          <a:p>
            <a:pPr algn="l">
              <a:defRPr sz="1800" b="1">
                <a:solidFill>
                  <a:srgbClr val="F5F5F5"/>
                </a:solidFill>
                <a:latin typeface="Inter"/>
              </a:defRPr>
            </a:pPr>
            <a:r>
              <a:t>MVP &amp; Scale</a:t>
            </a:r>
          </a:p>
        </p:txBody>
      </p:sp>
      <p:sp>
        <p:nvSpPr>
          <p:cNvPr id="16" name="Rectangle 15"/>
          <p:cNvSpPr/>
          <p:nvPr/>
        </p:nvSpPr>
        <p:spPr>
          <a:xfrm>
            <a:off x="4617720" y="2606040"/>
            <a:ext cx="2834640" cy="127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2743200"/>
            <a:ext cx="2834640" cy="2926080"/>
          </a:xfrm>
          <a:prstGeom prst="rect">
            <a:avLst/>
          </a:prstGeom>
          <a:noFill/>
        </p:spPr>
        <p:txBody>
          <a:bodyPr wrap="square"/>
          <a:lstStyle/>
          <a:p>
            <a:pPr algn="l">
              <a:spcBef>
                <a:spcPts val="300"/>
              </a:spcBef>
              <a:spcAft>
                <a:spcPts val="300"/>
              </a:spcAft>
              <a:defRPr sz="1100" b="0">
                <a:solidFill>
                  <a:srgbClr val="A3A3A3"/>
                </a:solidFill>
                <a:latin typeface="Inter"/>
              </a:defRPr>
            </a:pPr>
            <a:r>
              <a:t>▸  PostgreSQL (multi-organisations)</a:t>
            </a:r>
          </a:p>
          <a:p>
            <a:pPr algn="l">
              <a:spcBef>
                <a:spcPts val="300"/>
              </a:spcBef>
              <a:spcAft>
                <a:spcPts val="300"/>
              </a:spcAft>
              <a:defRPr sz="1100" b="0">
                <a:solidFill>
                  <a:srgbClr val="A3A3A3"/>
                </a:solidFill>
                <a:latin typeface="Inter"/>
              </a:defRPr>
            </a:pPr>
            <a:r>
              <a:t>▸  Dashboard admin analytics</a:t>
            </a:r>
          </a:p>
          <a:p>
            <a:pPr algn="l">
              <a:spcBef>
                <a:spcPts val="300"/>
              </a:spcBef>
              <a:spcAft>
                <a:spcPts val="300"/>
              </a:spcAft>
              <a:defRPr sz="1100" b="0">
                <a:solidFill>
                  <a:srgbClr val="A3A3A3"/>
                </a:solidFill>
                <a:latin typeface="Inter"/>
              </a:defRPr>
            </a:pPr>
            <a:r>
              <a:t>▸  API publique</a:t>
            </a:r>
          </a:p>
          <a:p>
            <a:pPr algn="l">
              <a:spcBef>
                <a:spcPts val="300"/>
              </a:spcBef>
              <a:spcAft>
                <a:spcPts val="300"/>
              </a:spcAft>
              <a:defRPr sz="1100" b="0">
                <a:solidFill>
                  <a:srgbClr val="A3A3A3"/>
                </a:solidFill>
                <a:latin typeface="Inter"/>
              </a:defRPr>
            </a:pPr>
            <a:r>
              <a:t>▸  Lancement licences org.</a:t>
            </a:r>
          </a:p>
          <a:p>
            <a:pPr algn="l">
              <a:spcBef>
                <a:spcPts val="300"/>
              </a:spcBef>
              <a:spcAft>
                <a:spcPts val="300"/>
              </a:spcAft>
              <a:defRPr sz="1100" b="0">
                <a:solidFill>
                  <a:srgbClr val="A3A3A3"/>
                </a:solidFill>
                <a:latin typeface="Inter"/>
              </a:defRPr>
            </a:pPr>
            <a:r>
              <a:t>▸  1 commercial / partenariats</a:t>
            </a:r>
          </a:p>
          <a:p>
            <a:pPr algn="l">
              <a:spcBef>
                <a:spcPts val="300"/>
              </a:spcBef>
              <a:spcAft>
                <a:spcPts val="300"/>
              </a:spcAft>
              <a:defRPr sz="1100" b="0">
                <a:solidFill>
                  <a:srgbClr val="A3A3A3"/>
                </a:solidFill>
                <a:latin typeface="Inter"/>
              </a:defRPr>
            </a:pPr>
            <a:r>
              <a:t>▸  Onboarding enrichi</a:t>
            </a:r>
          </a:p>
        </p:txBody>
      </p:sp>
      <p:sp>
        <p:nvSpPr>
          <p:cNvPr id="18" name="Rounded Rectangle 17"/>
          <p:cNvSpPr/>
          <p:nvPr/>
        </p:nvSpPr>
        <p:spPr>
          <a:xfrm>
            <a:off x="7955280" y="1554480"/>
            <a:ext cx="3291840" cy="438912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55280" y="1554480"/>
            <a:ext cx="3291840" cy="635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83880" y="1737360"/>
            <a:ext cx="2834640" cy="228600"/>
          </a:xfrm>
          <a:prstGeom prst="rect">
            <a:avLst/>
          </a:prstGeom>
          <a:noFill/>
        </p:spPr>
        <p:txBody>
          <a:bodyPr wrap="square" anchor="t"/>
          <a:lstStyle/>
          <a:p>
            <a:pPr algn="l">
              <a:defRPr sz="1000" b="1">
                <a:solidFill>
                  <a:srgbClr val="737373"/>
                </a:solidFill>
                <a:latin typeface="Inter"/>
              </a:defRPr>
            </a:pPr>
            <a:r>
              <a:t>Mi-2027 → 2028</a:t>
            </a:r>
          </a:p>
        </p:txBody>
      </p:sp>
      <p:sp>
        <p:nvSpPr>
          <p:cNvPr id="21" name="TextBox 20"/>
          <p:cNvSpPr txBox="1"/>
          <p:nvPr/>
        </p:nvSpPr>
        <p:spPr>
          <a:xfrm>
            <a:off x="8183880" y="1965960"/>
            <a:ext cx="2834640" cy="274320"/>
          </a:xfrm>
          <a:prstGeom prst="rect">
            <a:avLst/>
          </a:prstGeom>
          <a:noFill/>
        </p:spPr>
        <p:txBody>
          <a:bodyPr wrap="square" anchor="t"/>
          <a:lstStyle/>
          <a:p>
            <a:pPr algn="l">
              <a:defRPr sz="1100" b="1">
                <a:solidFill>
                  <a:srgbClr val="8B5CF6"/>
                </a:solidFill>
                <a:latin typeface="Inter"/>
              </a:defRPr>
            </a:pPr>
            <a:r>
              <a:t>PHASE 3</a:t>
            </a:r>
          </a:p>
        </p:txBody>
      </p:sp>
      <p:sp>
        <p:nvSpPr>
          <p:cNvPr id="22" name="TextBox 21"/>
          <p:cNvSpPr txBox="1"/>
          <p:nvPr/>
        </p:nvSpPr>
        <p:spPr>
          <a:xfrm>
            <a:off x="8183880" y="2240280"/>
            <a:ext cx="2834640" cy="365760"/>
          </a:xfrm>
          <a:prstGeom prst="rect">
            <a:avLst/>
          </a:prstGeom>
          <a:noFill/>
        </p:spPr>
        <p:txBody>
          <a:bodyPr wrap="square" anchor="t"/>
          <a:lstStyle/>
          <a:p>
            <a:pPr algn="l">
              <a:defRPr sz="1800" b="1">
                <a:solidFill>
                  <a:srgbClr val="F5F5F5"/>
                </a:solidFill>
                <a:latin typeface="Inter"/>
              </a:defRPr>
            </a:pPr>
            <a:r>
              <a:t>TIME On-Chain</a:t>
            </a:r>
          </a:p>
        </p:txBody>
      </p:sp>
      <p:sp>
        <p:nvSpPr>
          <p:cNvPr id="23" name="Rectangle 22"/>
          <p:cNvSpPr/>
          <p:nvPr/>
        </p:nvSpPr>
        <p:spPr>
          <a:xfrm>
            <a:off x="8183880" y="2606040"/>
            <a:ext cx="2834640" cy="127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83880" y="2743200"/>
            <a:ext cx="2834640" cy="2926080"/>
          </a:xfrm>
          <a:prstGeom prst="rect">
            <a:avLst/>
          </a:prstGeom>
          <a:noFill/>
        </p:spPr>
        <p:txBody>
          <a:bodyPr wrap="square"/>
          <a:lstStyle/>
          <a:p>
            <a:pPr algn="l">
              <a:spcBef>
                <a:spcPts val="300"/>
              </a:spcBef>
              <a:spcAft>
                <a:spcPts val="300"/>
              </a:spcAft>
              <a:defRPr sz="1100" b="0">
                <a:solidFill>
                  <a:srgbClr val="A3A3A3"/>
                </a:solidFill>
                <a:latin typeface="Inter"/>
              </a:defRPr>
            </a:pPr>
            <a:r>
              <a:t>▸  Transparence immuable</a:t>
            </a:r>
          </a:p>
          <a:p>
            <a:pPr algn="l">
              <a:spcBef>
                <a:spcPts val="300"/>
              </a:spcBef>
              <a:spcAft>
                <a:spcPts val="300"/>
              </a:spcAft>
              <a:defRPr sz="1100" b="0">
                <a:solidFill>
                  <a:srgbClr val="A3A3A3"/>
                </a:solidFill>
                <a:latin typeface="Inter"/>
              </a:defRPr>
            </a:pPr>
            <a:r>
              <a:t>▸  Portabilité inter-organisations</a:t>
            </a:r>
          </a:p>
          <a:p>
            <a:pPr algn="l">
              <a:spcBef>
                <a:spcPts val="300"/>
              </a:spcBef>
              <a:spcAft>
                <a:spcPts val="300"/>
              </a:spcAft>
              <a:defRPr sz="1100" b="0">
                <a:solidFill>
                  <a:srgbClr val="A3A3A3"/>
                </a:solidFill>
                <a:latin typeface="Inter"/>
              </a:defRPr>
            </a:pPr>
            <a:r>
              <a:t>▸  Base (L2 Ethereum)</a:t>
            </a:r>
          </a:p>
          <a:p>
            <a:pPr algn="l">
              <a:spcBef>
                <a:spcPts val="300"/>
              </a:spcBef>
              <a:spcAft>
                <a:spcPts val="300"/>
              </a:spcAft>
              <a:defRPr sz="1100" b="0">
                <a:solidFill>
                  <a:srgbClr val="A3A3A3"/>
                </a:solidFill>
                <a:latin typeface="Inter"/>
              </a:defRPr>
            </a:pPr>
            <a:r>
              <a:t>▸  ERC-20 restreint (pas de trading)</a:t>
            </a:r>
          </a:p>
          <a:p>
            <a:pPr algn="l">
              <a:spcBef>
                <a:spcPts val="300"/>
              </a:spcBef>
              <a:spcAft>
                <a:spcPts val="300"/>
              </a:spcAft>
              <a:defRPr sz="1100" b="0">
                <a:solidFill>
                  <a:srgbClr val="A3A3A3"/>
                </a:solidFill>
                <a:latin typeface="Inter"/>
              </a:defRPr>
            </a:pPr>
            <a:r>
              <a:t>▸  Smart account passkey</a:t>
            </a:r>
          </a:p>
          <a:p>
            <a:pPr algn="l">
              <a:spcBef>
                <a:spcPts val="300"/>
              </a:spcBef>
              <a:spcAft>
                <a:spcPts val="300"/>
              </a:spcAft>
              <a:defRPr sz="1100" b="0">
                <a:solidFill>
                  <a:srgbClr val="A3A3A3"/>
                </a:solidFill>
                <a:latin typeface="Inter"/>
              </a:defRPr>
            </a:pPr>
            <a:r>
              <a:t>▸  Invisible pour l'utilisateur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822960" y="320040"/>
            <a:ext cx="3657600" cy="320040"/>
          </a:xfrm>
          <a:prstGeom prst="rect">
            <a:avLst/>
          </a:prstGeom>
          <a:noFill/>
        </p:spPr>
        <p:txBody>
          <a:bodyPr wrap="square" anchor="t"/>
          <a:lstStyle/>
          <a:p>
            <a:pPr algn="l">
              <a:defRPr sz="1000" b="1">
                <a:solidFill>
                  <a:srgbClr val="00D4AA"/>
                </a:solidFill>
                <a:latin typeface="Inter"/>
              </a:defRPr>
            </a:pPr>
            <a:r>
              <a:t>OBJECTIONS ANTICIPÉES</a:t>
            </a:r>
          </a:p>
        </p:txBody>
      </p:sp>
      <p:sp>
        <p:nvSpPr>
          <p:cNvPr id="3" name="TextBox 2"/>
          <p:cNvSpPr txBox="1"/>
          <p:nvPr/>
        </p:nvSpPr>
        <p:spPr>
          <a:xfrm>
            <a:off x="822960" y="640080"/>
            <a:ext cx="10058400" cy="640080"/>
          </a:xfrm>
          <a:prstGeom prst="rect">
            <a:avLst/>
          </a:prstGeom>
          <a:noFill/>
        </p:spPr>
        <p:txBody>
          <a:bodyPr wrap="square" anchor="t"/>
          <a:lstStyle/>
          <a:p>
            <a:pPr algn="l">
              <a:defRPr sz="3400" b="1">
                <a:solidFill>
                  <a:srgbClr val="F5F5F5"/>
                </a:solidFill>
                <a:latin typeface="Inter"/>
              </a:defRPr>
            </a:pPr>
            <a:r>
              <a:t>5 objections CEO — nos réponses</a:t>
            </a:r>
          </a:p>
        </p:txBody>
      </p:sp>
      <p:sp>
        <p:nvSpPr>
          <p:cNvPr id="4" name="Rounded Rectangle 3"/>
          <p:cNvSpPr/>
          <p:nvPr/>
        </p:nvSpPr>
        <p:spPr>
          <a:xfrm>
            <a:off x="822960" y="1463040"/>
            <a:ext cx="10515600" cy="914400"/>
          </a:xfrm>
          <a:prstGeom prst="roundRect">
            <a:avLst>
              <a:gd name="adj" fmla="val 6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463040"/>
            <a:ext cx="54864" cy="914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536192"/>
            <a:ext cx="3931920" cy="320040"/>
          </a:xfrm>
          <a:prstGeom prst="rect">
            <a:avLst/>
          </a:prstGeom>
          <a:noFill/>
        </p:spPr>
        <p:txBody>
          <a:bodyPr wrap="square" anchor="t"/>
          <a:lstStyle/>
          <a:p>
            <a:pPr algn="l">
              <a:defRPr sz="1200" b="1">
                <a:solidFill>
                  <a:srgbClr val="F5F5F5"/>
                </a:solidFill>
                <a:latin typeface="Inter"/>
              </a:defRPr>
            </a:pPr>
            <a:r>
              <a:t>« C'est comme AlloVoisins gratuit ? »</a:t>
            </a:r>
          </a:p>
        </p:txBody>
      </p:sp>
      <p:sp>
        <p:nvSpPr>
          <p:cNvPr id="7" name="TextBox 6"/>
          <p:cNvSpPr txBox="1"/>
          <p:nvPr/>
        </p:nvSpPr>
        <p:spPr>
          <a:xfrm>
            <a:off x="1097280" y="1828800"/>
            <a:ext cx="9875520" cy="457200"/>
          </a:xfrm>
          <a:prstGeom prst="rect">
            <a:avLst/>
          </a:prstGeom>
          <a:noFill/>
        </p:spPr>
        <p:txBody>
          <a:bodyPr wrap="square" anchor="t"/>
          <a:lstStyle/>
          <a:p>
            <a:pPr algn="l">
              <a:defRPr sz="1050" b="0">
                <a:solidFill>
                  <a:srgbClr val="A3A3A3"/>
                </a:solidFill>
                <a:latin typeface="Inter"/>
              </a:defRPr>
            </a:pPr>
            <a:r>
              <a:t>Non — AlloVoisins est un marché marchand avec commission. TimeHeroes est un service public social : 1h = 1 TIME, pas d'argent, mesure d'impact.</a:t>
            </a:r>
          </a:p>
        </p:txBody>
      </p:sp>
      <p:sp>
        <p:nvSpPr>
          <p:cNvPr id="8" name="Rounded Rectangle 7"/>
          <p:cNvSpPr/>
          <p:nvPr/>
        </p:nvSpPr>
        <p:spPr>
          <a:xfrm>
            <a:off x="822960" y="2487168"/>
            <a:ext cx="10515600" cy="914400"/>
          </a:xfrm>
          <a:prstGeom prst="roundRect">
            <a:avLst>
              <a:gd name="adj" fmla="val 6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2487168"/>
            <a:ext cx="54864" cy="914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560320"/>
            <a:ext cx="3931920" cy="320040"/>
          </a:xfrm>
          <a:prstGeom prst="rect">
            <a:avLst/>
          </a:prstGeom>
          <a:noFill/>
        </p:spPr>
        <p:txBody>
          <a:bodyPr wrap="square" anchor="t"/>
          <a:lstStyle/>
          <a:p>
            <a:pPr algn="l">
              <a:defRPr sz="1200" b="1">
                <a:solidFill>
                  <a:srgbClr val="F5F5F5"/>
                </a:solidFill>
                <a:latin typeface="Inter"/>
              </a:defRPr>
            </a:pPr>
            <a:r>
              <a:t>« Pourquoi les CCAS paieraient ? »</a:t>
            </a:r>
          </a:p>
        </p:txBody>
      </p:sp>
      <p:sp>
        <p:nvSpPr>
          <p:cNvPr id="11" name="TextBox 10"/>
          <p:cNvSpPr txBox="1"/>
          <p:nvPr/>
        </p:nvSpPr>
        <p:spPr>
          <a:xfrm>
            <a:off x="1097280" y="2852928"/>
            <a:ext cx="9875520" cy="457200"/>
          </a:xfrm>
          <a:prstGeom prst="rect">
            <a:avLst/>
          </a:prstGeom>
          <a:noFill/>
        </p:spPr>
        <p:txBody>
          <a:bodyPr wrap="square" anchor="t"/>
          <a:lstStyle/>
          <a:p>
            <a:pPr algn="l">
              <a:defRPr sz="1050" b="0">
                <a:solidFill>
                  <a:srgbClr val="A3A3A3"/>
                </a:solidFill>
                <a:latin typeface="Inter"/>
              </a:defRPr>
            </a:pPr>
            <a:r>
              <a:t>60% n'ont PAS d'outil. Ils font du reporting manuel. TimeHeroes leur donne dashboard + impact + programmes clé en main. À 300€/mois, c'est le prix d'un stagiaire 2 jours.</a:t>
            </a:r>
          </a:p>
        </p:txBody>
      </p:sp>
      <p:sp>
        <p:nvSpPr>
          <p:cNvPr id="12" name="Rounded Rectangle 11"/>
          <p:cNvSpPr/>
          <p:nvPr/>
        </p:nvSpPr>
        <p:spPr>
          <a:xfrm>
            <a:off x="822960" y="3511296"/>
            <a:ext cx="10515600" cy="914400"/>
          </a:xfrm>
          <a:prstGeom prst="roundRect">
            <a:avLst>
              <a:gd name="adj" fmla="val 6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3511296"/>
            <a:ext cx="54864" cy="91440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584448"/>
            <a:ext cx="3931920" cy="320040"/>
          </a:xfrm>
          <a:prstGeom prst="rect">
            <a:avLst/>
          </a:prstGeom>
          <a:noFill/>
        </p:spPr>
        <p:txBody>
          <a:bodyPr wrap="square" anchor="t"/>
          <a:lstStyle/>
          <a:p>
            <a:pPr algn="l">
              <a:defRPr sz="1200" b="1">
                <a:solidFill>
                  <a:srgbClr val="F5F5F5"/>
                </a:solidFill>
                <a:latin typeface="Inter"/>
              </a:defRPr>
            </a:pPr>
            <a:r>
              <a:t>« Et si les gens trichent ? »</a:t>
            </a:r>
          </a:p>
        </p:txBody>
      </p:sp>
      <p:sp>
        <p:nvSpPr>
          <p:cNvPr id="15" name="TextBox 14"/>
          <p:cNvSpPr txBox="1"/>
          <p:nvPr/>
        </p:nvSpPr>
        <p:spPr>
          <a:xfrm>
            <a:off x="1097280" y="3877056"/>
            <a:ext cx="9875520" cy="457200"/>
          </a:xfrm>
          <a:prstGeom prst="rect">
            <a:avLst/>
          </a:prstGeom>
          <a:noFill/>
        </p:spPr>
        <p:txBody>
          <a:bodyPr wrap="square" anchor="t"/>
          <a:lstStyle/>
          <a:p>
            <a:pPr algn="l">
              <a:defRPr sz="1050" b="0">
                <a:solidFill>
                  <a:srgbClr val="A3A3A3"/>
                </a:solidFill>
                <a:latin typeface="Inter"/>
              </a:defRPr>
            </a:pPr>
            <a:r>
              <a:t>Ledger tracé, escrow system, plafond par mission, double validation (QR/NFC). Le système anti-fraude est dans l'ADN du POC.</a:t>
            </a:r>
          </a:p>
        </p:txBody>
      </p:sp>
      <p:sp>
        <p:nvSpPr>
          <p:cNvPr id="16" name="Rounded Rectangle 15"/>
          <p:cNvSpPr/>
          <p:nvPr/>
        </p:nvSpPr>
        <p:spPr>
          <a:xfrm>
            <a:off x="822960" y="4535424"/>
            <a:ext cx="10515600" cy="914400"/>
          </a:xfrm>
          <a:prstGeom prst="roundRect">
            <a:avLst>
              <a:gd name="adj" fmla="val 6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535424"/>
            <a:ext cx="54864" cy="9144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4608576"/>
            <a:ext cx="3931920" cy="320040"/>
          </a:xfrm>
          <a:prstGeom prst="rect">
            <a:avLst/>
          </a:prstGeom>
          <a:noFill/>
        </p:spPr>
        <p:txBody>
          <a:bodyPr wrap="square" anchor="t"/>
          <a:lstStyle/>
          <a:p>
            <a:pPr algn="l">
              <a:defRPr sz="1200" b="1">
                <a:solidFill>
                  <a:srgbClr val="F5F5F5"/>
                </a:solidFill>
                <a:latin typeface="Inter"/>
              </a:defRPr>
            </a:pPr>
            <a:r>
              <a:t>« La blockchain, risque d'image ? »</a:t>
            </a:r>
          </a:p>
        </p:txBody>
      </p:sp>
      <p:sp>
        <p:nvSpPr>
          <p:cNvPr id="19" name="TextBox 18"/>
          <p:cNvSpPr txBox="1"/>
          <p:nvPr/>
        </p:nvSpPr>
        <p:spPr>
          <a:xfrm>
            <a:off x="1097280" y="4901184"/>
            <a:ext cx="9875520" cy="457200"/>
          </a:xfrm>
          <a:prstGeom prst="rect">
            <a:avLst/>
          </a:prstGeom>
          <a:noFill/>
        </p:spPr>
        <p:txBody>
          <a:bodyPr wrap="square" anchor="t"/>
          <a:lstStyle/>
          <a:p>
            <a:pPr algn="l">
              <a:defRPr sz="1050" b="0">
                <a:solidFill>
                  <a:srgbClr val="A3A3A3"/>
                </a:solidFill>
                <a:latin typeface="Inter"/>
              </a:defRPr>
            </a:pPr>
            <a:r>
              <a:t>TIME ne sera jamais une crypto spéculative. Pas d'achat, pas de revente. La blockchain est invisible pour l'utilisateur — couche technique, pas argument marketing.</a:t>
            </a:r>
          </a:p>
        </p:txBody>
      </p:sp>
      <p:sp>
        <p:nvSpPr>
          <p:cNvPr id="20" name="Rounded Rectangle 19"/>
          <p:cNvSpPr/>
          <p:nvPr/>
        </p:nvSpPr>
        <p:spPr>
          <a:xfrm>
            <a:off x="822960" y="5559552"/>
            <a:ext cx="10515600" cy="914400"/>
          </a:xfrm>
          <a:prstGeom prst="roundRect">
            <a:avLst>
              <a:gd name="adj" fmla="val 6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 y="5559552"/>
            <a:ext cx="54864" cy="9144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5632704"/>
            <a:ext cx="3931920" cy="320040"/>
          </a:xfrm>
          <a:prstGeom prst="rect">
            <a:avLst/>
          </a:prstGeom>
          <a:noFill/>
        </p:spPr>
        <p:txBody>
          <a:bodyPr wrap="square" anchor="t"/>
          <a:lstStyle/>
          <a:p>
            <a:pPr algn="l">
              <a:defRPr sz="1200" b="1">
                <a:solidFill>
                  <a:srgbClr val="F5F5F5"/>
                </a:solidFill>
                <a:latin typeface="Inter"/>
              </a:defRPr>
            </a:pPr>
            <a:r>
              <a:t>« Comment vous scalez ? »</a:t>
            </a:r>
          </a:p>
        </p:txBody>
      </p:sp>
      <p:sp>
        <p:nvSpPr>
          <p:cNvPr id="23" name="TextBox 22"/>
          <p:cNvSpPr txBox="1"/>
          <p:nvPr/>
        </p:nvSpPr>
        <p:spPr>
          <a:xfrm>
            <a:off x="1097280" y="5925312"/>
            <a:ext cx="9875520" cy="457200"/>
          </a:xfrm>
          <a:prstGeom prst="rect">
            <a:avLst/>
          </a:prstGeom>
          <a:noFill/>
        </p:spPr>
        <p:txBody>
          <a:bodyPr wrap="square" anchor="t"/>
          <a:lstStyle/>
          <a:p>
            <a:pPr algn="l">
              <a:defRPr sz="1050" b="0">
                <a:solidFill>
                  <a:srgbClr val="A3A3A3"/>
                </a:solidFill>
                <a:latin typeface="Inter"/>
              </a:defRPr>
            </a:pPr>
            <a:r>
              <a:t>PostgreSQL + API publique + modèle licence. Architecture conçue pour passer de 1 à 100 organisations sans refonte.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822960" y="320040"/>
            <a:ext cx="3657600" cy="320040"/>
          </a:xfrm>
          <a:prstGeom prst="rect">
            <a:avLst/>
          </a:prstGeom>
          <a:noFill/>
        </p:spPr>
        <p:txBody>
          <a:bodyPr wrap="square" anchor="t"/>
          <a:lstStyle/>
          <a:p>
            <a:pPr algn="l">
              <a:defRPr sz="1000" b="1">
                <a:solidFill>
                  <a:srgbClr val="00D4AA"/>
                </a:solidFill>
                <a:latin typeface="Inter"/>
              </a:defRPr>
            </a:pPr>
            <a:r>
              <a:t>CE QU'ON DEMANDE</a:t>
            </a:r>
          </a:p>
        </p:txBody>
      </p:sp>
      <p:sp>
        <p:nvSpPr>
          <p:cNvPr id="3" name="TextBox 2"/>
          <p:cNvSpPr txBox="1"/>
          <p:nvPr/>
        </p:nvSpPr>
        <p:spPr>
          <a:xfrm>
            <a:off x="822960" y="640080"/>
            <a:ext cx="10058400" cy="640080"/>
          </a:xfrm>
          <a:prstGeom prst="rect">
            <a:avLst/>
          </a:prstGeom>
          <a:noFill/>
        </p:spPr>
        <p:txBody>
          <a:bodyPr wrap="square" anchor="t"/>
          <a:lstStyle/>
          <a:p>
            <a:pPr algn="l">
              <a:defRPr sz="3400" b="1">
                <a:solidFill>
                  <a:srgbClr val="F5F5F5"/>
                </a:solidFill>
                <a:latin typeface="Inter"/>
              </a:defRPr>
            </a:pPr>
            <a:r>
              <a:t>5 asks pour passer à l'échelle</a:t>
            </a:r>
          </a:p>
        </p:txBody>
      </p:sp>
      <p:sp>
        <p:nvSpPr>
          <p:cNvPr id="4" name="Rounded Rectangle 3"/>
          <p:cNvSpPr/>
          <p:nvPr/>
        </p:nvSpPr>
        <p:spPr>
          <a:xfrm>
            <a:off x="822960" y="1554480"/>
            <a:ext cx="10515600" cy="91440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554480"/>
            <a:ext cx="54864" cy="914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91640"/>
            <a:ext cx="457200" cy="365760"/>
          </a:xfrm>
          <a:prstGeom prst="rect">
            <a:avLst/>
          </a:prstGeom>
          <a:noFill/>
        </p:spPr>
        <p:txBody>
          <a:bodyPr wrap="square" anchor="t"/>
          <a:lstStyle/>
          <a:p>
            <a:pPr algn="l">
              <a:defRPr sz="2200" b="0">
                <a:solidFill>
                  <a:srgbClr val="F5F5F5"/>
                </a:solidFill>
                <a:latin typeface="Inter"/>
              </a:defRPr>
            </a:pPr>
            <a:r>
              <a:t>🚪</a:t>
            </a:r>
          </a:p>
        </p:txBody>
      </p:sp>
      <p:sp>
        <p:nvSpPr>
          <p:cNvPr id="7" name="TextBox 6"/>
          <p:cNvSpPr txBox="1"/>
          <p:nvPr/>
        </p:nvSpPr>
        <p:spPr>
          <a:xfrm>
            <a:off x="1645920" y="1645920"/>
            <a:ext cx="9144000" cy="320040"/>
          </a:xfrm>
          <a:prstGeom prst="rect">
            <a:avLst/>
          </a:prstGeom>
          <a:noFill/>
        </p:spPr>
        <p:txBody>
          <a:bodyPr wrap="square" anchor="t"/>
          <a:lstStyle/>
          <a:p>
            <a:pPr algn="l">
              <a:defRPr sz="1400" b="1">
                <a:solidFill>
                  <a:srgbClr val="F5F5F5"/>
                </a:solidFill>
                <a:latin typeface="Inter"/>
              </a:defRPr>
            </a:pPr>
            <a:r>
              <a:t>Ouvrir des portes</a:t>
            </a:r>
          </a:p>
        </p:txBody>
      </p:sp>
      <p:sp>
        <p:nvSpPr>
          <p:cNvPr id="8" name="TextBox 7"/>
          <p:cNvSpPr txBox="1"/>
          <p:nvPr/>
        </p:nvSpPr>
        <p:spPr>
          <a:xfrm>
            <a:off x="1645920" y="1965960"/>
            <a:ext cx="9144000" cy="365760"/>
          </a:xfrm>
          <a:prstGeom prst="rect">
            <a:avLst/>
          </a:prstGeom>
          <a:noFill/>
        </p:spPr>
        <p:txBody>
          <a:bodyPr wrap="square" anchor="t"/>
          <a:lstStyle/>
          <a:p>
            <a:pPr algn="l">
              <a:defRPr sz="1100" b="0">
                <a:solidFill>
                  <a:srgbClr val="A3A3A3"/>
                </a:solidFill>
                <a:latin typeface="Inter"/>
              </a:defRPr>
            </a:pPr>
            <a:r>
              <a:t>Être référent / sponsor pour ouvrir des portes CCAS et collectivités. Le réseau fait la différence.</a:t>
            </a:r>
          </a:p>
        </p:txBody>
      </p:sp>
      <p:sp>
        <p:nvSpPr>
          <p:cNvPr id="9" name="Rounded Rectangle 8"/>
          <p:cNvSpPr/>
          <p:nvPr/>
        </p:nvSpPr>
        <p:spPr>
          <a:xfrm>
            <a:off x="822960" y="2578608"/>
            <a:ext cx="10515600" cy="91440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2578608"/>
            <a:ext cx="54864" cy="914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715768"/>
            <a:ext cx="457200" cy="365760"/>
          </a:xfrm>
          <a:prstGeom prst="rect">
            <a:avLst/>
          </a:prstGeom>
          <a:noFill/>
        </p:spPr>
        <p:txBody>
          <a:bodyPr wrap="square" anchor="t"/>
          <a:lstStyle/>
          <a:p>
            <a:pPr algn="l">
              <a:defRPr sz="2200" b="0">
                <a:solidFill>
                  <a:srgbClr val="F5F5F5"/>
                </a:solidFill>
                <a:latin typeface="Inter"/>
              </a:defRPr>
            </a:pPr>
            <a:r>
              <a:t>🤝</a:t>
            </a:r>
          </a:p>
        </p:txBody>
      </p:sp>
      <p:sp>
        <p:nvSpPr>
          <p:cNvPr id="12" name="TextBox 11"/>
          <p:cNvSpPr txBox="1"/>
          <p:nvPr/>
        </p:nvSpPr>
        <p:spPr>
          <a:xfrm>
            <a:off x="1645920" y="2670048"/>
            <a:ext cx="9144000" cy="320040"/>
          </a:xfrm>
          <a:prstGeom prst="rect">
            <a:avLst/>
          </a:prstGeom>
          <a:noFill/>
        </p:spPr>
        <p:txBody>
          <a:bodyPr wrap="square" anchor="t"/>
          <a:lstStyle/>
          <a:p>
            <a:pPr algn="l">
              <a:defRPr sz="1400" b="1">
                <a:solidFill>
                  <a:srgbClr val="F5F5F5"/>
                </a:solidFill>
                <a:latin typeface="Inter"/>
              </a:defRPr>
            </a:pPr>
            <a:r>
              <a:t>Mise en relation CCAS</a:t>
            </a:r>
          </a:p>
        </p:txBody>
      </p:sp>
      <p:sp>
        <p:nvSpPr>
          <p:cNvPr id="13" name="TextBox 12"/>
          <p:cNvSpPr txBox="1"/>
          <p:nvPr/>
        </p:nvSpPr>
        <p:spPr>
          <a:xfrm>
            <a:off x="1645920" y="2990088"/>
            <a:ext cx="9144000" cy="365760"/>
          </a:xfrm>
          <a:prstGeom prst="rect">
            <a:avLst/>
          </a:prstGeom>
          <a:noFill/>
        </p:spPr>
        <p:txBody>
          <a:bodyPr wrap="square" anchor="t"/>
          <a:lstStyle/>
          <a:p>
            <a:pPr algn="l">
              <a:defRPr sz="1100" b="0">
                <a:solidFill>
                  <a:srgbClr val="A3A3A3"/>
                </a:solidFill>
                <a:latin typeface="Inter"/>
              </a:defRPr>
            </a:pPr>
            <a:r>
              <a:t>2-3 pilotes CCAS concrets d'ici novembre 2026. Nous avons la plateforme, il nous faut les terrains.</a:t>
            </a:r>
          </a:p>
        </p:txBody>
      </p:sp>
      <p:sp>
        <p:nvSpPr>
          <p:cNvPr id="14" name="Rounded Rectangle 13"/>
          <p:cNvSpPr/>
          <p:nvPr/>
        </p:nvSpPr>
        <p:spPr>
          <a:xfrm>
            <a:off x="822960" y="3602736"/>
            <a:ext cx="10515600" cy="91440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3602736"/>
            <a:ext cx="54864" cy="914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739896"/>
            <a:ext cx="457200" cy="365760"/>
          </a:xfrm>
          <a:prstGeom prst="rect">
            <a:avLst/>
          </a:prstGeom>
          <a:noFill/>
        </p:spPr>
        <p:txBody>
          <a:bodyPr wrap="square" anchor="t"/>
          <a:lstStyle/>
          <a:p>
            <a:pPr algn="l">
              <a:defRPr sz="2200" b="0">
                <a:solidFill>
                  <a:srgbClr val="F5F5F5"/>
                </a:solidFill>
                <a:latin typeface="Inter"/>
              </a:defRPr>
            </a:pPr>
            <a:r>
              <a:t>✅</a:t>
            </a:r>
          </a:p>
        </p:txBody>
      </p:sp>
      <p:sp>
        <p:nvSpPr>
          <p:cNvPr id="17" name="TextBox 16"/>
          <p:cNvSpPr txBox="1"/>
          <p:nvPr/>
        </p:nvSpPr>
        <p:spPr>
          <a:xfrm>
            <a:off x="1645920" y="3694176"/>
            <a:ext cx="9144000" cy="320040"/>
          </a:xfrm>
          <a:prstGeom prst="rect">
            <a:avLst/>
          </a:prstGeom>
          <a:noFill/>
        </p:spPr>
        <p:txBody>
          <a:bodyPr wrap="square" anchor="t"/>
          <a:lstStyle/>
          <a:p>
            <a:pPr algn="l">
              <a:defRPr sz="1400" b="1">
                <a:solidFill>
                  <a:srgbClr val="F5F5F5"/>
                </a:solidFill>
                <a:latin typeface="Inter"/>
              </a:defRPr>
            </a:pPr>
            <a:r>
              <a:t>Validation positionnement</a:t>
            </a:r>
          </a:p>
        </p:txBody>
      </p:sp>
      <p:sp>
        <p:nvSpPr>
          <p:cNvPr id="18" name="TextBox 17"/>
          <p:cNvSpPr txBox="1"/>
          <p:nvPr/>
        </p:nvSpPr>
        <p:spPr>
          <a:xfrm>
            <a:off x="1645920" y="4014216"/>
            <a:ext cx="9144000" cy="365760"/>
          </a:xfrm>
          <a:prstGeom prst="rect">
            <a:avLst/>
          </a:prstGeom>
          <a:noFill/>
        </p:spPr>
        <p:txBody>
          <a:bodyPr wrap="square" anchor="t"/>
          <a:lstStyle/>
          <a:p>
            <a:pPr algn="l">
              <a:defRPr sz="1100" b="0">
                <a:solidFill>
                  <a:srgbClr val="A3A3A3"/>
                </a:solidFill>
                <a:latin typeface="Inter"/>
              </a:defRPr>
            </a:pPr>
            <a:r>
              <a:t>Est-ce qu'on va assez vite ? Est-ce qu'on cible le bon segment ? Votre regard CEO est crucial.</a:t>
            </a:r>
          </a:p>
        </p:txBody>
      </p:sp>
      <p:sp>
        <p:nvSpPr>
          <p:cNvPr id="19" name="Rounded Rectangle 18"/>
          <p:cNvSpPr/>
          <p:nvPr/>
        </p:nvSpPr>
        <p:spPr>
          <a:xfrm>
            <a:off x="822960" y="4626864"/>
            <a:ext cx="10515600" cy="91440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4626864"/>
            <a:ext cx="54864" cy="914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4764024"/>
            <a:ext cx="457200" cy="365760"/>
          </a:xfrm>
          <a:prstGeom prst="rect">
            <a:avLst/>
          </a:prstGeom>
          <a:noFill/>
        </p:spPr>
        <p:txBody>
          <a:bodyPr wrap="square" anchor="t"/>
          <a:lstStyle/>
          <a:p>
            <a:pPr algn="l">
              <a:defRPr sz="2200" b="0">
                <a:solidFill>
                  <a:srgbClr val="F5F5F5"/>
                </a:solidFill>
                <a:latin typeface="Inter"/>
              </a:defRPr>
            </a:pPr>
            <a:r>
              <a:t>📋</a:t>
            </a:r>
          </a:p>
        </p:txBody>
      </p:sp>
      <p:sp>
        <p:nvSpPr>
          <p:cNvPr id="22" name="TextBox 21"/>
          <p:cNvSpPr txBox="1"/>
          <p:nvPr/>
        </p:nvSpPr>
        <p:spPr>
          <a:xfrm>
            <a:off x="1645920" y="4718304"/>
            <a:ext cx="9144000" cy="320040"/>
          </a:xfrm>
          <a:prstGeom prst="rect">
            <a:avLst/>
          </a:prstGeom>
          <a:noFill/>
        </p:spPr>
        <p:txBody>
          <a:bodyPr wrap="square" anchor="t"/>
          <a:lstStyle/>
          <a:p>
            <a:pPr algn="l">
              <a:defRPr sz="1400" b="1">
                <a:solidFill>
                  <a:srgbClr val="F5F5F5"/>
                </a:solidFill>
                <a:latin typeface="Inter"/>
              </a:defRPr>
            </a:pPr>
            <a:r>
              <a:t>Aide au statut juridique</a:t>
            </a:r>
          </a:p>
        </p:txBody>
      </p:sp>
      <p:sp>
        <p:nvSpPr>
          <p:cNvPr id="23" name="TextBox 22"/>
          <p:cNvSpPr txBox="1"/>
          <p:nvPr/>
        </p:nvSpPr>
        <p:spPr>
          <a:xfrm>
            <a:off x="1645920" y="5038344"/>
            <a:ext cx="9144000" cy="365760"/>
          </a:xfrm>
          <a:prstGeom prst="rect">
            <a:avLst/>
          </a:prstGeom>
          <a:noFill/>
        </p:spPr>
        <p:txBody>
          <a:bodyPr wrap="square" anchor="t"/>
          <a:lstStyle/>
          <a:p>
            <a:pPr algn="l">
              <a:defRPr sz="1100" b="0">
                <a:solidFill>
                  <a:srgbClr val="A3A3A3"/>
                </a:solidFill>
                <a:latin typeface="Inter"/>
              </a:defRPr>
            </a:pPr>
            <a:r>
              <a:t>Association Loi 1901 (crédibilité ESS) + filiale commerciale SAS pour les licences.</a:t>
            </a:r>
          </a:p>
        </p:txBody>
      </p:sp>
      <p:sp>
        <p:nvSpPr>
          <p:cNvPr id="24" name="Rounded Rectangle 23"/>
          <p:cNvSpPr/>
          <p:nvPr/>
        </p:nvSpPr>
        <p:spPr>
          <a:xfrm>
            <a:off x="822960" y="5650992"/>
            <a:ext cx="10515600" cy="91440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 y="5650992"/>
            <a:ext cx="54864" cy="914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 y="5788152"/>
            <a:ext cx="457200" cy="365760"/>
          </a:xfrm>
          <a:prstGeom prst="rect">
            <a:avLst/>
          </a:prstGeom>
          <a:noFill/>
        </p:spPr>
        <p:txBody>
          <a:bodyPr wrap="square" anchor="t"/>
          <a:lstStyle/>
          <a:p>
            <a:pPr algn="l">
              <a:defRPr sz="2200" b="0">
                <a:solidFill>
                  <a:srgbClr val="F5F5F5"/>
                </a:solidFill>
                <a:latin typeface="Inter"/>
              </a:defRPr>
            </a:pPr>
            <a:r>
              <a:t>💰</a:t>
            </a:r>
          </a:p>
        </p:txBody>
      </p:sp>
      <p:sp>
        <p:nvSpPr>
          <p:cNvPr id="27" name="TextBox 26"/>
          <p:cNvSpPr txBox="1"/>
          <p:nvPr/>
        </p:nvSpPr>
        <p:spPr>
          <a:xfrm>
            <a:off x="1645920" y="5742432"/>
            <a:ext cx="9144000" cy="320040"/>
          </a:xfrm>
          <a:prstGeom prst="rect">
            <a:avLst/>
          </a:prstGeom>
          <a:noFill/>
        </p:spPr>
        <p:txBody>
          <a:bodyPr wrap="square" anchor="t"/>
          <a:lstStyle/>
          <a:p>
            <a:pPr algn="l">
              <a:defRPr sz="1400" b="1">
                <a:solidFill>
                  <a:srgbClr val="F5F5F5"/>
                </a:solidFill>
                <a:latin typeface="Inter"/>
              </a:defRPr>
            </a:pPr>
            <a:r>
              <a:t>Budget 12 mois</a:t>
            </a:r>
          </a:p>
        </p:txBody>
      </p:sp>
      <p:sp>
        <p:nvSpPr>
          <p:cNvPr id="28" name="TextBox 27"/>
          <p:cNvSpPr txBox="1"/>
          <p:nvPr/>
        </p:nvSpPr>
        <p:spPr>
          <a:xfrm>
            <a:off x="1645920" y="6062472"/>
            <a:ext cx="9144000" cy="365760"/>
          </a:xfrm>
          <a:prstGeom prst="rect">
            <a:avLst/>
          </a:prstGeom>
          <a:noFill/>
        </p:spPr>
        <p:txBody>
          <a:bodyPr wrap="square" anchor="t"/>
          <a:lstStyle/>
          <a:p>
            <a:pPr algn="l">
              <a:defRPr sz="1100" b="0">
                <a:solidFill>
                  <a:srgbClr val="A3A3A3"/>
                </a:solidFill>
                <a:latin typeface="Inter"/>
              </a:defRPr>
            </a:pPr>
            <a:r>
              <a:t>Quel niveau de financement pour tenir 12 mois jusqu'au CA récurrent ? Modèle économique validé.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371600"/>
            <a:ext cx="10058400" cy="914400"/>
          </a:xfrm>
          <a:prstGeom prst="rect">
            <a:avLst/>
          </a:prstGeom>
          <a:noFill/>
        </p:spPr>
        <p:txBody>
          <a:bodyPr wrap="square" anchor="t"/>
          <a:lstStyle/>
          <a:p>
            <a:pPr algn="l">
              <a:defRPr sz="7200" b="1">
                <a:solidFill>
                  <a:srgbClr val="FFFFFF"/>
                </a:solidFill>
                <a:latin typeface="Inter"/>
              </a:defRPr>
            </a:pPr>
            <a:r>
              <a:t>Merci.</a:t>
            </a:r>
          </a:p>
        </p:txBody>
      </p:sp>
      <p:sp>
        <p:nvSpPr>
          <p:cNvPr id="4" name="TextBox 3"/>
          <p:cNvSpPr txBox="1"/>
          <p:nvPr/>
        </p:nvSpPr>
        <p:spPr>
          <a:xfrm>
            <a:off x="1097280" y="2286000"/>
            <a:ext cx="9144000" cy="548640"/>
          </a:xfrm>
          <a:prstGeom prst="rect">
            <a:avLst/>
          </a:prstGeom>
          <a:noFill/>
        </p:spPr>
        <p:txBody>
          <a:bodyPr wrap="square" anchor="t"/>
          <a:lstStyle/>
          <a:p>
            <a:pPr algn="l">
              <a:defRPr sz="2200" b="0">
                <a:solidFill>
                  <a:srgbClr val="A3A3A3"/>
                </a:solidFill>
                <a:latin typeface="Inter"/>
              </a:defRPr>
            </a:pPr>
            <a:r>
              <a:t>Nous sommes tous des super-héros du quotidien.</a:t>
            </a:r>
          </a:p>
        </p:txBody>
      </p:sp>
      <p:sp>
        <p:nvSpPr>
          <p:cNvPr id="5" name="Rectangle 4"/>
          <p:cNvSpPr/>
          <p:nvPr/>
        </p:nvSpPr>
        <p:spPr>
          <a:xfrm>
            <a:off x="1097280" y="2926080"/>
            <a:ext cx="18288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97280" y="3474720"/>
            <a:ext cx="5029200" cy="1828800"/>
          </a:xfrm>
          <a:prstGeom prst="roundRect">
            <a:avLst>
              <a:gd name="adj" fmla="val 8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3474720"/>
            <a:ext cx="54864" cy="18288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63040" y="3657600"/>
            <a:ext cx="4572000" cy="1645920"/>
          </a:xfrm>
          <a:prstGeom prst="rect">
            <a:avLst/>
          </a:prstGeom>
          <a:noFill/>
        </p:spPr>
        <p:txBody>
          <a:bodyPr wrap="square"/>
          <a:lstStyle/>
          <a:p>
            <a:pPr algn="l">
              <a:spcBef>
                <a:spcPts val="0"/>
              </a:spcBef>
              <a:spcAft>
                <a:spcPts val="400"/>
              </a:spcAft>
              <a:defRPr sz="2000" b="1">
                <a:solidFill>
                  <a:srgbClr val="F5F5F5"/>
                </a:solidFill>
                <a:latin typeface="Inter"/>
              </a:defRPr>
            </a:pPr>
            <a:r>
              <a:t>Ronald Mounien</a:t>
            </a:r>
          </a:p>
          <a:p>
            <a:pPr algn="l">
              <a:spcBef>
                <a:spcPts val="0"/>
              </a:spcBef>
              <a:spcAft>
                <a:spcPts val="800"/>
              </a:spcAft>
              <a:defRPr sz="1400" b="0">
                <a:solidFill>
                  <a:srgbClr val="A3A3A3"/>
                </a:solidFill>
                <a:latin typeface="Inter"/>
              </a:defRPr>
            </a:pPr>
            <a:r>
              <a:t>ESSEC EMBA WE27</a:t>
            </a:r>
          </a:p>
          <a:p>
            <a:pPr algn="l">
              <a:spcBef>
                <a:spcPts val="0"/>
              </a:spcBef>
              <a:spcAft>
                <a:spcPts val="400"/>
              </a:spcAft>
              <a:defRPr sz="1600" b="1">
                <a:solidFill>
                  <a:srgbClr val="00D4AA"/>
                </a:solidFill>
                <a:latin typeface="Inter"/>
              </a:defRPr>
            </a:pPr>
            <a:r>
              <a:t>timeheroes.fr</a:t>
            </a:r>
          </a:p>
          <a:p>
            <a:pPr algn="l">
              <a:spcBef>
                <a:spcPts val="0"/>
              </a:spcBef>
              <a:spcAft>
                <a:spcPts val="0"/>
              </a:spcAft>
              <a:defRPr sz="1200" b="0">
                <a:solidFill>
                  <a:srgbClr val="737373"/>
                </a:solidFill>
                <a:latin typeface="Inter"/>
              </a:defRPr>
            </a:pPr>
            <a:r>
              <a:t>1h = 1 TIME // timeheroes.fr</a:t>
            </a:r>
          </a:p>
        </p:txBody>
      </p:sp>
      <p:sp>
        <p:nvSpPr>
          <p:cNvPr id="9" name="Rectangle 8"/>
          <p:cNvSpPr/>
          <p:nvPr/>
        </p:nvSpPr>
        <p:spPr>
          <a:xfrm>
            <a:off x="0" y="6492240"/>
            <a:ext cx="12191695" cy="36576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6537960"/>
            <a:ext cx="10058400" cy="274320"/>
          </a:xfrm>
          <a:prstGeom prst="rect">
            <a:avLst/>
          </a:prstGeom>
          <a:noFill/>
        </p:spPr>
        <p:txBody>
          <a:bodyPr wrap="square" anchor="t"/>
          <a:lstStyle/>
          <a:p>
            <a:pPr algn="l">
              <a:defRPr sz="1000" b="0">
                <a:solidFill>
                  <a:srgbClr val="737373"/>
                </a:solidFill>
                <a:latin typeface="Inter"/>
              </a:defRPr>
            </a:pPr>
            <a:r>
              <a:t>Pitch Deck • Juillet 2026 • TimeHeroes — La France s'engage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