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F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22C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00A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1828800"/>
            <a:ext cx="2286000" cy="2286000"/>
          </a:xfrm>
          <a:prstGeom prst="ellipse">
            <a:avLst/>
          </a:prstGeom>
          <a:solidFill>
            <a:srgbClr val="009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📱 Transformer TimeHeroes en App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CCFAE8"/>
                </a:solidFill>
                <a:latin typeface="Calibri"/>
              </a:defRPr>
            </a:pPr>
            <a:r>
              <a:t>Cours complet : les 3 options pour passer du web au mobile</a:t>
            </a:r>
            <a:br/>
            <a:r>
              <a:t>PWA · Capacitor · React 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AAEEDD"/>
                </a:solidFill>
                <a:latin typeface="Calibri"/>
              </a:defRPr>
            </a:pPr>
            <a:r>
              <a:t>Projet : TimeHeroes — Banque du Temps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AEEDD"/>
                </a:solidFill>
                <a:latin typeface="Calibri"/>
              </a:defRPr>
            </a:pPr>
            <a:r>
              <a:t>Stack actuel : Next.js 16 · Prisma · SQLite · Caddy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AEEDD"/>
                </a:solidFill>
                <a:latin typeface="Calibri"/>
              </a:defRPr>
            </a:pPr>
            <a:r>
              <a:t>Juillet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A1A1A"/>
                </a:solidFill>
                <a:latin typeface="Calibri"/>
              </a:defRPr>
            </a:pPr>
            <a:r>
              <a:t>🎯 Pourquoi passer en mobile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Le web ça marche, mais le mobile ouvre des super-pouvoirs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77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📷 Scanner un QR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828800"/>
            <a:ext cx="2286000" cy="777240"/>
          </a:xfrm>
          <a:prstGeom prst="rect">
            <a:avLst/>
          </a:prstGeom>
          <a:solidFill>
            <a:srgbClr val="FEF0F0"/>
          </a:solidFill>
          <a:ln w="12700">
            <a:solidFill>
              <a:srgbClr val="FECB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965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B91C1C"/>
                </a:solidFill>
                <a:latin typeface="Calibri"/>
              </a:defRPr>
            </a:pPr>
            <a:r>
              <a:t>❌ Pas de caméra native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828800"/>
            <a:ext cx="2286000" cy="77724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965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008F78"/>
                </a:solidFill>
                <a:latin typeface="Calibri"/>
              </a:defRPr>
            </a:pPr>
            <a:r>
              <a:t>✅ Scan natif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5029200" cy="77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80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📱 Valider par NFC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743200"/>
            <a:ext cx="2286000" cy="777240"/>
          </a:xfrm>
          <a:prstGeom prst="rect">
            <a:avLst/>
          </a:prstGeom>
          <a:solidFill>
            <a:srgbClr val="FEF0F0"/>
          </a:solidFill>
          <a:ln w="12700">
            <a:solidFill>
              <a:srgbClr val="FECB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880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B91C1C"/>
                </a:solidFill>
                <a:latin typeface="Calibri"/>
              </a:defRPr>
            </a:pPr>
            <a:r>
              <a:t>❌ Pas de NFC en Web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2743200"/>
            <a:ext cx="2286000" cy="77724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880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008F78"/>
                </a:solidFill>
                <a:latin typeface="Calibri"/>
              </a:defRPr>
            </a:pPr>
            <a:r>
              <a:t>✅ Tap to validate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5029200" cy="77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7947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🔔 Notifications push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657600"/>
            <a:ext cx="2286000" cy="777240"/>
          </a:xfrm>
          <a:prstGeom prst="rect">
            <a:avLst/>
          </a:prstGeom>
          <a:solidFill>
            <a:srgbClr val="FEF0F0"/>
          </a:solidFill>
          <a:ln w="12700">
            <a:solidFill>
              <a:srgbClr val="FECB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37947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B91C1C"/>
                </a:solidFill>
                <a:latin typeface="Calibri"/>
              </a:defRPr>
            </a:pPr>
            <a:r>
              <a:t>⚠️ Si onglet ouvert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3657600"/>
            <a:ext cx="2286000" cy="77724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7947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008F78"/>
                </a:solidFill>
                <a:latin typeface="Calibri"/>
              </a:defRPr>
            </a:pPr>
            <a:r>
              <a:t>✅ Push natif toujours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72000"/>
            <a:ext cx="5029200" cy="77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709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📴 Mode hors-ligne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4572000"/>
            <a:ext cx="2286000" cy="777240"/>
          </a:xfrm>
          <a:prstGeom prst="rect">
            <a:avLst/>
          </a:prstGeom>
          <a:solidFill>
            <a:srgbClr val="FEF0F0"/>
          </a:solidFill>
          <a:ln w="12700">
            <a:solidFill>
              <a:srgbClr val="FECB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4709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B91C1C"/>
                </a:solidFill>
                <a:latin typeface="Calibri"/>
              </a:defRPr>
            </a:pPr>
            <a:r>
              <a:t>❌ Pas de cache durable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4572000"/>
            <a:ext cx="2286000" cy="77724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709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008F78"/>
                </a:solidFill>
                <a:latin typeface="Calibri"/>
              </a:defRPr>
            </a:pPr>
            <a:r>
              <a:t>✅ Cache offline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486400"/>
            <a:ext cx="5029200" cy="77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6235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🏠 Icône écran d'accueil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5486400"/>
            <a:ext cx="2286000" cy="777240"/>
          </a:xfrm>
          <a:prstGeom prst="rect">
            <a:avLst/>
          </a:prstGeom>
          <a:solidFill>
            <a:srgbClr val="FEF0F0"/>
          </a:solidFill>
          <a:ln w="12700">
            <a:solidFill>
              <a:srgbClr val="FECB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56235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B91C1C"/>
                </a:solidFill>
                <a:latin typeface="Calibri"/>
              </a:defRPr>
            </a:pPr>
            <a:r>
              <a:t>⚠️ Dépend du navigateur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5486400"/>
            <a:ext cx="2286000" cy="77724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56235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008F78"/>
                </a:solidFill>
                <a:latin typeface="Calibri"/>
              </a:defRPr>
            </a:pPr>
            <a:r>
              <a:t>✅ Permanente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A1A1A"/>
                </a:solidFill>
                <a:latin typeface="Calibri"/>
              </a:defRPr>
            </a:pPr>
            <a:r>
              <a:t>🛤️ Les 3 chemins possibles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Trois stratégies complémentaires, pas concurrentes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4747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474720" cy="54864"/>
          </a:xfrm>
          <a:prstGeom prst="rect">
            <a:avLst/>
          </a:prstGeom>
          <a:solidFill>
            <a:srgbClr val="2BB2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1680" y="2011680"/>
            <a:ext cx="914400" cy="914400"/>
          </a:xfrm>
          <a:prstGeom prst="ellipse">
            <a:avLst/>
          </a:prstGeom>
          <a:solidFill>
            <a:srgbClr val="2BB2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0116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A1A1A"/>
                </a:solidFill>
                <a:latin typeface="Calibri Light"/>
              </a:defRPr>
            </a:pPr>
            <a:r>
              <a:t>PWA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2BB286"/>
                </a:solidFill>
                <a:latin typeface="Calibri"/>
              </a:defRPr>
            </a:pPr>
            <a:r>
              <a:t>1 jour · 0€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Site web qui s'installe</a:t>
            </a:r>
            <a:br/>
            <a:r>
              <a:t>comme une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✅ Zéro coût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✅ 100% code réutilisé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❌ Pas de NFC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737360"/>
            <a:ext cx="34747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73736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0" y="2011680"/>
            <a:ext cx="914400" cy="914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20116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A1A1A"/>
                </a:solidFill>
                <a:latin typeface="Calibri Light"/>
              </a:defRPr>
            </a:pPr>
            <a:r>
              <a:t>Capacitor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7C3AED"/>
                </a:solidFill>
                <a:latin typeface="Calibri"/>
              </a:defRPr>
            </a:pPr>
            <a:r>
              <a:t>3-5 jours · ~124€/an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9319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WebView native</a:t>
            </a:r>
            <a:br/>
            <a:r>
              <a:t>+ pont NFC/Camera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572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✅ NFC natif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✅ 95% code réutilisé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❌ Perf WebView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1737360"/>
            <a:ext cx="34747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173736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0" y="201168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20116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A1A1A"/>
                </a:solidFill>
                <a:latin typeface="Calibri Light"/>
              </a:defRPr>
            </a:pPr>
            <a:r>
              <a:t>React Native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4-8 sem · 10k-32k€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9319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App 100% native</a:t>
            </a:r>
            <a:br/>
            <a:r>
              <a:t>réécrite de zéro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572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✅ Performance max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✅ NFC + tout natif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❌ 2 codebases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BB2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800" b="0">
                <a:solidFill>
                  <a:srgbClr val="FFFFFF"/>
                </a:solidFill>
                <a:latin typeface="Calibri"/>
              </a:defRPr>
            </a:pPr>
            <a:r>
              <a:t>📲</a:t>
            </a:r>
          </a:p>
          <a:p>
            <a:pPr algn="l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PWA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BF7E0"/>
                </a:solidFill>
                <a:latin typeface="Calibri"/>
              </a:defRPr>
            </a:pPr>
            <a:r>
              <a:t>Progressive Web App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88F0D0"/>
                </a:solidFill>
                <a:latin typeface="Calibri"/>
              </a:defRPr>
            </a:pPr>
            <a:r>
              <a:t>1 jour · 0€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A1A1A"/>
                </a:solidFill>
                <a:latin typeface="Calibri Light"/>
              </a:defRPr>
            </a:pPr>
            <a:r>
              <a:t>Un site web qui se comporte comme une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188720"/>
            <a:ext cx="713232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261872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📄 manifest.json → icône + thème + écran d'accueil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783080"/>
            <a:ext cx="713232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856232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⚙️ Service Worker → cache offline + notifications 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377440"/>
            <a:ext cx="713232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450592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📱 ✅ Fonctionne hors-ligne (pages en cache)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971800"/>
            <a:ext cx="713232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044952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🔔 ✅ Notifications push (Web Push API)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566160"/>
            <a:ext cx="713232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3639312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📷 ⚠️ QR code via caméra Web (getUserMedia)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160520"/>
            <a:ext cx="713232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4233672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❌ NFC : impossible en WebView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A1A1A"/>
                </a:solidFill>
                <a:latin typeface="Calibri Light"/>
              </a:defRPr>
            </a:pPr>
            <a:r>
              <a:t>🌍 Exemples célèbres de PWA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486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4572000" y="5486400"/>
            <a:ext cx="173736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55595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Twitter (X)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486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400800" y="5486400"/>
            <a:ext cx="173736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55595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Pinterest (+40% de temps)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486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229600" y="5486400"/>
            <a:ext cx="173736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55595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Starbucks (commande offline)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5486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0058400" y="5486400"/>
            <a:ext cx="173736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0" y="55595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Uber (version allégée)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800" b="0">
                <a:solidFill>
                  <a:srgbClr val="FFFFFF"/>
                </a:solidFill>
                <a:latin typeface="Calibri"/>
              </a:defRPr>
            </a:pPr>
            <a:r>
              <a:t>🔌</a:t>
            </a:r>
          </a:p>
          <a:p>
            <a:pPr algn="l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Capacitor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DDD6FC"/>
                </a:solidFill>
                <a:latin typeface="Calibri"/>
              </a:defRPr>
            </a:pPr>
            <a:r>
              <a:t>Wrapper natif autour du site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CCC0F5"/>
                </a:solidFill>
                <a:latin typeface="Calibri"/>
              </a:defRPr>
            </a:pPr>
            <a:r>
              <a:t>3-5 jours · ~124€/an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A1A1A"/>
                </a:solidFill>
                <a:latin typeface="Calibri Light"/>
              </a:defRPr>
            </a:pPr>
            <a:r>
              <a:t>Le pont entre le web et le natif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097280"/>
            <a:ext cx="713232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1463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🌐 WebView (ton site Next.js)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7C3AED"/>
                </a:solidFill>
                <a:latin typeface="Calibri"/>
              </a:defRPr>
            </a:pPr>
            <a:r>
              <a:t>⬇️  Pont JS → Natif (Capacitor Plugins)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560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📱 Android (Kotlin)  ·  iOS (Swift)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840480"/>
            <a:ext cx="2286000" cy="914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BB286"/>
                </a:solidFill>
                <a:latin typeface="Calibri"/>
              </a:defRPr>
            </a:pPr>
            <a:r>
              <a:t>📱 NFC natif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✅ Validation par tap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3840480"/>
            <a:ext cx="2286000" cy="914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BB286"/>
                </a:solidFill>
                <a:latin typeface="Calibri"/>
              </a:defRPr>
            </a:pPr>
            <a:r>
              <a:t>🔔 Push natif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✅ FCM + APN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3840480"/>
            <a:ext cx="2286000" cy="914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BB286"/>
                </a:solidFill>
                <a:latin typeface="Calibri"/>
              </a:defRPr>
            </a:pPr>
            <a:r>
              <a:t>📷 Caméra QR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✅ Plugin Capacitor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937760"/>
            <a:ext cx="2286000" cy="914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50292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BB286"/>
                </a:solidFill>
                <a:latin typeface="Calibri"/>
              </a:defRPr>
            </a:pPr>
            <a:r>
              <a:t>📴 Offline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✅ Workbox cache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4937760"/>
            <a:ext cx="2286000" cy="914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50292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BB286"/>
                </a:solidFill>
                <a:latin typeface="Calibri"/>
              </a:defRPr>
            </a:pPr>
            <a:r>
              <a:t>💾 95% code réutilisé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✅ Next.js inchangé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4937760"/>
            <a:ext cx="2286000" cy="914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50292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BB286"/>
                </a:solidFill>
                <a:latin typeface="Calibri"/>
              </a:defRPr>
            </a:pPr>
            <a:r>
              <a:t>🔄 Mise à jour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✅ rebuild + npx cap sync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800" b="0">
                <a:solidFill>
                  <a:srgbClr val="FFFFFF"/>
                </a:solidFill>
                <a:latin typeface="Calibri"/>
              </a:defRPr>
            </a:pPr>
            <a:r>
              <a:t>⚛️</a:t>
            </a:r>
          </a:p>
          <a:p>
            <a:pPr algn="l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React Native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EF3C7"/>
                </a:solidFill>
                <a:latin typeface="Calibri"/>
              </a:defRPr>
            </a:pPr>
            <a:r>
              <a:t>App 100% native (réécriture UI)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FDE68A"/>
                </a:solidFill>
                <a:latin typeface="Calibri"/>
              </a:defRPr>
            </a:pPr>
            <a:r>
              <a:t>4-8 semaines · 10k-32k€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A1A1A"/>
                </a:solidFill>
                <a:latin typeface="Calibri Light"/>
              </a:defRPr>
            </a:pPr>
            <a:r>
              <a:t>Le grand frère premium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097280"/>
            <a:ext cx="713232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1234440"/>
            <a:ext cx="6583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Architecture :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A9A9A"/>
                </a:solidFill>
                <a:latin typeface="Calibri"/>
              </a:defRPr>
            </a:pPr>
            <a:r>
              <a:t>┌──────────────────────────────┐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│  App React Native (Expo)       │  ← UI réécrite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│  ├── Écrans natifs (FlatList…)  │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│  ├── NFC · Camera · Push        │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│  └── Appelle /api/ de Next.js   │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A9A9A"/>
                </a:solidFill>
                <a:latin typeface="Calibri"/>
              </a:defRPr>
            </a:pPr>
            <a:r>
              <a:t>└──────────────────────────────┘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291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0B981"/>
                </a:solidFill>
                <a:latin typeface="Calibri Light"/>
              </a:defRPr>
            </a:pPr>
            <a:r>
              <a:t>✅ Avantages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74903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4572000" y="3749039"/>
            <a:ext cx="1737360" cy="411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82219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Performance native (60fps)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3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400800" y="3749039"/>
            <a:ext cx="1737360" cy="411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82219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UX mobile authentique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0623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4572000" y="4206239"/>
            <a:ext cx="1737360" cy="411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427939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Tout l'accès natif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0623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400800" y="4206239"/>
            <a:ext cx="1737360" cy="411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27939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Expo EAS Build (cloud)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91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DC2626"/>
                </a:solidFill>
                <a:latin typeface="Calibri Light"/>
              </a:defRPr>
            </a:pPr>
            <a:r>
              <a:t>❌ Inconvénients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74903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229600" y="3749039"/>
            <a:ext cx="1737360" cy="411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82219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Temps : 4-8 semaines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74903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0058400" y="3749039"/>
            <a:ext cx="1737360" cy="411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382219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Deux codebases à maintenir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20623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8229600" y="4206239"/>
            <a:ext cx="1737360" cy="411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27939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Coût dev : 10k-32k€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420623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10058400" y="4206239"/>
            <a:ext cx="1737360" cy="411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0" y="427939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Fragmentation iOS/Android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A1A1A"/>
                </a:solidFill>
                <a:latin typeface="Calibri Light"/>
              </a:defRPr>
            </a:pPr>
            <a:r>
              <a:t>🏆 Apps célèbres en React Native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486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4572000" y="5486400"/>
            <a:ext cx="109728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55595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Instagram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5486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5760720" y="5486400"/>
            <a:ext cx="109728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6440" y="55595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Uber Eats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486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6949440" y="5486400"/>
            <a:ext cx="109728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95160" y="55595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Coinbase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5486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8138160" y="5486400"/>
            <a:ext cx="109728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80" y="55595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Walmart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5486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9326880" y="5486400"/>
            <a:ext cx="109728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72600" y="55595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Discord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5486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10515600" y="5486400"/>
            <a:ext cx="109728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61320" y="55595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Airbnb (avant)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A1A1A"/>
                </a:solidFill>
                <a:latin typeface="Calibri Light"/>
              </a:defRPr>
            </a:pPr>
            <a:r>
              <a:t>📊 Comparatif détaillé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411480"/>
          </a:xfrm>
          <a:prstGeom prst="rect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Critère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2377440" cy="411480"/>
          </a:xfrm>
          <a:prstGeom prst="rect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0" y="1097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PWA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2377440" cy="411480"/>
          </a:xfrm>
          <a:prstGeom prst="rect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Capacitor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1097280"/>
            <a:ext cx="2377440" cy="411480"/>
          </a:xfrm>
          <a:prstGeom prst="rect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097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React Native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554480"/>
            <a:ext cx="10698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A1A1A"/>
                </a:solidFill>
                <a:latin typeface="Calibri"/>
              </a:defRPr>
            </a:pPr>
            <a:r>
              <a:t>Effort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1600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1 jour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600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3-5 jours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600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4-8 semaines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1993392"/>
            <a:ext cx="10698480" cy="41148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039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A1A1A"/>
                </a:solidFill>
                <a:latin typeface="Calibri"/>
              </a:defRPr>
            </a:pPr>
            <a:r>
              <a:t>Code réutilisé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0391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0391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~95%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0391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~40% (API)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432304"/>
            <a:ext cx="10698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4780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A1A1A"/>
                </a:solidFill>
                <a:latin typeface="Calibri"/>
              </a:defRPr>
            </a:pPr>
            <a:r>
              <a:t>NFC natif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247802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47802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2BB286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47802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2BB286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2871216"/>
            <a:ext cx="10698480" cy="41148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29169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A1A1A"/>
                </a:solidFill>
                <a:latin typeface="Calibri"/>
              </a:defRPr>
            </a:pPr>
            <a:r>
              <a:t>Notifications push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0" y="29169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6B6B6B"/>
                </a:solidFill>
                <a:latin typeface="Calibri"/>
              </a:defRPr>
            </a:pPr>
            <a:r>
              <a:t>✅ Web Push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9169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6B6B6B"/>
                </a:solidFill>
                <a:latin typeface="Calibri"/>
              </a:defRPr>
            </a:pPr>
            <a:r>
              <a:t>✅ FCM/APN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9169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6B6B6B"/>
                </a:solidFill>
                <a:latin typeface="Calibri"/>
              </a:defRPr>
            </a:pPr>
            <a:r>
              <a:t>✅ FCM/APN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310128"/>
            <a:ext cx="10698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3558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A1A1A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40" y="33558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Moyenne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3558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Bonne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33558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Excellente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749040"/>
            <a:ext cx="10698480" cy="41148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A1A1A"/>
                </a:solidFill>
                <a:latin typeface="Calibri"/>
              </a:defRPr>
            </a:pPr>
            <a:r>
              <a:t>App Store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40" y="3794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794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2BB286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3794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2BB286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187952"/>
            <a:ext cx="10698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233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A1A1A"/>
                </a:solidFill>
                <a:latin typeface="Calibri"/>
              </a:defRPr>
            </a:pPr>
            <a:r>
              <a:t>Coût fixe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40" y="42336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0€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2336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~124€/an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42336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~124€/an + dev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4626864"/>
            <a:ext cx="10698480" cy="41148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6725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A1A1A"/>
                </a:solidFill>
                <a:latin typeface="Calibri"/>
              </a:defRPr>
            </a:pPr>
            <a:r>
              <a:t>Coût dev (est.)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40" y="467258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0€ (toi)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467258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0€ (toi)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467258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10k-32k€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5065776"/>
            <a:ext cx="10698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51114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A1A1A"/>
                </a:solidFill>
                <a:latin typeface="Calibri"/>
              </a:defRPr>
            </a:pPr>
            <a:r>
              <a:t>Maintenance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49040" y="511149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Faible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511149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Faible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511149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Élevée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5504688"/>
            <a:ext cx="10698480" cy="41148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55504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A1A1A"/>
                </a:solidFill>
                <a:latin typeface="Calibri"/>
              </a:defRPr>
            </a:pPr>
            <a:r>
              <a:t>Recommandation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49040" y="5550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POC/MVP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0" y="5550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2BB286"/>
                </a:solidFill>
                <a:latin typeface="Calibri"/>
              </a:defRPr>
            </a:pPr>
            <a:r>
              <a:t>✅ Prod NFC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9680" y="5550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Scale 10k+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5833872"/>
            <a:ext cx="10698480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2BB2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008F78"/>
                </a:solidFill>
                <a:latin typeface="Calibri"/>
              </a:defRPr>
            </a:pPr>
            <a:r>
              <a:t>🎯 Recommandé pour TimeHeroes : Capacitor (NFC natif, 95% de code conservé, déploiement rapide)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2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4572000"/>
            <a:ext cx="2743200" cy="2743200"/>
          </a:xfrm>
          <a:prstGeom prst="ellipse">
            <a:avLst/>
          </a:prstGeom>
          <a:solidFill>
            <a:srgbClr val="006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914400"/>
            <a:ext cx="2286000" cy="2286000"/>
          </a:xfrm>
          <a:prstGeom prst="ellipse">
            <a:avLst/>
          </a:prstGeom>
          <a:solidFill>
            <a:srgbClr val="00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📡 Focus : NFC et QR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AAEEDD"/>
                </a:solidFill>
                <a:latin typeface="Calibri"/>
              </a:defRPr>
            </a:pPr>
            <a:r>
              <a:t>La validation des missions par tap NFC, un argument différenciant fort pour la fondation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5029200" cy="3200400"/>
          </a:xfrm>
          <a:prstGeom prst="roundRect">
            <a:avLst>
              <a:gd name="adj" fmla="val 2000"/>
            </a:avLst>
          </a:prstGeom>
          <a:solidFill>
            <a:srgbClr val="0A0A0A"/>
          </a:solidFill>
          <a:ln w="1270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FFFFF"/>
                </a:solidFill>
                <a:latin typeface="Calibri Light"/>
              </a:defRPr>
            </a:pPr>
            <a:r>
              <a:t>📷 QR Code (actuel)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📸 Scan avec la caméra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71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⏱️ ~5 secondes par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832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💰 0€ (écran uniquement)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7947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📱 Tous les téléphones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062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⚠️ Moins confort pour les seniors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37360"/>
            <a:ext cx="5029200" cy="3200400"/>
          </a:xfrm>
          <a:prstGeom prst="roundRect">
            <a:avLst>
              <a:gd name="adj" fmla="val 2000"/>
            </a:avLst>
          </a:prstGeom>
          <a:solidFill>
            <a:srgbClr val="0A0A0A"/>
          </a:solidFill>
          <a:ln w="1270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2BB286"/>
                </a:solidFill>
                <a:latin typeface="Calibri Light"/>
              </a:defRPr>
            </a:pPr>
            <a:r>
              <a:t>📡 NFC (futur)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5603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🤝 Tap à ~4 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971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⏱️ ~0.5 seconde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832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💰 ~0,30€ par tag NFC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947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📱 Smartphones récents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2062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✅ Marche même téléphone éteint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303520"/>
            <a:ext cx="10332720" cy="1097280"/>
          </a:xfrm>
          <a:prstGeom prst="roundRect">
            <a:avLst>
              <a:gd name="adj" fmla="val 2000"/>
            </a:avLst>
          </a:prstGeom>
          <a:solidFill>
            <a:srgbClr val="0A2E1A"/>
          </a:solidFill>
          <a:ln w="12700">
            <a:solidFill>
              <a:srgbClr val="2BB2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39496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💡 Recommandation : Garder les deux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F7E0"/>
                </a:solidFill>
                <a:latin typeface="Calibri"/>
              </a:defRPr>
            </a:pPr>
            <a:r>
              <a:t>QR code pour le POC immédiat, NFC en upgrade pour la version Capacitor.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F7E0"/>
                </a:solidFill>
                <a:latin typeface="Calibri"/>
              </a:defRPr>
            </a:pPr>
            <a:r>
              <a:t>Les tags NFC coûtent 0,30€ pièce → 30€ pour 100 tags. Les seniors n'auront qu'à taper leur téléphone.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A1A1A"/>
                </a:solidFill>
                <a:latin typeface="Calibri Light"/>
              </a:defRPr>
            </a:pPr>
            <a:r>
              <a:t>🗺️ Roadmap recommandée pour TimeHeroes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474720" cy="5303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474720" cy="54864"/>
          </a:xfrm>
          <a:prstGeom prst="rect">
            <a:avLst/>
          </a:prstGeom>
          <a:solidFill>
            <a:srgbClr val="2BB2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BB286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1A1A"/>
                </a:solidFill>
                <a:latin typeface="Calibri Light"/>
              </a:defRPr>
            </a:pPr>
            <a:r>
              <a:t>PWA  ·  1 jour · 0€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94560"/>
            <a:ext cx="1828800" cy="320040"/>
          </a:xfrm>
          <a:prstGeom prst="rect">
            <a:avLst/>
          </a:prstGeom>
          <a:solidFill>
            <a:srgbClr val="2BB2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🎯 Démo fondation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  Ajouter manifest.json à Next.js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  Installer @serwist/next (service worker)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  Ajouter les icônes 192×192 et 512×512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  ✅ Ajouter à l'écran d'accueil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188720"/>
            <a:ext cx="3474720" cy="5303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18872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7C3AED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1A1A"/>
                </a:solidFill>
                <a:latin typeface="Calibri Light"/>
              </a:defRPr>
            </a:pPr>
            <a:r>
              <a:t>Capacitor  ·  3-5 jours · 124€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194560"/>
            <a:ext cx="18288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194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🎯 Pilote CCAS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743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  Initialiser Capacitor dans le projet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200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  Plugin NFC + Push + Camera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6576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  Adapter validation QR → NFC + QR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114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  Build APK + Archive 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572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  ✅ App complète NFC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1188720"/>
            <a:ext cx="3474720" cy="5303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118872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F59E0B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1A1A"/>
                </a:solidFill>
                <a:latin typeface="Calibri Light"/>
              </a:defRPr>
            </a:pPr>
            <a:r>
              <a:t>React Native  ·  4-8 sem · 10k€+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2194560"/>
            <a:ext cx="18288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80" y="2194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🎯 Scale 10k+ users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2743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  Nouveau projet Expo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200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  Réécrire les écrans clés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6576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  Brancher sur l'API existante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4114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  Animer avec Reanimated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572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  ✅ App 100% native premium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583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💡  Arbre de décision : NFC nécessaire ? → OUI → Capacitor.  |  Budget ? → 0€ → PWA.  |  Scale 10k+ → React Native.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A1A1A"/>
                </a:solidFill>
                <a:latin typeface="Calibri Light"/>
              </a:defRPr>
            </a:pPr>
            <a:r>
              <a:t>📖 Glossaire technique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822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618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BB286"/>
                </a:solidFill>
                <a:latin typeface="Calibri"/>
              </a:defRPr>
            </a:pPr>
            <a:r>
              <a:t>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Progressive Web App — site web installable comme une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303520" cy="822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2618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BB286"/>
                </a:solidFill>
                <a:latin typeface="Calibri"/>
              </a:defRPr>
            </a:pPr>
            <a:r>
              <a:t>Service Worker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Script JS en arrière-plan pour cache et 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5303520" cy="822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BB286"/>
                </a:solidFill>
                <a:latin typeface="Calibri"/>
              </a:defRPr>
            </a:pPr>
            <a:r>
              <a:t>WebView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Navigateur embarqué dans une app native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94560"/>
            <a:ext cx="5303520" cy="822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677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BB286"/>
                </a:solidFill>
                <a:latin typeface="Calibri"/>
              </a:defRPr>
            </a:pPr>
            <a:r>
              <a:t>Capacitor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Pont web → natif (NFC, Camera, Push)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00400"/>
            <a:ext cx="5303520" cy="822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73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BB286"/>
                </a:solidFill>
                <a:latin typeface="Calibri"/>
              </a:defRPr>
            </a:pPr>
            <a:r>
              <a:t>React Native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Framework pour apps natives en JavaScript/React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200400"/>
            <a:ext cx="5303520" cy="822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273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BB286"/>
                </a:solidFill>
                <a:latin typeface="Calibri"/>
              </a:defRPr>
            </a:pPr>
            <a:r>
              <a:t>NFC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Near Field Communication — sans contact ~4 cm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5303520" cy="822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793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BB286"/>
                </a:solidFill>
                <a:latin typeface="Calibri"/>
              </a:defRPr>
            </a:pPr>
            <a:r>
              <a:t>FCM / APN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Firebase Cloud Msg / Apple Push Notification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206240"/>
            <a:ext cx="5303520" cy="822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2793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BB286"/>
                </a:solidFill>
                <a:latin typeface="Calibri"/>
              </a:defRPr>
            </a:pPr>
            <a:r>
              <a:t>Escrow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572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Séquestre : TIME bloqués jusqu'à validation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212080"/>
            <a:ext cx="5303520" cy="822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2852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BB286"/>
                </a:solidFill>
                <a:latin typeface="Calibri"/>
              </a:defRPr>
            </a:pPr>
            <a:r>
              <a:t>Expo / EAS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577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Surcouche React Native + build cloud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5212080"/>
            <a:ext cx="5303520" cy="822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52852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BB286"/>
                </a:solidFill>
                <a:latin typeface="Calibri"/>
              </a:defRPr>
            </a:pPr>
            <a:r>
              <a:t>Workbox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577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Librairie Google pour la gestion du cache offline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A1A1A"/>
                </a:solidFill>
                <a:latin typeface="Calibri Light"/>
              </a:defRPr>
            </a:pPr>
            <a:r>
              <a:t>💰 Budget estimé (année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926080" cy="411480"/>
          </a:xfrm>
          <a:prstGeom prst="rect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Poste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1188720"/>
            <a:ext cx="2194560" cy="411480"/>
          </a:xfrm>
          <a:prstGeom prst="rect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0" y="1188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PWA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2194560" cy="411480"/>
          </a:xfrm>
          <a:prstGeom prst="rect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188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Capacitor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188720"/>
            <a:ext cx="2194560" cy="411480"/>
          </a:xfrm>
          <a:prstGeom prst="rect">
            <a:avLst/>
          </a:prstGeom>
          <a:solidFill>
            <a:srgbClr val="00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1188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React Native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10698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91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Développement (toi)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691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2BB286"/>
                </a:solidFill>
                <a:latin typeface="Calibri"/>
              </a:defRPr>
            </a:pPr>
            <a:r>
              <a:t>1j × 0€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691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2BB286"/>
                </a:solidFill>
                <a:latin typeface="Calibri"/>
              </a:defRPr>
            </a:pPr>
            <a:r>
              <a:t>5j × 0€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691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103120"/>
            <a:ext cx="10698480" cy="411480"/>
          </a:xfrm>
          <a:prstGeom prst="rect">
            <a:avLst/>
          </a:prstGeom>
          <a:solidFill>
            <a:srgbClr val="F0EDE8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Développeur externe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148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148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148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2BB286"/>
                </a:solidFill>
                <a:latin typeface="Calibri"/>
              </a:defRPr>
            </a:pPr>
            <a:r>
              <a:t>20-40j × 500-800€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560320"/>
            <a:ext cx="10698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606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Apple Developer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2606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2BB286"/>
                </a:solidFill>
                <a:latin typeface="Calibri"/>
              </a:defRPr>
            </a:pPr>
            <a:r>
              <a:t>0€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606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99€/an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606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99€/an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017520"/>
            <a:ext cx="10698480" cy="411480"/>
          </a:xfrm>
          <a:prstGeom prst="rect">
            <a:avLst/>
          </a:prstGeom>
          <a:solidFill>
            <a:srgbClr val="F0EDE8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063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Google Play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063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25$ unique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063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25$ unique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063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25$ unique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474720"/>
            <a:ext cx="10698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520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Firebase (notifications)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3520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2BB286"/>
                </a:solidFill>
                <a:latin typeface="Calibri"/>
              </a:defRPr>
            </a:pPr>
            <a:r>
              <a:t>Gratuit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520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2BB286"/>
                </a:solidFill>
                <a:latin typeface="Calibri"/>
              </a:defRPr>
            </a:pPr>
            <a:r>
              <a:t>Gratuit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520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2BB286"/>
                </a:solidFill>
                <a:latin typeface="Calibri"/>
              </a:defRPr>
            </a:pPr>
            <a:r>
              <a:t>Gratuit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931920"/>
            <a:ext cx="10698480" cy="411480"/>
          </a:xfrm>
          <a:prstGeom prst="rect">
            <a:avLst/>
          </a:prstGeom>
          <a:solidFill>
            <a:srgbClr val="F0EDE8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3977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Tags NFC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3977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977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2BB286"/>
                </a:solidFill>
                <a:latin typeface="Calibri"/>
              </a:defRPr>
            </a:pPr>
            <a:r>
              <a:t>~30€ (100 tags)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3977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389120"/>
            <a:ext cx="10698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434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3931920" y="4434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6309360" y="4434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8778240" y="4434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</a:p>
        </p:txBody>
      </p:sp>
      <p:sp>
        <p:nvSpPr>
          <p:cNvPr id="46" name="Rectangle 45"/>
          <p:cNvSpPr/>
          <p:nvPr/>
        </p:nvSpPr>
        <p:spPr>
          <a:xfrm>
            <a:off x="731520" y="4846320"/>
            <a:ext cx="10698480" cy="411480"/>
          </a:xfrm>
          <a:prstGeom prst="rect">
            <a:avLst/>
          </a:prstGeom>
          <a:solidFill>
            <a:srgbClr val="F0EDE8"/>
          </a:solidFill>
          <a:ln w="12700">
            <a:solidFill>
              <a:srgbClr val="2BB2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892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A1A1A"/>
                </a:solidFill>
                <a:latin typeface="Calibri"/>
              </a:defRPr>
            </a:pPr>
            <a:r>
              <a:t>Total année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2BB286"/>
                </a:solidFill>
                <a:latin typeface="Calibri"/>
              </a:defRPr>
            </a:pPr>
            <a:r>
              <a:t>~25$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2BB286"/>
                </a:solidFill>
                <a:latin typeface="Calibri"/>
              </a:defRPr>
            </a:pPr>
            <a:r>
              <a:t>~180€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2BB286"/>
                </a:solidFill>
                <a:latin typeface="Calibri"/>
              </a:defRPr>
            </a:pPr>
            <a:r>
              <a:t>10 000 - 32 000€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F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00A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572000"/>
            <a:ext cx="3200400" cy="3200400"/>
          </a:xfrm>
          <a:prstGeom prst="ellipse">
            <a:avLst/>
          </a:prstGeom>
          <a:solidFill>
            <a:srgbClr val="009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🎯 Ma recommandation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2BB286"/>
                </a:solidFill>
                <a:latin typeface="Calibri Light"/>
              </a:defRPr>
            </a:pPr>
            <a:r>
              <a:t>Phase 1 — PWA (1 jour)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BF7E0"/>
                </a:solidFill>
                <a:latin typeface="Calibri"/>
              </a:defRPr>
            </a:pPr>
            <a:r>
              <a:t>Lance la démo fondation avec l'installation sur téléphone.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2400" b="1">
                <a:solidFill>
                  <a:srgbClr val="F59E0B"/>
                </a:solidFill>
                <a:latin typeface="Calibri Light"/>
              </a:defRPr>
            </a:pPr>
            <a:r>
              <a:t>Phase 2 — Capacitor (3-5 jours) ← Recommandé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BF7E0"/>
                </a:solidFill>
                <a:latin typeface="Calibri"/>
              </a:defRPr>
            </a:pPr>
            <a:r>
              <a:t>Le NFC natif est un argument différenciant fort pour La France s'engage.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BF7E0"/>
                </a:solidFill>
                <a:latin typeface="Calibri"/>
              </a:defRPr>
            </a:pPr>
            <a:r>
              <a:t>Tu gardes 95% du code Next.js, tu ajoutes juste le wrapper natif.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2400" b="1">
                <a:solidFill>
                  <a:srgbClr val="CCCCCC"/>
                </a:solidFill>
                <a:latin typeface="Calibri Light"/>
              </a:defRPr>
            </a:pPr>
            <a:r>
              <a:t>Phase 3 — React Native (4-8 semaines)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AAAAA"/>
                </a:solidFill>
                <a:latin typeface="Calibri"/>
              </a:defRPr>
            </a:pPr>
            <a:r>
              <a:t>Uniquement si tu passes à 10 000+ utilisateurs.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Prêt à démarrer la Phase 1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